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320" r:id="rId2"/>
    <p:sldId id="2147375059" r:id="rId3"/>
    <p:sldId id="2147375057" r:id="rId4"/>
    <p:sldId id="2147375058" r:id="rId5"/>
    <p:sldId id="2147375060" r:id="rId6"/>
    <p:sldId id="2147375061" r:id="rId7"/>
    <p:sldId id="2147375062" r:id="rId8"/>
    <p:sldId id="2147375046" r:id="rId9"/>
    <p:sldId id="2147375056" r:id="rId10"/>
    <p:sldId id="2147375054" r:id="rId11"/>
    <p:sldId id="2147375063" r:id="rId12"/>
    <p:sldId id="2147375064" r:id="rId13"/>
    <p:sldId id="301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ON.CM.CHEN 陳嘉民" initials="M陳" lastIdx="0" clrIdx="0">
    <p:extLst>
      <p:ext uri="{19B8F6BF-5375-455C-9EA6-DF929625EA0E}">
        <p15:presenceInfo xmlns:p15="http://schemas.microsoft.com/office/powerpoint/2012/main" userId="S-1-5-21-706670597-753717926-1206375605-4063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8E594E"/>
    <a:srgbClr val="FCB88E"/>
    <a:srgbClr val="FFC301"/>
    <a:srgbClr val="F9F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8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7D84D-3581-4C3F-BAAF-6FA71816E76E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84CAE-DE11-4542-A7AE-B5ECD1E6A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94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94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8218-28F1-27B7-DAD0-03EF08EF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0CBEACC-FA69-563F-C6D0-60BFE927B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605115-A566-ED99-2EDE-AF2D3C651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161119-6187-CAE1-2261-D54E160E9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32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4BF4-010C-68D3-9ECF-1A9D8B3B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02525D6-D95F-B138-3001-69784120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DAD268-9BD0-29F2-EB4D-A213D9303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817C10-A040-AE67-5F3D-4B18DD09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37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DD8A-A157-2F29-AD37-FC2C671B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1B284B5-EE8F-9562-B9DF-D7E919E93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12D33-87EE-109F-AD67-06F36289D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8C527-4365-865D-BBFE-F6C266FC1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0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5CA7-3455-9AE1-6AE7-41FE5270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810AFCB-4455-8F22-2F71-75BAE44A5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0FBE48-D675-29B0-2DD2-0EE1067DA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17E-1132-73E3-6206-5B1898A2C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496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6C2D-62D9-D607-C823-CBD03158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7F06C8A-975D-4542-5DE6-6A553729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69B2ED-B1A6-2928-A6DD-AD95937D0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3F1A97-D13B-C9B0-4FCB-4C09525DF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086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7E18-B3FA-981A-81E4-99885B19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4458DAF-E07E-2D96-96FA-D42617BE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6AA76F-988F-7291-6183-CA9D39DC3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A3FEF7-5272-4090-3E34-A6191B5A6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160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06BC-2CE5-80CA-3E11-A65B34D5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E92581C-2ADB-20AD-CAC6-F6B14C80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3DB2EA-7503-A1CD-B4DF-3772867DC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0EF08-B09F-292E-FFAB-BDEB4A279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298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FEC42-A439-9A2D-2D9C-4F7D5CE1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219A6F2-8275-5CD7-1007-81B9BBBC9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573EE5-9226-F213-6C2A-F65E6B86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A10352-19C5-FA30-8E24-26AF38D63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230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B0E2-9DAD-B6EE-90DC-405AE9E4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B198BAC-021C-C0B8-F7CE-57CC31AD2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6B908B-EB18-6544-A5D3-A637663E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293A4-C3DA-4124-0C26-385BD6ED7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657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E4CF-676B-A695-B6E5-9948697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148959-A56A-B121-9AAC-8FE302D1F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944723-52DC-7FD4-7D5D-68A52C4E5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68918A-705E-C659-ED2E-9591C6709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200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7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250">
                <a:solidFill>
                  <a:schemeClr val="tx2"/>
                </a:solidFill>
                <a:latin typeface="+mj-lt"/>
                <a:ea typeface="+mj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altLang="zh-TW" sz="2250" dirty="0"/>
              <a:t>Presentation Subtitle Goes Here</a:t>
            </a:r>
            <a:br>
              <a:rPr lang="en-US" altLang="zh-TW" sz="2250" dirty="0"/>
            </a:br>
            <a:r>
              <a:rPr lang="en-US" altLang="zh-TW" sz="225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3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Presenter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 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Name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Department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7" cy="380427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5007" y="5234195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2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013" y="5920122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05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12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pic>
        <p:nvPicPr>
          <p:cNvPr id="27" name="圖片 2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5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A6B8E-EB08-4AB0-9768-E121F12AB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372981"/>
            <a:ext cx="11379200" cy="679396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dirty="0"/>
              <a:t>Content goes here (20pt)</a:t>
            </a:r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  <p:grpSp>
        <p:nvGrpSpPr>
          <p:cNvPr id="25" name="群組 24"/>
          <p:cNvGrpSpPr/>
          <p:nvPr userDrawn="1"/>
        </p:nvGrpSpPr>
        <p:grpSpPr>
          <a:xfrm>
            <a:off x="-8501" y="0"/>
            <a:ext cx="12203889" cy="6858000"/>
            <a:chOff x="-8501" y="0"/>
            <a:chExt cx="12203889" cy="6858000"/>
          </a:xfrm>
        </p:grpSpPr>
        <p:grpSp>
          <p:nvGrpSpPr>
            <p:cNvPr id="26" name="群組 25"/>
            <p:cNvGrpSpPr/>
            <p:nvPr/>
          </p:nvGrpSpPr>
          <p:grpSpPr>
            <a:xfrm>
              <a:off x="8743123" y="0"/>
              <a:ext cx="3452265" cy="6853928"/>
              <a:chOff x="8368748" y="371350"/>
              <a:chExt cx="3452265" cy="685392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8368748" y="371350"/>
                <a:ext cx="2266122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1" name="L-圖案 30"/>
              <p:cNvSpPr/>
              <p:nvPr/>
            </p:nvSpPr>
            <p:spPr>
              <a:xfrm rot="10800000">
                <a:off x="10634870" y="371350"/>
                <a:ext cx="1182755" cy="1705927"/>
              </a:xfrm>
              <a:prstGeom prst="corner">
                <a:avLst>
                  <a:gd name="adj1" fmla="val 6060"/>
                  <a:gd name="adj2" fmla="val 5977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 rot="5400000">
                <a:off x="9211013" y="4615278"/>
                <a:ext cx="5148000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sp>
          <p:nvSpPr>
            <p:cNvPr id="27" name="矩形 26"/>
            <p:cNvSpPr/>
            <p:nvPr/>
          </p:nvSpPr>
          <p:spPr>
            <a:xfrm rot="10800000">
              <a:off x="-1" y="6786000"/>
              <a:ext cx="12192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5400000">
              <a:off x="-3392501" y="3395307"/>
              <a:ext cx="6840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10800000">
              <a:off x="0" y="0"/>
              <a:ext cx="8743126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26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3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3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6632" y="5765533"/>
            <a:ext cx="1886827" cy="8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8" y="1099373"/>
            <a:ext cx="10018401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2400" dirty="0">
                <a:solidFill>
                  <a:srgbClr val="0087DC"/>
                </a:solidFill>
              </a:rPr>
              <a:t>www.cyntec.com</a:t>
            </a:r>
            <a:r>
              <a:rPr lang="en-US" altLang="zh-TW" sz="2400" dirty="0"/>
              <a:t> </a:t>
            </a:r>
            <a:endParaRPr 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6271" y="5667332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4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1A208F-14AF-4B55-98E2-50AE68538517}" type="slidenum">
              <a:rPr kumimoji="0" lang="en-US" altLang="zh-TW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42251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3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9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u="none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4" y="6191970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7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/>
  <p:txStyles>
    <p:titleStyle>
      <a:lvl1pPr algn="ctr" defTabSz="685783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6FB26735-20D3-BD36-9DFC-6C8632F7D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647" y="5561882"/>
            <a:ext cx="3750767" cy="610317"/>
          </a:xfrm>
        </p:spPr>
        <p:txBody>
          <a:bodyPr/>
          <a:lstStyle/>
          <a:p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Erstellt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von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YiHsuan Chiu</a:t>
            </a:r>
          </a:p>
          <a:p>
            <a:r>
              <a:rPr lang="en-US" altLang="zh-TW" sz="1800" b="1" dirty="0" err="1"/>
              <a:t>Erstellungsdatum</a:t>
            </a:r>
            <a:r>
              <a:rPr lang="en-US" altLang="zh-TW" sz="1800" b="1" dirty="0"/>
              <a:t>: 16.03.2026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413BCBA5-0F9D-4710-802F-538EAA9E6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775" y="891821"/>
            <a:ext cx="9144000" cy="68138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 dirty="0" err="1">
                <a:ln w="0"/>
                <a:solidFill>
                  <a:schemeClr val="tx2"/>
                </a:solidFill>
                <a:latin typeface="+mj-ea"/>
              </a:rPr>
              <a:t>Teile</a:t>
            </a:r>
            <a:r>
              <a:rPr lang="en-US" altLang="zh-TW" sz="3200" b="1" dirty="0">
                <a:ln w="0"/>
                <a:solidFill>
                  <a:schemeClr val="tx2"/>
                </a:solidFill>
                <a:latin typeface="+mj-ea"/>
              </a:rPr>
              <a:t>-Management-System</a:t>
            </a:r>
            <a:endParaRPr lang="zh-TW" altLang="en-US" sz="3200" b="1" dirty="0">
              <a:ln w="0"/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426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Systemarchitektur</a:t>
            </a:r>
            <a:r>
              <a:rPr lang="en-US" altLang="zh-TW" sz="2800" dirty="0"/>
              <a:t> und </a:t>
            </a:r>
            <a:r>
              <a:rPr lang="en-US" altLang="zh-TW" sz="2800" dirty="0" err="1"/>
              <a:t>automatischer</a:t>
            </a:r>
            <a:r>
              <a:rPr lang="en-US" altLang="zh-TW" sz="2800" dirty="0"/>
              <a:t> Start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AA75B6B3-7F5E-43F0-B40E-D93642C39390}"/>
              </a:ext>
            </a:extLst>
          </p:cNvPr>
          <p:cNvSpPr txBox="1">
            <a:spLocks/>
          </p:cNvSpPr>
          <p:nvPr/>
        </p:nvSpPr>
        <p:spPr>
          <a:xfrm>
            <a:off x="217952" y="159871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Automatischer</a:t>
            </a:r>
            <a:r>
              <a:rPr lang="en-US" altLang="zh-TW" sz="1800" dirty="0">
                <a:solidFill>
                  <a:srgbClr val="0000FF"/>
                </a:solidFill>
              </a:rPr>
              <a:t> Start </a:t>
            </a:r>
            <a:r>
              <a:rPr lang="en-US" altLang="zh-TW" sz="1800" dirty="0" err="1">
                <a:solidFill>
                  <a:srgbClr val="0000FF"/>
                </a:solidFill>
              </a:rPr>
              <a:t>beim</a:t>
            </a:r>
            <a:r>
              <a:rPr lang="en-US" altLang="zh-TW" sz="1800" dirty="0">
                <a:solidFill>
                  <a:srgbClr val="0000FF"/>
                </a:solidFill>
              </a:rPr>
              <a:t> </a:t>
            </a:r>
            <a:r>
              <a:rPr lang="en-US" altLang="zh-TW" sz="1800" dirty="0" err="1">
                <a:solidFill>
                  <a:srgbClr val="0000FF"/>
                </a:solidFill>
              </a:rPr>
              <a:t>Systemhochlauf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058284-99EE-4ABC-9C47-7F1DE266C3B4}"/>
              </a:ext>
            </a:extLst>
          </p:cNvPr>
          <p:cNvSpPr txBox="1">
            <a:spLocks/>
          </p:cNvSpPr>
          <p:nvPr/>
        </p:nvSpPr>
        <p:spPr>
          <a:xfrm>
            <a:off x="537039" y="2060369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Backend-Programm ist in der Windows-Autostartliste registriert. Sobald Sie sich bei Windows anmelden, wird das System automatisch im Hintergrund ausgeführt und muss nicht manuell gestartet werden.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553DB767-9839-456B-A218-E4949D6939C3}"/>
              </a:ext>
            </a:extLst>
          </p:cNvPr>
          <p:cNvSpPr txBox="1">
            <a:spLocks/>
          </p:cNvSpPr>
          <p:nvPr/>
        </p:nvSpPr>
        <p:spPr>
          <a:xfrm>
            <a:off x="217952" y="319817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System-Tray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8023B91D-D96B-4E7C-9385-2B64F834915C}"/>
              </a:ext>
            </a:extLst>
          </p:cNvPr>
          <p:cNvSpPr txBox="1">
            <a:spLocks/>
          </p:cNvSpPr>
          <p:nvPr/>
        </p:nvSpPr>
        <p:spPr>
          <a:xfrm>
            <a:off x="537039" y="3659829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In der unteren rechten Ecke des Bildschirms erscheint ein „Schild-Symbol“.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Grünes/normales Symbol: Bedeutet, dass der Dienst ausgeführt wird.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Rechtsklick-Funktionen: Bietet „Open Logs“ (Protokolle anzeigen) und „Exit Server“ (Server beenden.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Achtung: Bitte beenden Sie den Server nur zu Wartungszwecken, da sonst die Verbindung zu allen Materialausgabe-Clients im Werk unterbrochen wird.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8E699DE-C149-93F1-20EE-7783799EFED4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ist in ein „Backend (API Server)“ und ein „Frontend (Client)“ unterteilt. Um einen unterbrechungsfreien Betrieb zu gewährleisten, ist das Backend auf automatische Verwaltung eingestellt.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5" name="圖片 4" descr="The image displays a computer screen with a file explorer interface, showing a list of documents, and includes a section with options to open a protocol list, terminate a server, and access Microsoft 365.&#10;&#10;AI 產生的內容可能不正確。">
            <a:extLst>
              <a:ext uri="{FF2B5EF4-FFF2-40B4-BE49-F238E27FC236}">
                <a16:creationId xmlns:a16="http://schemas.microsoft.com/office/drawing/2014/main" id="{71303F80-0E60-AD66-7E77-1BF6BF9E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930" y="5259289"/>
            <a:ext cx="3331304" cy="127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5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52B4-DD50-90DD-1372-1BAAADC3A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D0F314-0F7B-9255-14A5-96ECDE8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Systemeinstellungen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F1D58291-492B-EB1C-A0F8-D422A13FC50F}"/>
              </a:ext>
            </a:extLst>
          </p:cNvPr>
          <p:cNvSpPr txBox="1">
            <a:spLocks/>
          </p:cNvSpPr>
          <p:nvPr/>
        </p:nvSpPr>
        <p:spPr>
          <a:xfrm>
            <a:off x="217952" y="615828"/>
            <a:ext cx="6516516" cy="111937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Backend-Dienst (API Server)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9D0186C0-3D2B-922E-87F0-681CFEAC529D}"/>
              </a:ext>
            </a:extLst>
          </p:cNvPr>
          <p:cNvSpPr txBox="1">
            <a:spLocks/>
          </p:cNvSpPr>
          <p:nvPr/>
        </p:nvSpPr>
        <p:spPr>
          <a:xfrm>
            <a:off x="537039" y="1077486"/>
            <a:ext cx="10869394" cy="243871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Der Backend-Dienst verwaltet hauptsächlich die Datenbank und empfängt Verbindungsanfragen von den Clients. Es sollte nur einen in der gesamten Fabrik geben.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 Backend-Konfigurationsdatei befindet sich im Ordner als Config.ini.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DefaultConnection=Data Source : Speicherort der Datenbank.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Urls : Erlaubte Verbindungsadresse für das Backend, normalerweise auf http://0.0.0.0:5000 eingestellt und erfordert keine Änderung.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Language : System-Spracheinstellung, unterstützt derzeit Chinesisch (zh-TW), Englisch (en), Deutsch (de).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AttachmentPath : Speicherort für Anhänge der Teilenummern.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Dieses System ist in "Backend-Dienst (API Server)" und "Client" unterteilt. Um einen unterbrechungsfreien Betrieb zu gewährleisten, ist der Backend-Dienst auf automatisches Management eingestellt.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5" name="圖片 4" descr="The image displays a configuration for a PartsManager API server, including connection strings, network information, and system settings.&#10;&#10;AI 產生的內容可能不正確。">
            <a:extLst>
              <a:ext uri="{FF2B5EF4-FFF2-40B4-BE49-F238E27FC236}">
                <a16:creationId xmlns:a16="http://schemas.microsoft.com/office/drawing/2014/main" id="{30DD1355-25C1-9CCB-9F31-EA07E4A1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596" y="4024208"/>
            <a:ext cx="4821997" cy="243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6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CA-4CFD-C13B-388C-A44B35EB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C18BF5-3A91-0ECF-C96D-B8A2F788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Systemeinstellungen</a:t>
            </a:r>
            <a:endParaRPr lang="zh-TW" altLang="en-US" sz="2800" dirty="0"/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E0B6479F-9213-480E-0CD6-CFF621C1323D}"/>
              </a:ext>
            </a:extLst>
          </p:cNvPr>
          <p:cNvSpPr txBox="1">
            <a:spLocks/>
          </p:cNvSpPr>
          <p:nvPr/>
        </p:nvSpPr>
        <p:spPr>
          <a:xfrm>
            <a:off x="208525" y="759756"/>
            <a:ext cx="6822160" cy="136702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Client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pic>
        <p:nvPicPr>
          <p:cNvPr id="6" name="圖片 5" descr="The diagram shows a configuration for a Parts Manager Client with network settings, system language, and inventory options.&#10;&#10;AI 產生的內容可能不正確。">
            <a:extLst>
              <a:ext uri="{FF2B5EF4-FFF2-40B4-BE49-F238E27FC236}">
                <a16:creationId xmlns:a16="http://schemas.microsoft.com/office/drawing/2014/main" id="{6CB2BC96-D29D-2635-95F9-9FD0C02A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380" y="4100660"/>
            <a:ext cx="3440965" cy="2417975"/>
          </a:xfrm>
          <a:prstGeom prst="rect">
            <a:avLst/>
          </a:prstGeom>
        </p:spPr>
      </p:pic>
      <p:sp>
        <p:nvSpPr>
          <p:cNvPr id="7" name="標題 2">
            <a:extLst>
              <a:ext uri="{FF2B5EF4-FFF2-40B4-BE49-F238E27FC236}">
                <a16:creationId xmlns:a16="http://schemas.microsoft.com/office/drawing/2014/main" id="{BAF6F0C8-5D97-98DC-6943-1B49F09C40A5}"/>
              </a:ext>
            </a:extLst>
          </p:cNvPr>
          <p:cNvSpPr txBox="1">
            <a:spLocks/>
          </p:cNvSpPr>
          <p:nvPr/>
        </p:nvSpPr>
        <p:spPr>
          <a:xfrm>
            <a:off x="537039" y="1228317"/>
            <a:ext cx="11379200" cy="297826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Dieses System ist in "Backend-Dienst (API Server)" und "Client" unterteilt. Um einen unterbrechungsfreien Betrieb zu gewährleisten, ist der Backend-Dienst auf automatisches Management eingestellt.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Der Client bietet hauptsächlich eine Schnittstelle zur Ausführung von Vorgängen wie Warenausgang und Wareneingang. Es können mehrere im gesamten Werk vorhanden sein.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 Client-Konfigurationsdatei befindet sich im Ordner als Config.ini.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ServerIP : Die IP des Backend-Servers.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ServerPort : Der Port des Backend-Servers, Standard ist 5000.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Language : System-Spracheinstellung, unterstützt derzeit Chinesisch (zh-TW), Englisch (en), Deutsch (de).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AutoLogoutMinutes : Automatische Abmeldung nach bestimmter Inaktivitätszeit.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07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F7DB-5684-7480-E779-3A75F01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98C3E96-18AF-E4F4-7623-1DE90DE5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Benutzerzugriffsebenen</a:t>
            </a:r>
            <a:endParaRPr lang="zh-TW" altLang="en-US" sz="2800" dirty="0"/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BE0914B9-6200-C274-A9C1-855852E20516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unterscheidet vier Berechtigungsstufen, um die Datensicherheit zu gewährleisten und die Benutzeroberfläche übersichtlich zu halten. Je kleiner die Zahl, desto höher die Berechtigung.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hat einen Standard-Administrator-Benutzernamen (admin) und ein Passwort (admin).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2B62DF-E2CE-52C4-4DFB-E2A809980A23}"/>
              </a:ext>
            </a:extLst>
          </p:cNvPr>
          <p:cNvGraphicFramePr>
            <a:graphicFrameLocks noGrp="1"/>
          </p:cNvGraphicFramePr>
          <p:nvPr/>
        </p:nvGraphicFramePr>
        <p:xfrm>
          <a:off x="1297352" y="1729344"/>
          <a:ext cx="9797996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354">
                  <a:extLst>
                    <a:ext uri="{9D8B030D-6E8A-4147-A177-3AD203B41FA5}">
                      <a16:colId xmlns:a16="http://schemas.microsoft.com/office/drawing/2014/main" val="4106553782"/>
                    </a:ext>
                  </a:extLst>
                </a:gridCol>
                <a:gridCol w="4522434">
                  <a:extLst>
                    <a:ext uri="{9D8B030D-6E8A-4147-A177-3AD203B41FA5}">
                      <a16:colId xmlns:a16="http://schemas.microsoft.com/office/drawing/2014/main" val="246725681"/>
                    </a:ext>
                  </a:extLst>
                </a:gridCol>
                <a:gridCol w="4223208">
                  <a:extLst>
                    <a:ext uri="{9D8B030D-6E8A-4147-A177-3AD203B41FA5}">
                      <a16:colId xmlns:a16="http://schemas.microsoft.com/office/drawing/2014/main" val="1886333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Stufe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Berechtigung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Sichtbare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Funktionen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8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Höchste Berechtigung, Verwaltung von Benutzerkonten möglich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Alle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Schaltflächen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inkl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Benutzerverwaltung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9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Anlegen und Ändern von Materialstämmen und Spezifikationen möglich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Alle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Schaltflächen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außer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Benutzerverwaltung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0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Durchführung von täglichen Ein- und Auslagerungen, Abfragen, Alarmüberwachung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Wareneingang, Bestandsabfrage, Dashboard für niedrigen Sicherheitsbestand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3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Beschränkt auf die Ausführung von „Auslagerung bestätigen“ im Hauptbildschirm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Keine Schaltflächen oben, verhindert versehentliche Änderungen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64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1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30A3-5E3C-9304-B464-F2E9D3B3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0AC778-A75E-4B3B-B7EE-64A0226D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Materialausgabe</a:t>
            </a:r>
            <a:r>
              <a:rPr lang="en-US" altLang="zh-TW" sz="2800" dirty="0"/>
              <a:t> - Outbound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223A83BF-FA63-8E7E-746A-499ECB7C30D2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Outbound- Auf dem </a:t>
            </a:r>
            <a:r>
              <a:rPr lang="en-US" altLang="zh-TW" sz="1800" dirty="0" err="1">
                <a:solidFill>
                  <a:srgbClr val="0000FF"/>
                </a:solidFill>
              </a:rPr>
              <a:t>Hauptbildschirm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4BDF6F7B-00EF-58E5-EE95-7B9488F6884C}"/>
              </a:ext>
            </a:extLst>
          </p:cNvPr>
          <p:cNvSpPr txBox="1">
            <a:spLocks/>
          </p:cNvSpPr>
          <p:nvPr/>
        </p:nvSpPr>
        <p:spPr>
          <a:xfrm>
            <a:off x="537040" y="951733"/>
            <a:ext cx="7630188" cy="300752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Lager bestätigen: Wählen Sie das aktuelle Betriebslager aus der Liste Lager (z.B. 0001 - Main Warehourse).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 Barcode scannen: Scannen Sie das Teileetikett bei „Bitte Barcode scannen:“. Das System zeigt automatisch Materialname (Material) und Spezifikation (Spezif.) an.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Menge eingeben: Geben Sie die Ausgabemenge ein (nur positive ganze Zahlen, keine Dezimalstellen).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Buchen: Klicken Sie auf Bestätigen. Wenn der Bestand unzureichend ist, gibt das System eine rote Warnung aus.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719367A-18EA-8844-D226-16E46586DAE9}"/>
              </a:ext>
            </a:extLst>
          </p:cNvPr>
          <p:cNvGrpSpPr/>
          <p:nvPr/>
        </p:nvGrpSpPr>
        <p:grpSpPr>
          <a:xfrm>
            <a:off x="8035253" y="1772238"/>
            <a:ext cx="4024772" cy="4826524"/>
            <a:chOff x="7473791" y="1044239"/>
            <a:chExt cx="4395437" cy="5591973"/>
          </a:xfrm>
        </p:grpSpPr>
        <p:pic>
          <p:nvPicPr>
            <p:cNvPr id="20" name="圖片 19" descr="The image depicts a user interface for a material management system, featuring a barcode scanning option and fields for inputting material and warehouse details.&#10;&#10;AI 產生的內容可能不正確。">
              <a:extLst>
                <a:ext uri="{FF2B5EF4-FFF2-40B4-BE49-F238E27FC236}">
                  <a16:creationId xmlns:a16="http://schemas.microsoft.com/office/drawing/2014/main" id="{447B94E1-E72F-4F79-F20A-D948060CD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3791" y="1044239"/>
              <a:ext cx="4395437" cy="5591973"/>
            </a:xfrm>
            <a:prstGeom prst="rect">
              <a:avLst/>
            </a:prstGeom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ED82624A-D240-6BA7-3DA2-E649A1EE39A9}"/>
                </a:ext>
              </a:extLst>
            </p:cNvPr>
            <p:cNvGrpSpPr/>
            <p:nvPr/>
          </p:nvGrpSpPr>
          <p:grpSpPr>
            <a:xfrm>
              <a:off x="7688062" y="4509844"/>
              <a:ext cx="2041726" cy="711122"/>
              <a:chOff x="7688062" y="4473437"/>
              <a:chExt cx="2041726" cy="71112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94853B3-4A0B-D1E9-4A9E-69268A099F75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B59EB3-AAB4-E599-98F0-4628ABD85063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1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C8C01B9-4FF7-A92A-6943-80EDE9B6F5D5}"/>
                </a:ext>
              </a:extLst>
            </p:cNvPr>
            <p:cNvGrpSpPr/>
            <p:nvPr/>
          </p:nvGrpSpPr>
          <p:grpSpPr>
            <a:xfrm>
              <a:off x="7688061" y="1957524"/>
              <a:ext cx="3966899" cy="776798"/>
              <a:chOff x="7688062" y="4473437"/>
              <a:chExt cx="2041726" cy="71112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37D1D0-80AE-8C57-F056-9A519905FE70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441240-24AB-27E4-47F9-43ED299FC395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161050" cy="338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2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6EA42510-212B-274F-755E-38FA79AE903D}"/>
                </a:ext>
              </a:extLst>
            </p:cNvPr>
            <p:cNvGrpSpPr/>
            <p:nvPr/>
          </p:nvGrpSpPr>
          <p:grpSpPr>
            <a:xfrm>
              <a:off x="7600062" y="5414816"/>
              <a:ext cx="1350980" cy="572059"/>
              <a:chOff x="7688062" y="4473437"/>
              <a:chExt cx="2157670" cy="711122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A965560-C7C7-9585-7FBC-E06DE0AFB096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78810F1-1CDD-F8DA-E710-C97593A0A459}"/>
                  </a:ext>
                </a:extLst>
              </p:cNvPr>
              <p:cNvSpPr txBox="1"/>
              <p:nvPr/>
            </p:nvSpPr>
            <p:spPr>
              <a:xfrm>
                <a:off x="9345985" y="4473437"/>
                <a:ext cx="499747" cy="459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3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FDCFE1A3-C1C8-5A13-9CAB-146981AE3BEC}"/>
                </a:ext>
              </a:extLst>
            </p:cNvPr>
            <p:cNvGrpSpPr/>
            <p:nvPr/>
          </p:nvGrpSpPr>
          <p:grpSpPr>
            <a:xfrm>
              <a:off x="8951042" y="5320858"/>
              <a:ext cx="2615920" cy="711122"/>
              <a:chOff x="7688062" y="4473437"/>
              <a:chExt cx="2041726" cy="711122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E563ADC-55FF-6A88-D29F-4410330F44F0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4BBA4A6-ACB7-F2E8-2CE9-5B0BE5BE6260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44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4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507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9E4E-8665-E935-5914-5C446464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403BE8-0378-C966-AD1A-D947FE09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Wareneingang</a:t>
            </a:r>
            <a:r>
              <a:rPr lang="en-US" altLang="zh-TW" sz="2800" dirty="0"/>
              <a:t> - Inbound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F2CB7DD-FD50-D354-0D03-513947DCFED8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Inbound- Auf dem </a:t>
            </a:r>
            <a:r>
              <a:rPr lang="en-US" altLang="zh-TW" sz="1800" dirty="0" err="1">
                <a:solidFill>
                  <a:srgbClr val="0000FF"/>
                </a:solidFill>
              </a:rPr>
              <a:t>Hauptbildschirm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C4F0A31-4D6A-7044-9CC5-5A6696DF6793}"/>
              </a:ext>
            </a:extLst>
          </p:cNvPr>
          <p:cNvSpPr txBox="1">
            <a:spLocks/>
          </p:cNvSpPr>
          <p:nvPr/>
        </p:nvSpPr>
        <p:spPr>
          <a:xfrm>
            <a:off x="537039" y="951734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Material identifizieren: Scannen Sie den Barcode bei „Bitte Barcode scannen:“ oder klicken Sie auf Manuell, um die Teilenummer manuell einzugeben.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Wenn die Teilenummer vorhanden ist, werden auf der rechten Seite Name (Material) und Spezifikation (Spezif.) angezeigt.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Menge und Ort: Geben Sie die Eingangsmenge bei Eingangsmenge ein und wählen Sie das Ziellager bei Ziel-Lager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D19EFCE-1DEF-9BDE-5BC2-919603572E53}"/>
              </a:ext>
            </a:extLst>
          </p:cNvPr>
          <p:cNvGrpSpPr/>
          <p:nvPr/>
        </p:nvGrpSpPr>
        <p:grpSpPr>
          <a:xfrm>
            <a:off x="4600279" y="2630079"/>
            <a:ext cx="7199527" cy="4046958"/>
            <a:chOff x="3826078" y="1863997"/>
            <a:chExt cx="7690926" cy="4314862"/>
          </a:xfrm>
        </p:grpSpPr>
        <p:pic>
          <p:nvPicPr>
            <p:cNvPr id="16" name="圖片 15" descr="The image depicts a Material Management System interface where a barcode is being scanned for a single unit of material, and the system is ready to confirm the input.&#10;&#10;AI 產生的內容可能不正確。">
              <a:extLst>
                <a:ext uri="{FF2B5EF4-FFF2-40B4-BE49-F238E27FC236}">
                  <a16:creationId xmlns:a16="http://schemas.microsoft.com/office/drawing/2014/main" id="{6D53D0C6-9FB8-8417-A570-3E38AF844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6078" y="1863997"/>
              <a:ext cx="7690926" cy="4314862"/>
            </a:xfrm>
            <a:prstGeom prst="rect">
              <a:avLst/>
            </a:prstGeom>
          </p:spPr>
        </p:pic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8CCAED2-FC76-443A-940E-27B945065488}"/>
                </a:ext>
              </a:extLst>
            </p:cNvPr>
            <p:cNvGrpSpPr/>
            <p:nvPr/>
          </p:nvGrpSpPr>
          <p:grpSpPr>
            <a:xfrm>
              <a:off x="4026043" y="2445796"/>
              <a:ext cx="2738742" cy="767921"/>
              <a:chOff x="7688062" y="4473437"/>
              <a:chExt cx="2041726" cy="711122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0C63CC1-0284-CB6D-84AB-CBB090B6BFFE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BCFC81B-4125-5B00-AD69-963DF50334C8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33271" cy="3420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1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4F530B8-F902-3C84-51A8-E343669AF4AD}"/>
                </a:ext>
              </a:extLst>
            </p:cNvPr>
            <p:cNvGrpSpPr/>
            <p:nvPr/>
          </p:nvGrpSpPr>
          <p:grpSpPr>
            <a:xfrm>
              <a:off x="6946427" y="2475538"/>
              <a:ext cx="4266069" cy="1989930"/>
              <a:chOff x="7688062" y="4473437"/>
              <a:chExt cx="2041726" cy="711122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47416EC-75B8-1728-3B0C-D04474887F28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E88D29E-5159-46D1-3CE0-403F8B5DABA5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161050" cy="338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2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AAFE4B19-7D5C-23D6-CB6F-BD7D98CC17AF}"/>
                </a:ext>
              </a:extLst>
            </p:cNvPr>
            <p:cNvGrpSpPr/>
            <p:nvPr/>
          </p:nvGrpSpPr>
          <p:grpSpPr>
            <a:xfrm>
              <a:off x="3965287" y="3260323"/>
              <a:ext cx="2847276" cy="942852"/>
              <a:chOff x="7688062" y="4473437"/>
              <a:chExt cx="2041726" cy="711122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829718A-B5BD-AE3D-5E93-AF8B1025F04C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5067886-8CB5-5ECD-DCFD-FC2D746DE721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24379" cy="278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3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858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A7A4-2857-4910-60DC-71FFCF25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76339C5-D99E-08DF-3810-CA3EB37A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3F01CF3D-1164-4DD6-5DDD-C58157A2489D}"/>
              </a:ext>
            </a:extLst>
          </p:cNvPr>
          <p:cNvSpPr txBox="1">
            <a:spLocks/>
          </p:cNvSpPr>
          <p:nvPr/>
        </p:nvSpPr>
        <p:spPr>
          <a:xfrm>
            <a:off x="217952" y="106831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Material </a:t>
            </a:r>
            <a:r>
              <a:rPr lang="en-US" altLang="zh-TW" sz="1800" dirty="0" err="1">
                <a:solidFill>
                  <a:srgbClr val="0000FF"/>
                </a:solidFill>
              </a:rPr>
              <a:t>erstellen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AFFAF49F-BF33-DAB5-0915-0F735E864608}"/>
              </a:ext>
            </a:extLst>
          </p:cNvPr>
          <p:cNvSpPr txBox="1">
            <a:spLocks/>
          </p:cNvSpPr>
          <p:nvPr/>
        </p:nvSpPr>
        <p:spPr>
          <a:xfrm>
            <a:off x="537039" y="1529973"/>
            <a:ext cx="6768330" cy="500280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Teilenummer: Eindeutige Kennung, kann nach dem Speichern nicht mehr geändert werden.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Name: Benutzerdefinierter Name.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Spezifikation: Benutzerdefinierte Beschreibung.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Sicherheitsbestand: Legt die Mindestsicherheitsmenge für dieses Teil fest.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Lieferzeit (Tage): Legt die Anzahl der Tage für die Wiederbeschaffung fest.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Lieferant: Name des Lieferanten.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Hersteller: Name des Herstellers.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Anfangsbestand: Aktueller Bestand.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Anhänge: Unterstützt nur PDF-Dateien, maximal zwei Anhänge (Anhänge (Max 2 PDF)) pro Teilenummer über PDF hochladen.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Basisinformationen für das Teil erstellen. Speichern mit Speichern, Abbruch mit Abbrechen. 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pic>
        <p:nvPicPr>
          <p:cNvPr id="7" name="圖片 6" descr="The image is a user interface for a document management system, displaying a form for entering and managing supply chain details, including fields for product numbers, names, specifications, safety stock, delivery time, supplier, manufacturer, initial stock, and a storage location for PDF attachments.&#10;&#10;AI 產生的內容可能不正確。">
            <a:extLst>
              <a:ext uri="{FF2B5EF4-FFF2-40B4-BE49-F238E27FC236}">
                <a16:creationId xmlns:a16="http://schemas.microsoft.com/office/drawing/2014/main" id="{5BBE7AC6-3723-59A0-82A6-A3588E52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500" y="832392"/>
            <a:ext cx="4305461" cy="57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A490-AFC0-0EA3-F444-4F34D190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Vorlage erstellen&#10;&#10;AI 產生的內容可能不正確。">
            <a:extLst>
              <a:ext uri="{FF2B5EF4-FFF2-40B4-BE49-F238E27FC236}">
                <a16:creationId xmlns:a16="http://schemas.microsoft.com/office/drawing/2014/main" id="{A184C5B6-8CCC-C23F-F649-6FFFA50F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47" y="2528399"/>
            <a:ext cx="6566890" cy="3934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70860C4-560A-7D3C-B577-198DA450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9FF7B84F-902C-20F5-F348-2781EDB663A7}"/>
              </a:ext>
            </a:extLst>
          </p:cNvPr>
          <p:cNvSpPr txBox="1">
            <a:spLocks/>
          </p:cNvSpPr>
          <p:nvPr/>
        </p:nvSpPr>
        <p:spPr>
          <a:xfrm>
            <a:off x="183997" y="680057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Chargen-Materialimport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BEA47B21-B138-F05A-89BF-DB492F5ACE61}"/>
              </a:ext>
            </a:extLst>
          </p:cNvPr>
          <p:cNvSpPr txBox="1">
            <a:spLocks/>
          </p:cNvSpPr>
          <p:nvPr/>
        </p:nvSpPr>
        <p:spPr>
          <a:xfrm>
            <a:off x="503085" y="1141715"/>
            <a:ext cx="9970094" cy="1592058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Vorlage erstellen: Laden Sie eine Excel-Tabelle für den Massenimport herunter.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Materialdatei importieren: Importieren Sie die Excel-Tabelle. Wenn die Teilenummer bereits vorhanden ist oder Daten fehlen, wird dieser Datensatz übersprungen.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Basisinformationen von Teilen im Stapelverfahren erstellen. Überprüfen Sie das Import-Protokoll:. 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212DD35-BEC5-17C6-9ED9-A43E26D98FC6}"/>
              </a:ext>
            </a:extLst>
          </p:cNvPr>
          <p:cNvGrpSpPr/>
          <p:nvPr/>
        </p:nvGrpSpPr>
        <p:grpSpPr>
          <a:xfrm>
            <a:off x="2899063" y="2846577"/>
            <a:ext cx="1620613" cy="664015"/>
            <a:chOff x="7688062" y="4473437"/>
            <a:chExt cx="2041726" cy="71112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20A1F7-923D-29C5-14A3-E831F05F4582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CEBD8D0-98C0-8011-C44F-2E3DB56614C4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7EE98CB-6FE5-0138-BAF7-D2DD37F16ADE}"/>
              </a:ext>
            </a:extLst>
          </p:cNvPr>
          <p:cNvGrpSpPr/>
          <p:nvPr/>
        </p:nvGrpSpPr>
        <p:grpSpPr>
          <a:xfrm>
            <a:off x="4555993" y="2833927"/>
            <a:ext cx="1685151" cy="664015"/>
            <a:chOff x="7688062" y="4473437"/>
            <a:chExt cx="2123034" cy="71112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0CB904D-92EE-6E74-2063-80B4A0BA5703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EC89D72-D5F4-2366-E2C3-77F01BB3F798}"/>
                </a:ext>
              </a:extLst>
            </p:cNvPr>
            <p:cNvSpPr txBox="1"/>
            <p:nvPr/>
          </p:nvSpPr>
          <p:spPr>
            <a:xfrm>
              <a:off x="9416882" y="4473437"/>
              <a:ext cx="394214" cy="395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0327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CBA7-0506-C670-1535-B08FD3DB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8074E02-8E7D-C833-0BFF-C2993072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DD32D693-B9CD-C627-7DB5-BC71BD85CCD9}"/>
              </a:ext>
            </a:extLst>
          </p:cNvPr>
          <p:cNvSpPr txBox="1">
            <a:spLocks/>
          </p:cNvSpPr>
          <p:nvPr/>
        </p:nvSpPr>
        <p:spPr>
          <a:xfrm>
            <a:off x="217952" y="130399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Material </a:t>
            </a:r>
            <a:r>
              <a:rPr lang="en-US" altLang="zh-TW" sz="1800" dirty="0" err="1">
                <a:solidFill>
                  <a:srgbClr val="0000FF"/>
                </a:solidFill>
              </a:rPr>
              <a:t>bearbeiten</a:t>
            </a:r>
            <a:r>
              <a:rPr lang="en-US" altLang="zh-TW" sz="1800" dirty="0">
                <a:solidFill>
                  <a:srgbClr val="0000FF"/>
                </a:solidFill>
              </a:rPr>
              <a:t> / </a:t>
            </a:r>
            <a:r>
              <a:rPr lang="en-US" altLang="zh-TW" sz="1800" dirty="0" err="1">
                <a:solidFill>
                  <a:srgbClr val="0000FF"/>
                </a:solidFill>
              </a:rPr>
              <a:t>löschen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7198B6-A9EA-3949-A249-B7B54A2D2385}"/>
              </a:ext>
            </a:extLst>
          </p:cNvPr>
          <p:cNvSpPr txBox="1">
            <a:spLocks/>
          </p:cNvSpPr>
          <p:nvPr/>
        </p:nvSpPr>
        <p:spPr>
          <a:xfrm>
            <a:off x="537040" y="1765649"/>
            <a:ext cx="8361864" cy="352379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Teilenummer: Kann nicht mehr geändert werden.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Name: Benutzerdefinierter Name.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Spezifikation: Benutzerdefinierte Beschreibung.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Sicherheitsbestand: Legt die Mindestsicherheitsmenge für dieses Teil fest.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Lieferzeit (Tage): Legt die Anzahl der Tage für die Wiederbeschaffung fest.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Lieferant: Name des Lieferanten.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Hersteller: Name des Herstellers.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Anfangsbestand: Aktueller Bestand.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Anhänge: Unterstützt nur PDF-Dateien, maximal zwei Anhänge.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Grundlegende Teileinformationen bearbeiten oder löschen. In der Bestandsabfrage einfach mit der rechten Maustaste auf das zu bearbeitende oder zu löschende Material klicken, um das Menü (Bearbeiten, Löschen) aufzurufen. 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1E1055AF-5024-F161-5AF8-BD0BD30461A0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Grundlegende Teileinformationen bearbeiten oder löschen. Klicken Sie in der Bestandsabfrage mit der rechten Maustaste auf das zu bearbeitende oder zu löschende Material, um das Menü aufzurufen.</a:t>
            </a:r>
            <a:r>
              <a:rPr lang="zh-TW" altLang="en-US" sz="1800" dirty="0">
                <a:solidFill>
                  <a:srgbClr val="002060"/>
                </a:solidFill>
              </a:rPr>
              <a:t>。</a:t>
            </a:r>
          </a:p>
        </p:txBody>
      </p:sp>
      <p:sp>
        <p:nvSpPr>
          <p:cNvPr id="9" name="標題 2">
            <a:extLst>
              <a:ext uri="{FF2B5EF4-FFF2-40B4-BE49-F238E27FC236}">
                <a16:creationId xmlns:a16="http://schemas.microsoft.com/office/drawing/2014/main" id="{5B29FD1B-F5FB-0EC9-D33C-F7F83BA4F595}"/>
              </a:ext>
            </a:extLst>
          </p:cNvPr>
          <p:cNvSpPr txBox="1">
            <a:spLocks/>
          </p:cNvSpPr>
          <p:nvPr/>
        </p:nvSpPr>
        <p:spPr>
          <a:xfrm>
            <a:off x="217952" y="5289457"/>
            <a:ext cx="5511319" cy="122446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</a:t>
            </a:r>
            <a:r>
              <a:rPr lang="en-US" altLang="zh-TW" sz="1800" dirty="0" err="1">
                <a:solidFill>
                  <a:srgbClr val="0000FF"/>
                </a:solidFill>
              </a:rPr>
              <a:t>Warenausgang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F180A0E3-15B1-4F5E-274B-6D1D616FA348}"/>
              </a:ext>
            </a:extLst>
          </p:cNvPr>
          <p:cNvSpPr txBox="1">
            <a:spLocks/>
          </p:cNvSpPr>
          <p:nvPr/>
        </p:nvSpPr>
        <p:spPr>
          <a:xfrm>
            <a:off x="537039" y="5751116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Ein Klick auf Warenausgang überträgt die Teilenummer automatisch in das Warenausgangsfenster.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13" name="圖片 12" descr="The image displays a user interface with tabs labeled 'Bestandsabfrage,' 'Stichwortsuche,' 'Materialname,' 'Spezifikation,' 'Gasdruckfeder,' 'Bearbeiten,' 'TEST1,' and 'Warenausgang,' likely for a document or database management system.&#10;&#10;AI 產生的內容可能不正確。">
            <a:extLst>
              <a:ext uri="{FF2B5EF4-FFF2-40B4-BE49-F238E27FC236}">
                <a16:creationId xmlns:a16="http://schemas.microsoft.com/office/drawing/2014/main" id="{892A74B1-70EF-1470-B1D6-3A7CDFB59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381" y="5133597"/>
            <a:ext cx="2238351" cy="1616587"/>
          </a:xfrm>
          <a:prstGeom prst="rect">
            <a:avLst/>
          </a:prstGeom>
        </p:spPr>
      </p:pic>
      <p:pic>
        <p:nvPicPr>
          <p:cNvPr id="15" name="圖片 14" descr="The image shows a user interface displaying a document in an editing mode with fields for product details, such as part number, name, specifications, lead time, supplier, manufacturer, and options to attach and download PDFs.&#10;&#10;AI 產生的內容可能不正確。">
            <a:extLst>
              <a:ext uri="{FF2B5EF4-FFF2-40B4-BE49-F238E27FC236}">
                <a16:creationId xmlns:a16="http://schemas.microsoft.com/office/drawing/2014/main" id="{7EDF7BCA-08C9-C6B9-0042-79625799C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35" y="1124786"/>
            <a:ext cx="2969244" cy="39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C49E-ACCC-CC16-7516-4D97DD30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7F30EA8-14CA-0337-626E-936AC979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Bestandsabfrage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B596482B-6D93-EDE6-9CE4-8F0026113B93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Bestandsabfrage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4FEE48A-F7EC-3CCD-4683-59A177514EE8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Geben Sie ein Schlüsselwort bei Stichwortsuche: ein und klicken Sie auf Suche, um nach Materialname, Spezifikation oder Teilenummer zu suchen.</a:t>
            </a:r>
          </a:p>
          <a:p>
            <a:pPr marL="342900" indent="-342900" algn="l"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Klicken Sie auf Alle anzeigen, um den gesamten Bestand aufzulisten.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4289CD50-EC92-01C2-856A-A0B1D73CC3CA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Wird verwendet, um die Bestandsliste abzufragen.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4" name="圖片 3" descr="The image displays a table with columns for terms such as 'Bestand', 'Spezifikation', 'Lager', and 'Lieferant', listing various items like 'Gasdruckfeder' and their associated details.&#10;&#10;AI 產生的內容可能不正確。">
            <a:extLst>
              <a:ext uri="{FF2B5EF4-FFF2-40B4-BE49-F238E27FC236}">
                <a16:creationId xmlns:a16="http://schemas.microsoft.com/office/drawing/2014/main" id="{FB1B3DC4-A032-1B1C-3DCC-6DDCF76C9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2" y="3429000"/>
            <a:ext cx="11532124" cy="2503172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13A5AFA6-656D-F79D-E6E9-C453C908DECD}"/>
              </a:ext>
            </a:extLst>
          </p:cNvPr>
          <p:cNvGrpSpPr/>
          <p:nvPr/>
        </p:nvGrpSpPr>
        <p:grpSpPr>
          <a:xfrm>
            <a:off x="273194" y="3806684"/>
            <a:ext cx="4289855" cy="605107"/>
            <a:chOff x="7688062" y="4473437"/>
            <a:chExt cx="2041726" cy="71112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3EA105B-554C-997B-C768-2A2DC6CD1A06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D44884A0-EC60-0CB9-E066-1FFA8873E45E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843038D-DFB1-A009-308A-D947E94667B8}"/>
              </a:ext>
            </a:extLst>
          </p:cNvPr>
          <p:cNvGrpSpPr/>
          <p:nvPr/>
        </p:nvGrpSpPr>
        <p:grpSpPr>
          <a:xfrm>
            <a:off x="4592316" y="3806684"/>
            <a:ext cx="1400465" cy="565009"/>
            <a:chOff x="7688062" y="4473437"/>
            <a:chExt cx="2108579" cy="71112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EC1E6FF-DC7D-670D-3E1D-513C4AAA5520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7FDE709E-34E8-96DD-1D06-C5E140CC0C90}"/>
                </a:ext>
              </a:extLst>
            </p:cNvPr>
            <p:cNvSpPr txBox="1"/>
            <p:nvPr/>
          </p:nvSpPr>
          <p:spPr>
            <a:xfrm>
              <a:off x="9416882" y="4473437"/>
              <a:ext cx="379759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33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1442-6BD6-C6F0-1F69-EC6F1462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EA1FF4-D808-25AD-DB91-0D15317D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Überwachung</a:t>
            </a:r>
            <a:r>
              <a:rPr lang="en-US" altLang="zh-TW" sz="2800" dirty="0"/>
              <a:t> des </a:t>
            </a:r>
            <a:r>
              <a:rPr lang="en-US" altLang="zh-TW" sz="2800" dirty="0" err="1"/>
              <a:t>niedrigen</a:t>
            </a:r>
            <a:r>
              <a:rPr lang="en-US" altLang="zh-TW" sz="2800" dirty="0"/>
              <a:t> </a:t>
            </a:r>
            <a:r>
              <a:rPr lang="en-US" altLang="zh-TW" sz="2800" dirty="0" err="1"/>
              <a:t>Sicherheitsbestands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9CA39BF-1A32-AAD9-66FB-E7B28B423FD4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Alarm für </a:t>
            </a:r>
            <a:r>
              <a:rPr lang="en-US" altLang="zh-TW" sz="1800" dirty="0" err="1">
                <a:solidFill>
                  <a:srgbClr val="0000FF"/>
                </a:solidFill>
              </a:rPr>
              <a:t>niedrigen</a:t>
            </a:r>
            <a:r>
              <a:rPr lang="en-US" altLang="zh-TW" sz="1800" dirty="0">
                <a:solidFill>
                  <a:srgbClr val="0000FF"/>
                </a:solidFill>
              </a:rPr>
              <a:t> </a:t>
            </a:r>
            <a:r>
              <a:rPr lang="en-US" altLang="zh-TW" sz="1800" dirty="0" err="1">
                <a:solidFill>
                  <a:srgbClr val="0000FF"/>
                </a:solidFill>
              </a:rPr>
              <a:t>Sicherheitsbestand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883D75F4-F8CB-CCBB-9215-C21AF251BD35}"/>
              </a:ext>
            </a:extLst>
          </p:cNvPr>
          <p:cNvSpPr txBox="1">
            <a:spLocks/>
          </p:cNvSpPr>
          <p:nvPr/>
        </p:nvSpPr>
        <p:spPr>
          <a:xfrm>
            <a:off x="537039" y="1661951"/>
            <a:ext cx="6712173" cy="11378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Wenn der verbleibende Bestand nach einer Materialausgabe unter den Sicherheitsbestand fällt, wird ein roter Warnhinweis (Alarm) auf dem Bildschirm ausgegeben. Klicken Sie zur Bestätigung auf Bestätigen.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414A5CC3-D0FF-379E-B150-99D2AAA1AA1B}"/>
              </a:ext>
            </a:extLst>
          </p:cNvPr>
          <p:cNvSpPr txBox="1">
            <a:spLocks/>
          </p:cNvSpPr>
          <p:nvPr/>
        </p:nvSpPr>
        <p:spPr>
          <a:xfrm>
            <a:off x="217952" y="279975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</a:t>
            </a:r>
            <a:r>
              <a:rPr lang="en-US" altLang="zh-TW" sz="1800" dirty="0" err="1">
                <a:solidFill>
                  <a:srgbClr val="0000FF"/>
                </a:solidFill>
              </a:rPr>
              <a:t>Werks</a:t>
            </a:r>
            <a:r>
              <a:rPr lang="en-US" altLang="zh-TW" sz="1800" dirty="0">
                <a:solidFill>
                  <a:srgbClr val="0000FF"/>
                </a:solidFill>
              </a:rPr>
              <a:t>-</a:t>
            </a:r>
            <a:r>
              <a:rPr lang="en-US" altLang="zh-TW" sz="1800" dirty="0" err="1">
                <a:solidFill>
                  <a:srgbClr val="0000FF"/>
                </a:solidFill>
              </a:rPr>
              <a:t>Sicherheitsbestand</a:t>
            </a:r>
            <a:r>
              <a:rPr lang="en-US" altLang="zh-TW" sz="1800" dirty="0">
                <a:solidFill>
                  <a:srgbClr val="0000FF"/>
                </a:solidFill>
              </a:rPr>
              <a:t>-Dashboard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BE249722-073E-AC22-8A27-BD6475EB42BE}"/>
              </a:ext>
            </a:extLst>
          </p:cNvPr>
          <p:cNvSpPr txBox="1">
            <a:spLocks/>
          </p:cNvSpPr>
          <p:nvPr/>
        </p:nvSpPr>
        <p:spPr>
          <a:xfrm>
            <a:off x="537039" y="3261412"/>
            <a:ext cx="671217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Öffnen Sie dieses Dashboard, um alle Materialien zu sehen, deren aktueller Bestand (Bestand) unter dem Sicherheitsbestand (Sicherheitsbestand) liegt.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5F584EF-6D8A-328D-8364-D6A254D4972F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Dient zur Überwachung von Materialien, deren Bestand unter den Sicherheitsbestand gefallen ist.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13" name="圖片 12" descr="The stock in the warehouse is only 2 units, and the safety level (5) has been reached, please notify purchasing.&#10;&#10;AI 產生的內容可能不正確。">
            <a:extLst>
              <a:ext uri="{FF2B5EF4-FFF2-40B4-BE49-F238E27FC236}">
                <a16:creationId xmlns:a16="http://schemas.microsoft.com/office/drawing/2014/main" id="{5D48B64B-2920-1F8E-3BE7-760800C9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67" y="1031134"/>
            <a:ext cx="3989539" cy="2659693"/>
          </a:xfrm>
          <a:prstGeom prst="rect">
            <a:avLst/>
          </a:prstGeom>
        </p:spPr>
      </p:pic>
      <p:pic>
        <p:nvPicPr>
          <p:cNvPr id="15" name="圖片 14" descr="The image is a dashboard interface showing a table with columns for Teilenummer (Part Number), Materialname (Material Name), Spezifikation (Specification), Bestand (Inventory), and Sicherheitsbestand (Safety Stock), with an entry for part number 2000-001-3637.A and material code M.&#10;&#10;AI 產生的內容可能不正確。">
            <a:extLst>
              <a:ext uri="{FF2B5EF4-FFF2-40B4-BE49-F238E27FC236}">
                <a16:creationId xmlns:a16="http://schemas.microsoft.com/office/drawing/2014/main" id="{B9840452-ADC9-75B0-1125-89E66687B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44" y="4152486"/>
            <a:ext cx="10079854" cy="253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98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1D1C4D8-6F7D-765A-E97E-3A41CFF0E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3200" dirty="0">
                <a:solidFill>
                  <a:srgbClr val="0087DC"/>
                </a:solidFill>
              </a:rPr>
              <a:t>www.cyntec.com</a:t>
            </a:r>
            <a:r>
              <a:rPr lang="en-US" altLang="zh-TW" sz="3200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0666819"/>
      </p:ext>
    </p:extLst>
  </p:cSld>
  <p:clrMapOvr>
    <a:masterClrMapping/>
  </p:clrMapOvr>
</p:sld>
</file>

<file path=ppt/theme/theme1.xml><?xml version="1.0" encoding="utf-8"?>
<a:theme xmlns:a="http://schemas.openxmlformats.org/drawingml/2006/main" name="1_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1210</Words>
  <Application>Microsoft Office PowerPoint</Application>
  <PresentationFormat>寬螢幕</PresentationFormat>
  <Paragraphs>136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Calibri</vt:lpstr>
      <vt:lpstr>Wingdings</vt:lpstr>
      <vt:lpstr>1_Delta_PPTtemplate_16x9</vt:lpstr>
      <vt:lpstr>Teile-Management-System</vt:lpstr>
      <vt:lpstr>Systemarchitektur und automatischer Start</vt:lpstr>
      <vt:lpstr>Systemeinstellungen</vt:lpstr>
      <vt:lpstr>Systemeinstellungen</vt:lpstr>
      <vt:lpstr>Benutzerzugriffsebenen</vt:lpstr>
      <vt:lpstr>Materialausgabe - Outbound</vt:lpstr>
      <vt:lpstr>Wareneingang - Inbound</vt:lpstr>
      <vt:lpstr>Materialstamm verwalten (Material Master) - Nur Level 1 &amp; 2</vt:lpstr>
      <vt:lpstr>Materialstamm verwalten (Material Master) - Nur Level 1 &amp; 2</vt:lpstr>
      <vt:lpstr>Materialstamm verwalten (Material Master) - Nur Level 1 &amp; 2</vt:lpstr>
      <vt:lpstr>Bestandsabfrage</vt:lpstr>
      <vt:lpstr>Überwachung des niedrigen Sicherheitsbestands</vt:lpstr>
      <vt:lpstr>Making Things Smaller and Smarter www.cyntec.com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熱壓機熱煤油外洩</dc:title>
  <dc:creator>HANK.HH.HSIEH 謝坤翰</dc:creator>
  <cp:lastModifiedBy>一軒 邱</cp:lastModifiedBy>
  <cp:revision>230</cp:revision>
  <dcterms:created xsi:type="dcterms:W3CDTF">2024-06-19T08:01:53Z</dcterms:created>
  <dcterms:modified xsi:type="dcterms:W3CDTF">2026-03-17T08:31:23Z</dcterms:modified>
</cp:coreProperties>
</file>