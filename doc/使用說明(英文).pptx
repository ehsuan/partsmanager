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320" r:id="rId2"/>
    <p:sldId id="2147375043" r:id="rId3"/>
    <p:sldId id="2147375057" r:id="rId4"/>
    <p:sldId id="2147375058" r:id="rId5"/>
    <p:sldId id="2147375044" r:id="rId6"/>
    <p:sldId id="2147375045" r:id="rId7"/>
    <p:sldId id="2147375047" r:id="rId8"/>
    <p:sldId id="2147375046" r:id="rId9"/>
    <p:sldId id="2147375056" r:id="rId10"/>
    <p:sldId id="2147375054" r:id="rId11"/>
    <p:sldId id="2147375048" r:id="rId12"/>
    <p:sldId id="2147375055" r:id="rId13"/>
    <p:sldId id="301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ON.CM.CHEN 陳嘉民" initials="M陳" lastIdx="0" clrIdx="0">
    <p:extLst>
      <p:ext uri="{19B8F6BF-5375-455C-9EA6-DF929625EA0E}">
        <p15:presenceInfo xmlns:p15="http://schemas.microsoft.com/office/powerpoint/2012/main" userId="S-1-5-21-706670597-753717926-1206375605-4063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8E594E"/>
    <a:srgbClr val="FCB88E"/>
    <a:srgbClr val="FFC301"/>
    <a:srgbClr val="F9F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8" autoAdjust="0"/>
    <p:restoredTop sz="94660"/>
  </p:normalViewPr>
  <p:slideViewPr>
    <p:cSldViewPr snapToGrid="0">
      <p:cViewPr varScale="1">
        <p:scale>
          <a:sx n="57" d="100"/>
          <a:sy n="57" d="100"/>
        </p:scale>
        <p:origin x="4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7D84D-3581-4C3F-BAAF-6FA71816E76E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84CAE-DE11-4542-A7AE-B5ECD1E6A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94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94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8218-28F1-27B7-DAD0-03EF08EF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0CBEACC-FA69-563F-C6D0-60BFE927B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605115-A566-ED99-2EDE-AF2D3C651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161119-6187-CAE1-2261-D54E160E9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32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4BF4-010C-68D3-9ECF-1A9D8B3B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02525D6-D95F-B138-3001-69784120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DAD268-9BD0-29F2-EB4D-A213D9303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817C10-A040-AE67-5F3D-4B18DD09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37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DD8A-A157-2F29-AD37-FC2C671B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1B284B5-EE8F-9562-B9DF-D7E919E93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12D33-87EE-109F-AD67-06F36289D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8C527-4365-865D-BBFE-F6C266FC1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0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5CA7-3455-9AE1-6AE7-41FE5270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810AFCB-4455-8F22-2F71-75BAE44A5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0FBE48-D675-29B0-2DD2-0EE1067DA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17E-1132-73E3-6206-5B1898A2C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496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6C2D-62D9-D607-C823-CBD03158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7F06C8A-975D-4542-5DE6-6A553729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69B2ED-B1A6-2928-A6DD-AD95937D0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3F1A97-D13B-C9B0-4FCB-4C09525DF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086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7E18-B3FA-981A-81E4-99885B19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4458DAF-E07E-2D96-96FA-D42617BE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6AA76F-988F-7291-6183-CA9D39DC3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A3FEF7-5272-4090-3E34-A6191B5A6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160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06BC-2CE5-80CA-3E11-A65B34D5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E92581C-2ADB-20AD-CAC6-F6B14C80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3DB2EA-7503-A1CD-B4DF-3772867DC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0EF08-B09F-292E-FFAB-BDEB4A279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298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FEC42-A439-9A2D-2D9C-4F7D5CE1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219A6F2-8275-5CD7-1007-81B9BBBC9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573EE5-9226-F213-6C2A-F65E6B86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A10352-19C5-FA30-8E24-26AF38D63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230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B0E2-9DAD-B6EE-90DC-405AE9E4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B198BAC-021C-C0B8-F7CE-57CC31AD2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6B908B-EB18-6544-A5D3-A637663E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293A4-C3DA-4124-0C26-385BD6ED7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657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E4CF-676B-A695-B6E5-9948697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148959-A56A-B121-9AAC-8FE302D1F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944723-52DC-7FD4-7D5D-68A52C4E5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68918A-705E-C659-ED2E-9591C6709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200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7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250">
                <a:solidFill>
                  <a:schemeClr val="tx2"/>
                </a:solidFill>
                <a:latin typeface="+mj-lt"/>
                <a:ea typeface="+mj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altLang="zh-TW" sz="2250" dirty="0"/>
              <a:t>Presentation Subtitle Goes Here</a:t>
            </a:r>
            <a:br>
              <a:rPr lang="en-US" altLang="zh-TW" sz="2250" dirty="0"/>
            </a:br>
            <a:r>
              <a:rPr lang="en-US" altLang="zh-TW" sz="225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3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Presenter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 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Name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Department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7" cy="380427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5007" y="5234195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2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013" y="5920122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05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12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pic>
        <p:nvPicPr>
          <p:cNvPr id="27" name="圖片 2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5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A6B8E-EB08-4AB0-9768-E121F12AB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372981"/>
            <a:ext cx="11379200" cy="679396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dirty="0"/>
              <a:t>Content goes here (20pt)</a:t>
            </a:r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  <p:grpSp>
        <p:nvGrpSpPr>
          <p:cNvPr id="25" name="群組 24"/>
          <p:cNvGrpSpPr/>
          <p:nvPr userDrawn="1"/>
        </p:nvGrpSpPr>
        <p:grpSpPr>
          <a:xfrm>
            <a:off x="-8501" y="0"/>
            <a:ext cx="12203889" cy="6858000"/>
            <a:chOff x="-8501" y="0"/>
            <a:chExt cx="12203889" cy="6858000"/>
          </a:xfrm>
        </p:grpSpPr>
        <p:grpSp>
          <p:nvGrpSpPr>
            <p:cNvPr id="26" name="群組 25"/>
            <p:cNvGrpSpPr/>
            <p:nvPr/>
          </p:nvGrpSpPr>
          <p:grpSpPr>
            <a:xfrm>
              <a:off x="8743123" y="0"/>
              <a:ext cx="3452265" cy="6853928"/>
              <a:chOff x="8368748" y="371350"/>
              <a:chExt cx="3452265" cy="685392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8368748" y="371350"/>
                <a:ext cx="2266122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1" name="L-圖案 30"/>
              <p:cNvSpPr/>
              <p:nvPr/>
            </p:nvSpPr>
            <p:spPr>
              <a:xfrm rot="10800000">
                <a:off x="10634870" y="371350"/>
                <a:ext cx="1182755" cy="1705927"/>
              </a:xfrm>
              <a:prstGeom prst="corner">
                <a:avLst>
                  <a:gd name="adj1" fmla="val 6060"/>
                  <a:gd name="adj2" fmla="val 5977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 rot="5400000">
                <a:off x="9211013" y="4615278"/>
                <a:ext cx="5148000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sp>
          <p:nvSpPr>
            <p:cNvPr id="27" name="矩形 26"/>
            <p:cNvSpPr/>
            <p:nvPr/>
          </p:nvSpPr>
          <p:spPr>
            <a:xfrm rot="10800000">
              <a:off x="-1" y="6786000"/>
              <a:ext cx="12192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5400000">
              <a:off x="-3392501" y="3395307"/>
              <a:ext cx="6840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10800000">
              <a:off x="0" y="0"/>
              <a:ext cx="8743126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26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3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3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6632" y="5765533"/>
            <a:ext cx="1886827" cy="8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8" y="1099373"/>
            <a:ext cx="10018401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2400" dirty="0">
                <a:solidFill>
                  <a:srgbClr val="0087DC"/>
                </a:solidFill>
              </a:rPr>
              <a:t>www.cyntec.com</a:t>
            </a:r>
            <a:r>
              <a:rPr lang="en-US" altLang="zh-TW" sz="2400" dirty="0"/>
              <a:t> </a:t>
            </a:r>
            <a:endParaRPr 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6271" y="5667332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4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1A208F-14AF-4B55-98E2-50AE68538517}" type="slidenum">
              <a:rPr kumimoji="0" lang="en-US" altLang="zh-TW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42251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3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9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u="none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4" y="6191970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7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/>
  <p:txStyles>
    <p:titleStyle>
      <a:lvl1pPr algn="ctr" defTabSz="685783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0.0.0.0:500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6FB26735-20D3-BD36-9DFC-6C8632F7D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647" y="5561882"/>
            <a:ext cx="3126713" cy="610317"/>
          </a:xfrm>
        </p:spPr>
        <p:txBody>
          <a:bodyPr/>
          <a:lstStyle/>
          <a:p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製作人：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YiHsuan Chiu</a:t>
            </a:r>
          </a:p>
          <a:p>
            <a:r>
              <a:rPr lang="zh-TW" altLang="en-US" sz="1800" b="1" dirty="0"/>
              <a:t>製作日期：</a:t>
            </a:r>
            <a:r>
              <a:rPr lang="en-US" altLang="zh-TW" sz="1800" dirty="0"/>
              <a:t>2026/3/16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413BCBA5-0F9D-4710-802F-538EAA9E6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775" y="891821"/>
            <a:ext cx="9144000" cy="68138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b="1" dirty="0">
                <a:ln w="0"/>
                <a:solidFill>
                  <a:schemeClr val="tx2"/>
                </a:solidFill>
                <a:latin typeface="+mj-ea"/>
              </a:rPr>
              <a:t>備品管理系統</a:t>
            </a:r>
          </a:p>
        </p:txBody>
      </p:sp>
    </p:spTree>
    <p:extLst>
      <p:ext uri="{BB962C8B-B14F-4D97-AF65-F5344CB8AC3E}">
        <p14:creationId xmlns:p14="http://schemas.microsoft.com/office/powerpoint/2010/main" val="236426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系統架構與自動啟動 </a:t>
            </a:r>
            <a:r>
              <a:rPr lang="en-US" altLang="zh-TW" sz="2800" dirty="0"/>
              <a:t>(System Start-up)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AA75B6B3-7F5E-43F0-B40E-D93642C39390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開機自動啟動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058284-99EE-4ABC-9C47-7F1DE266C3B4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後端服務程式已註冊於 </a:t>
            </a:r>
            <a:r>
              <a:rPr lang="en-US" altLang="zh-TW" sz="1800" dirty="0">
                <a:solidFill>
                  <a:srgbClr val="002060"/>
                </a:solidFill>
              </a:rPr>
              <a:t>Windows </a:t>
            </a:r>
            <a:r>
              <a:rPr lang="zh-TW" altLang="en-US" sz="1800" dirty="0">
                <a:solidFill>
                  <a:srgbClr val="002060"/>
                </a:solidFill>
              </a:rPr>
              <a:t>啟動清單中。只要您登入 </a:t>
            </a:r>
            <a:r>
              <a:rPr lang="en-US" altLang="zh-TW" sz="1800" dirty="0">
                <a:solidFill>
                  <a:srgbClr val="002060"/>
                </a:solidFill>
              </a:rPr>
              <a:t>Windows</a:t>
            </a:r>
            <a:r>
              <a:rPr lang="zh-TW" altLang="en-US" sz="1800" dirty="0">
                <a:solidFill>
                  <a:srgbClr val="002060"/>
                </a:solidFill>
              </a:rPr>
              <a:t>，系統會自動在背景執行，不需手動開啟。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553DB767-9839-456B-A218-E4949D6939C3}"/>
              </a:ext>
            </a:extLst>
          </p:cNvPr>
          <p:cNvSpPr txBox="1">
            <a:spLocks/>
          </p:cNvSpPr>
          <p:nvPr/>
        </p:nvSpPr>
        <p:spPr>
          <a:xfrm>
            <a:off x="217952" y="279975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00FF"/>
                </a:solidFill>
              </a:rPr>
              <a:t>系統托盤 </a:t>
            </a:r>
            <a:r>
              <a:rPr lang="en-US" altLang="zh-TW" sz="1800" dirty="0">
                <a:solidFill>
                  <a:srgbClr val="0000FF"/>
                </a:solidFill>
              </a:rPr>
              <a:t>(Tray Icon)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8023B91D-D96B-4E7C-9385-2B64F834915C}"/>
              </a:ext>
            </a:extLst>
          </p:cNvPr>
          <p:cNvSpPr txBox="1">
            <a:spLocks/>
          </p:cNvSpPr>
          <p:nvPr/>
        </p:nvSpPr>
        <p:spPr>
          <a:xfrm>
            <a:off x="537039" y="326141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螢幕右下角會出現一個「盾牌圖示」。</a:t>
            </a:r>
          </a:p>
          <a:p>
            <a:pPr algn="l"/>
            <a:r>
              <a:rPr lang="zh-TW" altLang="en-US" sz="1800" dirty="0">
                <a:solidFill>
                  <a:srgbClr val="002060"/>
                </a:solidFill>
              </a:rPr>
              <a:t>      * 綠色</a:t>
            </a:r>
            <a:r>
              <a:rPr lang="en-US" altLang="zh-TW" sz="1800" dirty="0">
                <a:solidFill>
                  <a:srgbClr val="002060"/>
                </a:solidFill>
              </a:rPr>
              <a:t>/</a:t>
            </a:r>
            <a:r>
              <a:rPr lang="zh-TW" altLang="en-US" sz="1800" dirty="0">
                <a:solidFill>
                  <a:srgbClr val="002060"/>
                </a:solidFill>
              </a:rPr>
              <a:t>正常圖示：代表服務運作中。</a:t>
            </a:r>
          </a:p>
          <a:p>
            <a:pPr algn="l"/>
            <a:r>
              <a:rPr lang="zh-TW" altLang="en-US" sz="1800" dirty="0">
                <a:solidFill>
                  <a:srgbClr val="002060"/>
                </a:solidFill>
              </a:rPr>
              <a:t>      * 右鍵功能：提供 </a:t>
            </a:r>
            <a:r>
              <a:rPr lang="en-US" altLang="zh-TW" sz="1800" dirty="0">
                <a:solidFill>
                  <a:srgbClr val="002060"/>
                </a:solidFill>
              </a:rPr>
              <a:t>Open Logs (</a:t>
            </a:r>
            <a:r>
              <a:rPr lang="zh-TW" altLang="en-US" sz="1800" dirty="0">
                <a:solidFill>
                  <a:srgbClr val="002060"/>
                </a:solidFill>
              </a:rPr>
              <a:t>查看日誌</a:t>
            </a:r>
            <a:r>
              <a:rPr lang="en-US" altLang="zh-TW" sz="1800" dirty="0">
                <a:solidFill>
                  <a:srgbClr val="002060"/>
                </a:solidFill>
              </a:rPr>
              <a:t>) </a:t>
            </a:r>
            <a:r>
              <a:rPr lang="zh-TW" altLang="en-US" sz="1800" dirty="0">
                <a:solidFill>
                  <a:srgbClr val="002060"/>
                </a:solidFill>
              </a:rPr>
              <a:t>與 </a:t>
            </a:r>
            <a:r>
              <a:rPr lang="en-US" altLang="zh-TW" sz="1800" dirty="0">
                <a:solidFill>
                  <a:srgbClr val="002060"/>
                </a:solidFill>
              </a:rPr>
              <a:t>Exit Server (</a:t>
            </a:r>
            <a:r>
              <a:rPr lang="zh-TW" altLang="en-US" sz="1800" dirty="0">
                <a:solidFill>
                  <a:srgbClr val="002060"/>
                </a:solidFill>
              </a:rPr>
              <a:t>關閉伺服器</a:t>
            </a:r>
            <a:r>
              <a:rPr lang="en-US" altLang="zh-TW" sz="1800" dirty="0">
                <a:solidFill>
                  <a:srgbClr val="002060"/>
                </a:solidFill>
              </a:rPr>
              <a:t>)</a:t>
            </a:r>
            <a:r>
              <a:rPr lang="zh-TW" altLang="en-US" sz="1800" dirty="0">
                <a:solidFill>
                  <a:srgbClr val="002060"/>
                </a:solidFill>
              </a:rPr>
              <a:t>。</a:t>
            </a:r>
          </a:p>
          <a:p>
            <a:pPr algn="l"/>
            <a:r>
              <a:rPr lang="zh-TW" altLang="en-US" sz="1800" dirty="0">
                <a:solidFill>
                  <a:srgbClr val="002060"/>
                </a:solidFill>
              </a:rPr>
              <a:t>      * 注意：除非維護需要，請勿關閉伺服器，否則全工廠的領料端將會斷線。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8E699DE-C149-93F1-20EE-7783799EFED4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本系統分為「後端服務 </a:t>
            </a:r>
            <a:r>
              <a:rPr lang="en-US" altLang="zh-TW" sz="1800" dirty="0">
                <a:solidFill>
                  <a:srgbClr val="002060"/>
                </a:solidFill>
              </a:rPr>
              <a:t>(API Server)</a:t>
            </a:r>
            <a:r>
              <a:rPr lang="zh-TW" altLang="en-US" sz="1800" dirty="0">
                <a:solidFill>
                  <a:srgbClr val="002060"/>
                </a:solidFill>
              </a:rPr>
              <a:t>」與「操作介面 </a:t>
            </a:r>
            <a:r>
              <a:rPr lang="en-US" altLang="zh-TW" sz="1800" dirty="0">
                <a:solidFill>
                  <a:srgbClr val="002060"/>
                </a:solidFill>
              </a:rPr>
              <a:t>(Client)</a:t>
            </a:r>
            <a:r>
              <a:rPr lang="zh-TW" altLang="en-US" sz="1800" dirty="0">
                <a:solidFill>
                  <a:srgbClr val="002060"/>
                </a:solidFill>
              </a:rPr>
              <a:t>」。為了確保作業不中斷，後端服務已設定為自動化管理。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7" name="圖片 6" descr="7ￂﾰ￢ﾄﾃ Sunny.&#10;&#10;AI 產生的內容可能不正確。">
            <a:extLst>
              <a:ext uri="{FF2B5EF4-FFF2-40B4-BE49-F238E27FC236}">
                <a16:creationId xmlns:a16="http://schemas.microsoft.com/office/drawing/2014/main" id="{7373FD56-5055-33DB-7472-D3C227CB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73" y="3132246"/>
            <a:ext cx="35718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52B4-DD50-90DD-1372-1BAAADC3A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D0F314-0F7B-9255-14A5-96ECDE8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系統設定</a:t>
            </a:r>
            <a:r>
              <a:rPr lang="en-US" altLang="zh-TW" sz="2800" dirty="0"/>
              <a:t>(System Setting)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F1D58291-492B-EB1C-A0F8-D422A13FC50F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後端服務 </a:t>
            </a:r>
            <a:r>
              <a:rPr lang="en-US" altLang="zh-TW" sz="1800" dirty="0">
                <a:solidFill>
                  <a:srgbClr val="0000FF"/>
                </a:solidFill>
              </a:rPr>
              <a:t>(API Server)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9D0186C0-3D2B-922E-87F0-681CFEAC529D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後端服務主要在管理資料庫，接收用戶端的連線需求，整個工廠只應存在一台。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後端設定檔位於資料夾內</a:t>
            </a:r>
            <a:r>
              <a:rPr lang="en-US" altLang="zh-TW" sz="1800" dirty="0">
                <a:solidFill>
                  <a:srgbClr val="002060"/>
                </a:solidFill>
              </a:rPr>
              <a:t>Config.ini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DefaultConnection</a:t>
            </a:r>
            <a:r>
              <a:rPr lang="en-US" altLang="zh-TW" sz="1800" dirty="0">
                <a:solidFill>
                  <a:srgbClr val="002060"/>
                </a:solidFill>
              </a:rPr>
              <a:t>=Data Source : </a:t>
            </a:r>
            <a:r>
              <a:rPr lang="en-US" altLang="zh-TW" sz="1800" dirty="0" err="1">
                <a:solidFill>
                  <a:srgbClr val="002060"/>
                </a:solidFill>
              </a:rPr>
              <a:t>DataBase</a:t>
            </a:r>
            <a:r>
              <a:rPr lang="zh-TW" altLang="en-US" sz="1800" dirty="0">
                <a:solidFill>
                  <a:srgbClr val="002060"/>
                </a:solidFill>
              </a:rPr>
              <a:t>存放位置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Urls</a:t>
            </a:r>
            <a:r>
              <a:rPr lang="en-US" altLang="zh-TW" sz="1800" dirty="0">
                <a:solidFill>
                  <a:srgbClr val="002060"/>
                </a:solidFill>
              </a:rPr>
              <a:t> : </a:t>
            </a:r>
            <a:r>
              <a:rPr lang="zh-TW" altLang="en-US" sz="1800" dirty="0">
                <a:solidFill>
                  <a:srgbClr val="002060"/>
                </a:solidFill>
              </a:rPr>
              <a:t>後端允許連線位置，正常設為</a:t>
            </a:r>
            <a:r>
              <a:rPr lang="en-US" altLang="zh-TW" sz="1800" dirty="0">
                <a:solidFill>
                  <a:srgbClr val="002060"/>
                </a:solidFill>
                <a:hlinkClick r:id="rId3"/>
              </a:rPr>
              <a:t>http://0.0.0.0:5000</a:t>
            </a:r>
            <a:r>
              <a:rPr lang="zh-TW" altLang="en-US" sz="1800" dirty="0">
                <a:solidFill>
                  <a:srgbClr val="002060"/>
                </a:solidFill>
              </a:rPr>
              <a:t>無須更動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>
                <a:solidFill>
                  <a:srgbClr val="002060"/>
                </a:solidFill>
              </a:rPr>
              <a:t>Language : </a:t>
            </a:r>
            <a:r>
              <a:rPr lang="zh-TW" altLang="en-US" sz="1800" dirty="0">
                <a:solidFill>
                  <a:srgbClr val="002060"/>
                </a:solidFill>
              </a:rPr>
              <a:t>系統語系設定，目前支援中文</a:t>
            </a:r>
            <a:r>
              <a:rPr lang="en-US" altLang="zh-TW" sz="1800" dirty="0">
                <a:solidFill>
                  <a:srgbClr val="002060"/>
                </a:solidFill>
              </a:rPr>
              <a:t>(</a:t>
            </a:r>
            <a:r>
              <a:rPr lang="en-US" altLang="zh-TW" sz="1800" dirty="0" err="1">
                <a:solidFill>
                  <a:srgbClr val="002060"/>
                </a:solidFill>
              </a:rPr>
              <a:t>zh</a:t>
            </a:r>
            <a:r>
              <a:rPr lang="en-US" altLang="zh-TW" sz="1800" dirty="0">
                <a:solidFill>
                  <a:srgbClr val="002060"/>
                </a:solidFill>
              </a:rPr>
              <a:t>-TW)</a:t>
            </a:r>
            <a:r>
              <a:rPr lang="zh-TW" altLang="en-US" sz="1800" dirty="0">
                <a:solidFill>
                  <a:srgbClr val="002060"/>
                </a:solidFill>
              </a:rPr>
              <a:t>、英文</a:t>
            </a:r>
            <a:r>
              <a:rPr lang="en-US" altLang="zh-TW" sz="1800" dirty="0">
                <a:solidFill>
                  <a:srgbClr val="002060"/>
                </a:solidFill>
              </a:rPr>
              <a:t>(</a:t>
            </a:r>
            <a:r>
              <a:rPr lang="en-US" altLang="zh-TW" sz="1800" dirty="0" err="1">
                <a:solidFill>
                  <a:srgbClr val="002060"/>
                </a:solidFill>
              </a:rPr>
              <a:t>en</a:t>
            </a:r>
            <a:r>
              <a:rPr lang="en-US" altLang="zh-TW" sz="1800" dirty="0">
                <a:solidFill>
                  <a:srgbClr val="002060"/>
                </a:solidFill>
              </a:rPr>
              <a:t>)</a:t>
            </a:r>
            <a:r>
              <a:rPr lang="zh-TW" altLang="en-US" sz="1800" dirty="0">
                <a:solidFill>
                  <a:srgbClr val="002060"/>
                </a:solidFill>
              </a:rPr>
              <a:t>、德文</a:t>
            </a:r>
            <a:r>
              <a:rPr lang="en-US" altLang="zh-TW" sz="1800" dirty="0">
                <a:solidFill>
                  <a:srgbClr val="002060"/>
                </a:solidFill>
              </a:rPr>
              <a:t>(de)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AttachmentPath</a:t>
            </a:r>
            <a:r>
              <a:rPr lang="en-US" altLang="zh-TW" sz="1800" dirty="0">
                <a:solidFill>
                  <a:srgbClr val="002060"/>
                </a:solidFill>
              </a:rPr>
              <a:t> : </a:t>
            </a:r>
            <a:r>
              <a:rPr lang="zh-TW" altLang="en-US" sz="1800" dirty="0">
                <a:solidFill>
                  <a:srgbClr val="002060"/>
                </a:solidFill>
              </a:rPr>
              <a:t>料號附件的存放位置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66E8546D-9B80-CE49-B7FC-AF751685F5AE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本系統分為「後端服務 </a:t>
            </a:r>
            <a:r>
              <a:rPr lang="en-US" altLang="zh-TW" sz="1800" dirty="0">
                <a:solidFill>
                  <a:srgbClr val="002060"/>
                </a:solidFill>
              </a:rPr>
              <a:t>(API Server)</a:t>
            </a:r>
            <a:r>
              <a:rPr lang="zh-TW" altLang="en-US" sz="1800" dirty="0">
                <a:solidFill>
                  <a:srgbClr val="002060"/>
                </a:solidFill>
              </a:rPr>
              <a:t>」與「用戶端</a:t>
            </a:r>
            <a:r>
              <a:rPr lang="en-US" altLang="zh-TW" sz="1800" dirty="0">
                <a:solidFill>
                  <a:srgbClr val="002060"/>
                </a:solidFill>
              </a:rPr>
              <a:t>(Client)</a:t>
            </a:r>
            <a:r>
              <a:rPr lang="zh-TW" altLang="en-US" sz="1800" dirty="0">
                <a:solidFill>
                  <a:srgbClr val="002060"/>
                </a:solidFill>
              </a:rPr>
              <a:t>」。為了確保作業不中斷，後端服務已設定為自動化管理。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5" name="圖片 4" descr="The image displays a configuration for a PartsManager API server, including connection strings, network information, and system settings.&#10;&#10;AI 產生的內容可能不正確。">
            <a:extLst>
              <a:ext uri="{FF2B5EF4-FFF2-40B4-BE49-F238E27FC236}">
                <a16:creationId xmlns:a16="http://schemas.microsoft.com/office/drawing/2014/main" id="{30DD1355-25C1-9CCB-9F31-EA07E4A1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3429000"/>
            <a:ext cx="6065429" cy="306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6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CA-4CFD-C13B-388C-A44B35EB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C18BF5-3A91-0ECF-C96D-B8A2F788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系統設定</a:t>
            </a:r>
            <a:r>
              <a:rPr lang="en-US" altLang="zh-TW" sz="2800" dirty="0"/>
              <a:t>(System Setting)</a:t>
            </a:r>
            <a:endParaRPr lang="zh-TW" altLang="en-US" sz="2800" dirty="0"/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E0B6479F-9213-480E-0CD6-CFF621C1323D}"/>
              </a:ext>
            </a:extLst>
          </p:cNvPr>
          <p:cNvSpPr txBox="1">
            <a:spLocks/>
          </p:cNvSpPr>
          <p:nvPr/>
        </p:nvSpPr>
        <p:spPr>
          <a:xfrm>
            <a:off x="208525" y="119339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r>
              <a:rPr lang="zh-TW" altLang="en-US" sz="1800" dirty="0">
                <a:solidFill>
                  <a:srgbClr val="0000FF"/>
                </a:solidFill>
              </a:rPr>
              <a:t>用戶端</a:t>
            </a:r>
            <a:r>
              <a:rPr lang="en-US" altLang="zh-TW" sz="1800" dirty="0">
                <a:solidFill>
                  <a:srgbClr val="0000FF"/>
                </a:solidFill>
              </a:rPr>
              <a:t>(Client)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1587DF81-3F7D-51ED-BC05-B5333DB43B43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本系統分為「後端服務 </a:t>
            </a:r>
            <a:r>
              <a:rPr lang="en-US" altLang="zh-TW" sz="1800" dirty="0">
                <a:solidFill>
                  <a:srgbClr val="002060"/>
                </a:solidFill>
              </a:rPr>
              <a:t>(API Server)</a:t>
            </a:r>
            <a:r>
              <a:rPr lang="zh-TW" altLang="en-US" sz="1800" dirty="0">
                <a:solidFill>
                  <a:srgbClr val="002060"/>
                </a:solidFill>
              </a:rPr>
              <a:t>」與「用戶端</a:t>
            </a:r>
            <a:r>
              <a:rPr lang="en-US" altLang="zh-TW" sz="1800" dirty="0">
                <a:solidFill>
                  <a:srgbClr val="002060"/>
                </a:solidFill>
              </a:rPr>
              <a:t>(Client)</a:t>
            </a:r>
            <a:r>
              <a:rPr lang="zh-TW" altLang="en-US" sz="1800" dirty="0">
                <a:solidFill>
                  <a:srgbClr val="002060"/>
                </a:solidFill>
              </a:rPr>
              <a:t>」。為了確保作業不中斷，後端服務已設定為自動化管理。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6" name="圖片 5" descr="The diagram shows a configuration for a Parts Manager Client with network settings, system language, and inventory options.&#10;&#10;AI 產生的內容可能不正確。">
            <a:extLst>
              <a:ext uri="{FF2B5EF4-FFF2-40B4-BE49-F238E27FC236}">
                <a16:creationId xmlns:a16="http://schemas.microsoft.com/office/drawing/2014/main" id="{6CB2BC96-D29D-2635-95F9-9FD0C02A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396" y="3056510"/>
            <a:ext cx="5143696" cy="3614489"/>
          </a:xfrm>
          <a:prstGeom prst="rect">
            <a:avLst/>
          </a:prstGeom>
        </p:spPr>
      </p:pic>
      <p:sp>
        <p:nvSpPr>
          <p:cNvPr id="7" name="標題 2">
            <a:extLst>
              <a:ext uri="{FF2B5EF4-FFF2-40B4-BE49-F238E27FC236}">
                <a16:creationId xmlns:a16="http://schemas.microsoft.com/office/drawing/2014/main" id="{BAF6F0C8-5D97-98DC-6943-1B49F09C40A5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用戶端主要在提供介面執行領料、入庫等作業行為，整個工廠可存在多台。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用戶端設定檔位於資料夾內</a:t>
            </a:r>
            <a:r>
              <a:rPr lang="en-US" altLang="zh-TW" sz="1800" dirty="0">
                <a:solidFill>
                  <a:srgbClr val="002060"/>
                </a:solidFill>
              </a:rPr>
              <a:t>Config.ini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ServerIP</a:t>
            </a:r>
            <a:r>
              <a:rPr lang="en-US" altLang="zh-TW" sz="1800" dirty="0">
                <a:solidFill>
                  <a:srgbClr val="002060"/>
                </a:solidFill>
              </a:rPr>
              <a:t> : </a:t>
            </a:r>
            <a:r>
              <a:rPr lang="zh-TW" altLang="en-US" sz="1800" dirty="0">
                <a:solidFill>
                  <a:srgbClr val="002060"/>
                </a:solidFill>
              </a:rPr>
              <a:t>後端</a:t>
            </a:r>
            <a:r>
              <a:rPr lang="en-US" altLang="zh-TW" sz="1800" dirty="0">
                <a:solidFill>
                  <a:srgbClr val="002060"/>
                </a:solidFill>
              </a:rPr>
              <a:t>Server</a:t>
            </a:r>
            <a:r>
              <a:rPr lang="zh-TW" altLang="en-US" sz="1800" dirty="0">
                <a:solidFill>
                  <a:srgbClr val="002060"/>
                </a:solidFill>
              </a:rPr>
              <a:t>的</a:t>
            </a:r>
            <a:r>
              <a:rPr lang="en-US" altLang="zh-TW" sz="1800" dirty="0">
                <a:solidFill>
                  <a:srgbClr val="002060"/>
                </a:solidFill>
              </a:rPr>
              <a:t>IP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ServerPort</a:t>
            </a:r>
            <a:r>
              <a:rPr lang="en-US" altLang="zh-TW" sz="1800" dirty="0">
                <a:solidFill>
                  <a:srgbClr val="002060"/>
                </a:solidFill>
              </a:rPr>
              <a:t> : </a:t>
            </a:r>
            <a:r>
              <a:rPr lang="zh-TW" altLang="en-US" sz="1800" dirty="0">
                <a:solidFill>
                  <a:srgbClr val="002060"/>
                </a:solidFill>
              </a:rPr>
              <a:t>後端</a:t>
            </a:r>
            <a:r>
              <a:rPr lang="en-US" altLang="zh-TW" sz="1800" dirty="0">
                <a:solidFill>
                  <a:srgbClr val="002060"/>
                </a:solidFill>
              </a:rPr>
              <a:t>Server</a:t>
            </a:r>
            <a:r>
              <a:rPr lang="zh-TW" altLang="en-US" sz="1800" dirty="0">
                <a:solidFill>
                  <a:srgbClr val="002060"/>
                </a:solidFill>
              </a:rPr>
              <a:t>的</a:t>
            </a:r>
            <a:r>
              <a:rPr lang="en-US" altLang="zh-TW" sz="1800" dirty="0">
                <a:solidFill>
                  <a:srgbClr val="002060"/>
                </a:solidFill>
              </a:rPr>
              <a:t>Port</a:t>
            </a:r>
            <a:r>
              <a:rPr lang="zh-TW" altLang="en-US" sz="1800" dirty="0">
                <a:solidFill>
                  <a:srgbClr val="002060"/>
                </a:solidFill>
              </a:rPr>
              <a:t>，預設是</a:t>
            </a:r>
            <a:r>
              <a:rPr lang="en-US" altLang="zh-TW" sz="1800" dirty="0">
                <a:solidFill>
                  <a:srgbClr val="002060"/>
                </a:solidFill>
              </a:rPr>
              <a:t>5000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>
                <a:solidFill>
                  <a:srgbClr val="002060"/>
                </a:solidFill>
              </a:rPr>
              <a:t>Language : </a:t>
            </a:r>
            <a:r>
              <a:rPr lang="zh-TW" altLang="en-US" sz="1800" dirty="0">
                <a:solidFill>
                  <a:srgbClr val="002060"/>
                </a:solidFill>
              </a:rPr>
              <a:t>系統語系設定，目前支援中文</a:t>
            </a:r>
            <a:r>
              <a:rPr lang="en-US" altLang="zh-TW" sz="1800" dirty="0">
                <a:solidFill>
                  <a:srgbClr val="002060"/>
                </a:solidFill>
              </a:rPr>
              <a:t>(</a:t>
            </a:r>
            <a:r>
              <a:rPr lang="en-US" altLang="zh-TW" sz="1800" dirty="0" err="1">
                <a:solidFill>
                  <a:srgbClr val="002060"/>
                </a:solidFill>
              </a:rPr>
              <a:t>zh</a:t>
            </a:r>
            <a:r>
              <a:rPr lang="en-US" altLang="zh-TW" sz="1800" dirty="0">
                <a:solidFill>
                  <a:srgbClr val="002060"/>
                </a:solidFill>
              </a:rPr>
              <a:t>-TW)</a:t>
            </a:r>
            <a:r>
              <a:rPr lang="zh-TW" altLang="en-US" sz="1800" dirty="0">
                <a:solidFill>
                  <a:srgbClr val="002060"/>
                </a:solidFill>
              </a:rPr>
              <a:t>、英文</a:t>
            </a:r>
            <a:r>
              <a:rPr lang="en-US" altLang="zh-TW" sz="1800" dirty="0">
                <a:solidFill>
                  <a:srgbClr val="002060"/>
                </a:solidFill>
              </a:rPr>
              <a:t>(</a:t>
            </a:r>
            <a:r>
              <a:rPr lang="en-US" altLang="zh-TW" sz="1800" dirty="0" err="1">
                <a:solidFill>
                  <a:srgbClr val="002060"/>
                </a:solidFill>
              </a:rPr>
              <a:t>en</a:t>
            </a:r>
            <a:r>
              <a:rPr lang="en-US" altLang="zh-TW" sz="1800" dirty="0">
                <a:solidFill>
                  <a:srgbClr val="002060"/>
                </a:solidFill>
              </a:rPr>
              <a:t>)</a:t>
            </a:r>
            <a:r>
              <a:rPr lang="zh-TW" altLang="en-US" sz="1800" dirty="0">
                <a:solidFill>
                  <a:srgbClr val="002060"/>
                </a:solidFill>
              </a:rPr>
              <a:t>、德文</a:t>
            </a:r>
            <a:r>
              <a:rPr lang="en-US" altLang="zh-TW" sz="1800" dirty="0">
                <a:solidFill>
                  <a:srgbClr val="002060"/>
                </a:solidFill>
              </a:rPr>
              <a:t>(de)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en-US" altLang="zh-TW" sz="1800" dirty="0" err="1">
                <a:solidFill>
                  <a:srgbClr val="002060"/>
                </a:solidFill>
              </a:rPr>
              <a:t>AutoLogoutMinutes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閒置多久後自動登出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endParaRPr lang="en-US" altLang="zh-TW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07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F7DB-5684-7480-E779-3A75F01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98C3E96-18AF-E4F4-7623-1DE90DE5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使用者權限等級 </a:t>
            </a:r>
            <a:r>
              <a:rPr lang="en-US" altLang="zh-TW" sz="2800" dirty="0"/>
              <a:t>(User Access Levels)</a:t>
            </a:r>
            <a:endParaRPr lang="zh-TW" altLang="en-US" sz="2800" dirty="0"/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BE0914B9-6200-C274-A9C1-855852E20516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系統區分四個權限等級，確保資料安全且操作介面簡潔。等級數字越小，權限越高。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系統有預設的管理員使用者名稱</a:t>
            </a:r>
            <a:r>
              <a:rPr lang="en-US" altLang="zh-TW" sz="1800" dirty="0">
                <a:solidFill>
                  <a:srgbClr val="002060"/>
                </a:solidFill>
              </a:rPr>
              <a:t>(admin)</a:t>
            </a:r>
            <a:r>
              <a:rPr lang="zh-TW" altLang="en-US" sz="1800" dirty="0">
                <a:solidFill>
                  <a:srgbClr val="002060"/>
                </a:solidFill>
              </a:rPr>
              <a:t>與密碼</a:t>
            </a:r>
            <a:r>
              <a:rPr lang="en-US" altLang="zh-TW" sz="1800" dirty="0">
                <a:solidFill>
                  <a:srgbClr val="002060"/>
                </a:solidFill>
              </a:rPr>
              <a:t>(admin)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2B62DF-E2CE-52C4-4DFB-E2A809980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49457"/>
              </p:ext>
            </p:extLst>
          </p:nvPr>
        </p:nvGraphicFramePr>
        <p:xfrm>
          <a:off x="1297352" y="1729344"/>
          <a:ext cx="94242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663">
                  <a:extLst>
                    <a:ext uri="{9D8B030D-6E8A-4147-A177-3AD203B41FA5}">
                      <a16:colId xmlns:a16="http://schemas.microsoft.com/office/drawing/2014/main" val="4106553782"/>
                    </a:ext>
                  </a:extLst>
                </a:gridCol>
                <a:gridCol w="3073366">
                  <a:extLst>
                    <a:ext uri="{9D8B030D-6E8A-4147-A177-3AD203B41FA5}">
                      <a16:colId xmlns:a16="http://schemas.microsoft.com/office/drawing/2014/main" val="246725681"/>
                    </a:ext>
                  </a:extLst>
                </a:gridCol>
                <a:gridCol w="4989251">
                  <a:extLst>
                    <a:ext uri="{9D8B030D-6E8A-4147-A177-3AD203B41FA5}">
                      <a16:colId xmlns:a16="http://schemas.microsoft.com/office/drawing/2014/main" val="1886333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等級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權限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可見功能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8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最高權限，可管理使用者帳號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全部按鈕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含使用者管理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9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可建立、修改物料主檔與規格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除了使用者管理外的所有按鈕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0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執行日常進出庫、查詢、看警報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入庫、查詢、低水位看板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3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僅限在主畫面執行「領料過帳」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頂部無按鈕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</a:rPr>
                        <a:t>防止誤觸設定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64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31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30A3-5E3C-9304-B464-F2E9D3B3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he image displays a Chinese interface for a Warehouse Management System, showing a form with fields for item name, specifications, current stock, and a barcode, along with a message indicating the system is ready and a notification that a service link is connected.&#10;&#10;AI 產生的內容可能不正確。">
            <a:extLst>
              <a:ext uri="{FF2B5EF4-FFF2-40B4-BE49-F238E27FC236}">
                <a16:creationId xmlns:a16="http://schemas.microsoft.com/office/drawing/2014/main" id="{EAAC7EE6-EE61-487E-A817-347E638A6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392" y="1080937"/>
            <a:ext cx="4295803" cy="5406685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30AC778-A75E-4B3B-B7EE-64A0226D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領料作業</a:t>
            </a:r>
            <a:r>
              <a:rPr lang="en-US" altLang="zh-TW" sz="2800" dirty="0"/>
              <a:t>(Outbound)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223A83BF-FA63-8E7E-746A-499ECB7C30D2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領料作業 </a:t>
            </a:r>
            <a:r>
              <a:rPr lang="en-US" altLang="zh-TW" sz="1800" dirty="0">
                <a:solidFill>
                  <a:srgbClr val="0000FF"/>
                </a:solidFill>
              </a:rPr>
              <a:t>(Outbound) - </a:t>
            </a:r>
            <a:r>
              <a:rPr lang="zh-TW" altLang="en-US" sz="1800" dirty="0">
                <a:solidFill>
                  <a:srgbClr val="0000FF"/>
                </a:solidFill>
              </a:rPr>
              <a:t>位於主畫面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4BDF6F7B-00EF-58E5-EE95-7B9488F6884C}"/>
              </a:ext>
            </a:extLst>
          </p:cNvPr>
          <p:cNvSpPr txBox="1">
            <a:spLocks/>
          </p:cNvSpPr>
          <p:nvPr/>
        </p:nvSpPr>
        <p:spPr>
          <a:xfrm>
            <a:off x="537039" y="951734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確認倉庫：選擇目前的作業倉庫（如：</a:t>
            </a:r>
            <a:r>
              <a:rPr lang="en-US" altLang="zh-TW" sz="1800" dirty="0">
                <a:solidFill>
                  <a:srgbClr val="002060"/>
                </a:solidFill>
              </a:rPr>
              <a:t>Warehouse 01</a:t>
            </a:r>
            <a:r>
              <a:rPr lang="zh-TW" altLang="en-US" sz="1800" dirty="0">
                <a:solidFill>
                  <a:srgbClr val="002060"/>
                </a:solidFill>
              </a:rPr>
              <a:t>）。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掃描條碼：掃描零件標籤，系統自動顯示品名與規格。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輸入數量：輸入領取數量（限正整數，無小數點）。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過帳：點選「確認領料」。若庫存不足，系統會彈出紅色警告。</a:t>
            </a:r>
          </a:p>
          <a:p>
            <a:pPr marL="342900" indent="-342900" algn="l">
              <a:buFont typeface="+mj-lt"/>
              <a:buAutoNum type="arabicPeriod"/>
            </a:pP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D82624A-D240-6BA7-3DA2-E649A1EE39A9}"/>
              </a:ext>
            </a:extLst>
          </p:cNvPr>
          <p:cNvGrpSpPr/>
          <p:nvPr/>
        </p:nvGrpSpPr>
        <p:grpSpPr>
          <a:xfrm>
            <a:off x="7688062" y="4473437"/>
            <a:ext cx="2041726" cy="711122"/>
            <a:chOff x="7688062" y="4473437"/>
            <a:chExt cx="2041726" cy="71112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94853B3-4A0B-D1E9-4A9E-69268A099F75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1B59EB3-AAB4-E599-98F0-4628ABD85063}"/>
                </a:ext>
              </a:extLst>
            </p:cNvPr>
            <p:cNvSpPr txBox="1"/>
            <p:nvPr/>
          </p:nvSpPr>
          <p:spPr>
            <a:xfrm>
              <a:off x="9416882" y="447343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BC8C01B9-4FF7-A92A-6943-80EDE9B6F5D5}"/>
              </a:ext>
            </a:extLst>
          </p:cNvPr>
          <p:cNvGrpSpPr/>
          <p:nvPr/>
        </p:nvGrpSpPr>
        <p:grpSpPr>
          <a:xfrm>
            <a:off x="7688061" y="1957524"/>
            <a:ext cx="3966899" cy="776798"/>
            <a:chOff x="7688062" y="4473437"/>
            <a:chExt cx="2041726" cy="71112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D37D1D0-80AE-8C57-F056-9A519905FE70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2441240-24AB-27E4-47F9-43ED299FC395}"/>
                </a:ext>
              </a:extLst>
            </p:cNvPr>
            <p:cNvSpPr txBox="1"/>
            <p:nvPr/>
          </p:nvSpPr>
          <p:spPr>
            <a:xfrm>
              <a:off x="9416882" y="4473437"/>
              <a:ext cx="161050" cy="338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6EA42510-212B-274F-755E-38FA79AE903D}"/>
              </a:ext>
            </a:extLst>
          </p:cNvPr>
          <p:cNvGrpSpPr/>
          <p:nvPr/>
        </p:nvGrpSpPr>
        <p:grpSpPr>
          <a:xfrm>
            <a:off x="7688060" y="5334207"/>
            <a:ext cx="1350980" cy="572059"/>
            <a:chOff x="7688062" y="4473437"/>
            <a:chExt cx="2157670" cy="71112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A965560-C7C7-9585-7FBC-E06DE0AFB096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8810F1-1CDD-F8DA-E710-C97593A0A459}"/>
                </a:ext>
              </a:extLst>
            </p:cNvPr>
            <p:cNvSpPr txBox="1"/>
            <p:nvPr/>
          </p:nvSpPr>
          <p:spPr>
            <a:xfrm>
              <a:off x="9345985" y="4473437"/>
              <a:ext cx="499747" cy="4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3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DCFE1A3-C1C8-5A13-9CAB-146981AE3BEC}"/>
              </a:ext>
            </a:extLst>
          </p:cNvPr>
          <p:cNvGrpSpPr/>
          <p:nvPr/>
        </p:nvGrpSpPr>
        <p:grpSpPr>
          <a:xfrm>
            <a:off x="9039040" y="5275753"/>
            <a:ext cx="2615920" cy="711122"/>
            <a:chOff x="7688062" y="4473437"/>
            <a:chExt cx="2041726" cy="71112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E563ADC-55FF-6A88-D29F-4410330F44F0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4BBA4A6-ACB7-F2E8-2CE9-5B0BE5BE6260}"/>
                </a:ext>
              </a:extLst>
            </p:cNvPr>
            <p:cNvSpPr txBox="1"/>
            <p:nvPr/>
          </p:nvSpPr>
          <p:spPr>
            <a:xfrm>
              <a:off x="9416882" y="4473437"/>
              <a:ext cx="244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4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52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9E4E-8665-E935-5914-5C446464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403BE8-0378-C966-AD1A-D947FE09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入料作業</a:t>
            </a:r>
            <a:r>
              <a:rPr lang="en-US" altLang="zh-TW" sz="2800" dirty="0"/>
              <a:t>(Inbound)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F2CB7DD-FD50-D354-0D03-513947DCFED8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入料作業 </a:t>
            </a:r>
            <a:r>
              <a:rPr lang="en-US" altLang="zh-TW" sz="1800" dirty="0">
                <a:solidFill>
                  <a:srgbClr val="0000FF"/>
                </a:solidFill>
              </a:rPr>
              <a:t>(Inbound) - </a:t>
            </a:r>
            <a:r>
              <a:rPr lang="zh-TW" altLang="en-US" sz="1800" dirty="0">
                <a:solidFill>
                  <a:srgbClr val="0000FF"/>
                </a:solidFill>
              </a:rPr>
              <a:t>位於主畫面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C4F0A31-4D6A-7044-9CC5-5A6696DF6793}"/>
              </a:ext>
            </a:extLst>
          </p:cNvPr>
          <p:cNvSpPr txBox="1">
            <a:spLocks/>
          </p:cNvSpPr>
          <p:nvPr/>
        </p:nvSpPr>
        <p:spPr>
          <a:xfrm>
            <a:off x="537039" y="951734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識別物料：掃描條碼或點選「手動查詢」輸入料號。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若料號存在則右側會顯示品名與規格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數量與位置：輸入入庫數量並選擇存放倉庫。</a:t>
            </a:r>
          </a:p>
        </p:txBody>
      </p:sp>
      <p:pic>
        <p:nvPicPr>
          <p:cNvPr id="4" name="圖片 3" descr="The image shows a user interface for a stock management system, specifically for entering an item's code, with fields for product name, manual query, quantity, product code (H), target warehouse (Main Warehouse), and inbound status.&#10;&#10;AI 產生的內容可能不正確。">
            <a:extLst>
              <a:ext uri="{FF2B5EF4-FFF2-40B4-BE49-F238E27FC236}">
                <a16:creationId xmlns:a16="http://schemas.microsoft.com/office/drawing/2014/main" id="{57D43FF7-BE59-09DE-6329-14F1BCD2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400" y="1957523"/>
            <a:ext cx="7501960" cy="4212457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18CCAED2-FC76-443A-940E-27B945065488}"/>
              </a:ext>
            </a:extLst>
          </p:cNvPr>
          <p:cNvGrpSpPr/>
          <p:nvPr/>
        </p:nvGrpSpPr>
        <p:grpSpPr>
          <a:xfrm>
            <a:off x="4026043" y="2445796"/>
            <a:ext cx="2738742" cy="767921"/>
            <a:chOff x="7688062" y="4473437"/>
            <a:chExt cx="2041726" cy="71112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C63CC1-0284-CB6D-84AB-CBB090B6BFFE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FBCFC81B-4125-5B00-AD69-963DF50334C8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54F530B8-F902-3C84-51A8-E343669AF4AD}"/>
              </a:ext>
            </a:extLst>
          </p:cNvPr>
          <p:cNvGrpSpPr/>
          <p:nvPr/>
        </p:nvGrpSpPr>
        <p:grpSpPr>
          <a:xfrm>
            <a:off x="6946427" y="2475538"/>
            <a:ext cx="4266069" cy="1989930"/>
            <a:chOff x="7688062" y="4473437"/>
            <a:chExt cx="2041726" cy="71112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47416EC-75B8-1728-3B0C-D04474887F28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E88D29E-5159-46D1-3CE0-403F8B5DABA5}"/>
                </a:ext>
              </a:extLst>
            </p:cNvPr>
            <p:cNvSpPr txBox="1"/>
            <p:nvPr/>
          </p:nvSpPr>
          <p:spPr>
            <a:xfrm>
              <a:off x="9416882" y="4473437"/>
              <a:ext cx="161050" cy="338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AFE4B19-7D5C-23D6-CB6F-BD7D98CC17AF}"/>
              </a:ext>
            </a:extLst>
          </p:cNvPr>
          <p:cNvGrpSpPr/>
          <p:nvPr/>
        </p:nvGrpSpPr>
        <p:grpSpPr>
          <a:xfrm>
            <a:off x="3965287" y="3260323"/>
            <a:ext cx="2847276" cy="942852"/>
            <a:chOff x="7688062" y="4473437"/>
            <a:chExt cx="2041726" cy="711122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829718A-B5BD-AE3D-5E93-AF8B1025F04C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5067886-8CB5-5ECD-DCFD-FC2D746DE721}"/>
                </a:ext>
              </a:extLst>
            </p:cNvPr>
            <p:cNvSpPr txBox="1"/>
            <p:nvPr/>
          </p:nvSpPr>
          <p:spPr>
            <a:xfrm>
              <a:off x="9416882" y="4473437"/>
              <a:ext cx="224379" cy="2785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3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13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A7A4-2857-4910-60DC-71FFCF25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76339C5-D99E-08DF-3810-CA3EB37A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物料主檔管理 </a:t>
            </a:r>
            <a:r>
              <a:rPr lang="en-US" altLang="zh-TW" sz="2800" dirty="0"/>
              <a:t>(Material Master) - </a:t>
            </a:r>
            <a:r>
              <a:rPr lang="zh-TW" altLang="en-US" sz="2800" dirty="0"/>
              <a:t>限 </a:t>
            </a:r>
            <a:r>
              <a:rPr lang="en-US" altLang="zh-TW" sz="2800" dirty="0"/>
              <a:t>Level 1 &amp; 2</a:t>
            </a:r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3F01CF3D-1164-4DD6-5DDD-C58157A2489D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新增物料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AFFAF49F-BF33-DAB5-0915-0F735E864608}"/>
              </a:ext>
            </a:extLst>
          </p:cNvPr>
          <p:cNvSpPr txBox="1">
            <a:spLocks/>
          </p:cNvSpPr>
          <p:nvPr/>
        </p:nvSpPr>
        <p:spPr>
          <a:xfrm>
            <a:off x="537039" y="1661951"/>
            <a:ext cx="5703505" cy="226902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料號：唯一的識別碼，儲存後不可更改。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品名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自定義名稱。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規格</a:t>
            </a:r>
            <a:r>
              <a:rPr lang="en-US" altLang="zh-TW" sz="1800" dirty="0">
                <a:solidFill>
                  <a:srgbClr val="002060"/>
                </a:solidFill>
              </a:rPr>
              <a:t>/</a:t>
            </a:r>
            <a:r>
              <a:rPr lang="zh-TW" altLang="en-US" sz="1800" dirty="0">
                <a:solidFill>
                  <a:srgbClr val="002060"/>
                </a:solidFill>
              </a:rPr>
              <a:t>型號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自定義敘述。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安全庫存：設定此零件的最低安全總量。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採購交期：設定補貨所需天數。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主要供應商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供應商名稱。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製造商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製造商名稱。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期初在庫數量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目前庫存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附件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僅支援</a:t>
            </a:r>
            <a:r>
              <a:rPr lang="en-US" altLang="zh-TW" sz="1800" dirty="0">
                <a:solidFill>
                  <a:srgbClr val="002060"/>
                </a:solidFill>
              </a:rPr>
              <a:t>PDF</a:t>
            </a:r>
            <a:r>
              <a:rPr lang="zh-TW" altLang="en-US" sz="1800" dirty="0">
                <a:solidFill>
                  <a:srgbClr val="002060"/>
                </a:solidFill>
              </a:rPr>
              <a:t>檔，一個料號最多兩個附件</a:t>
            </a: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88BDEFE0-8625-702B-A709-E4CC6D5C1BDF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建立零件的基礎資訊。</a:t>
            </a:r>
          </a:p>
        </p:txBody>
      </p:sp>
      <p:pic>
        <p:nvPicPr>
          <p:cNvPr id="5" name="圖片 4" descr="The image shows a document with fields for material details, inventory, supplier, manufacturer, initial stock, storage warehouse, and an attachment area for up to two PDFs.&#10;&#10;AI 產生的內容可能不正確。">
            <a:extLst>
              <a:ext uri="{FF2B5EF4-FFF2-40B4-BE49-F238E27FC236}">
                <a16:creationId xmlns:a16="http://schemas.microsoft.com/office/drawing/2014/main" id="{613F2EB8-A068-AC25-F67E-698C40DB6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510" y="757233"/>
            <a:ext cx="4380451" cy="58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A490-AFC0-0EA3-F444-4F34D190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70860C4-560A-7D3C-B577-198DA450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物料主檔管理 </a:t>
            </a:r>
            <a:r>
              <a:rPr lang="en-US" altLang="zh-TW" sz="2800" dirty="0"/>
              <a:t>(Material Master) - </a:t>
            </a:r>
            <a:r>
              <a:rPr lang="zh-TW" altLang="en-US" sz="2800" dirty="0"/>
              <a:t>限 </a:t>
            </a:r>
            <a:r>
              <a:rPr lang="en-US" altLang="zh-TW" sz="2800" dirty="0"/>
              <a:t>Level 1 &amp; 2</a:t>
            </a:r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9FF7B84F-902C-20F5-F348-2781EDB663A7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批次新增物料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BEA47B21-B138-F05A-89BF-DB492F5ACE61}"/>
              </a:ext>
            </a:extLst>
          </p:cNvPr>
          <p:cNvSpPr txBox="1">
            <a:spLocks/>
          </p:cNvSpPr>
          <p:nvPr/>
        </p:nvSpPr>
        <p:spPr>
          <a:xfrm>
            <a:off x="537040" y="1661951"/>
            <a:ext cx="5192232" cy="226902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產生匯入格式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下載一個批次匯入的</a:t>
            </a:r>
            <a:r>
              <a:rPr lang="en-US" altLang="zh-TW" sz="1800" dirty="0">
                <a:solidFill>
                  <a:srgbClr val="002060"/>
                </a:solidFill>
              </a:rPr>
              <a:t>Excel</a:t>
            </a:r>
            <a:r>
              <a:rPr lang="zh-TW" altLang="en-US" sz="1800" dirty="0">
                <a:solidFill>
                  <a:srgbClr val="002060"/>
                </a:solidFill>
              </a:rPr>
              <a:t>表格。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匯入物料檔案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匯入</a:t>
            </a:r>
            <a:r>
              <a:rPr lang="en-US" altLang="zh-TW" sz="1800" dirty="0">
                <a:solidFill>
                  <a:srgbClr val="002060"/>
                </a:solidFill>
              </a:rPr>
              <a:t>Excel</a:t>
            </a:r>
            <a:r>
              <a:rPr lang="zh-TW" altLang="en-US" sz="1800" dirty="0">
                <a:solidFill>
                  <a:srgbClr val="002060"/>
                </a:solidFill>
              </a:rPr>
              <a:t>表格，若料號已存在或缺少資料會跳過該筆資料。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8767E269-9CFF-5A14-052F-328B4EEFC91C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批次建立零件的基礎資訊。</a:t>
            </a:r>
          </a:p>
        </p:txBody>
      </p:sp>
      <p:pic>
        <p:nvPicPr>
          <p:cNvPr id="6" name="圖片 5" descr="The image shows a computer interface displaying a list of successfully imported materials, each entry showing a timestamp and a unique identifier.&#10;&#10;AI 產生的內容可能不正確。">
            <a:extLst>
              <a:ext uri="{FF2B5EF4-FFF2-40B4-BE49-F238E27FC236}">
                <a16:creationId xmlns:a16="http://schemas.microsoft.com/office/drawing/2014/main" id="{E42C0942-9C94-1F8B-F48D-BF32640A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271" y="2102177"/>
            <a:ext cx="6363034" cy="3824194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1212DD35-BEC5-17C6-9ED9-A43E26D98FC6}"/>
              </a:ext>
            </a:extLst>
          </p:cNvPr>
          <p:cNvGrpSpPr/>
          <p:nvPr/>
        </p:nvGrpSpPr>
        <p:grpSpPr>
          <a:xfrm>
            <a:off x="5886827" y="2352562"/>
            <a:ext cx="1620613" cy="664015"/>
            <a:chOff x="7688062" y="4473437"/>
            <a:chExt cx="2041726" cy="71112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20A1F7-923D-29C5-14A3-E831F05F4582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CEBD8D0-98C0-8011-C44F-2E3DB56614C4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7EE98CB-6FE5-0138-BAF7-D2DD37F16ADE}"/>
              </a:ext>
            </a:extLst>
          </p:cNvPr>
          <p:cNvGrpSpPr/>
          <p:nvPr/>
        </p:nvGrpSpPr>
        <p:grpSpPr>
          <a:xfrm>
            <a:off x="7519644" y="2352562"/>
            <a:ext cx="1685151" cy="664015"/>
            <a:chOff x="7688062" y="4473437"/>
            <a:chExt cx="2123034" cy="71112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0CB904D-92EE-6E74-2063-80B4A0BA5703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EC89D72-D5F4-2366-E2C3-77F01BB3F798}"/>
                </a:ext>
              </a:extLst>
            </p:cNvPr>
            <p:cNvSpPr txBox="1"/>
            <p:nvPr/>
          </p:nvSpPr>
          <p:spPr>
            <a:xfrm>
              <a:off x="9416882" y="4473437"/>
              <a:ext cx="394214" cy="395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0327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CBA7-0506-C670-1535-B08FD3DB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8074E02-8E7D-C833-0BFF-C2993072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物料主檔管理 </a:t>
            </a:r>
            <a:r>
              <a:rPr lang="en-US" altLang="zh-TW" sz="2800" dirty="0"/>
              <a:t>(Material Master) - </a:t>
            </a:r>
            <a:r>
              <a:rPr lang="zh-TW" altLang="en-US" sz="2800" dirty="0"/>
              <a:t>限 </a:t>
            </a:r>
            <a:r>
              <a:rPr lang="en-US" altLang="zh-TW" sz="2800" dirty="0"/>
              <a:t>Level 1 &amp; 2</a:t>
            </a:r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DD32D693-B9CD-C627-7DB5-BC71BD85CCD9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編輯</a:t>
            </a:r>
            <a:r>
              <a:rPr lang="en-US" altLang="zh-TW" sz="1800" dirty="0">
                <a:solidFill>
                  <a:srgbClr val="0000FF"/>
                </a:solidFill>
              </a:rPr>
              <a:t>/</a:t>
            </a:r>
            <a:r>
              <a:rPr lang="zh-TW" altLang="en-US" sz="1800" dirty="0">
                <a:solidFill>
                  <a:srgbClr val="0000FF"/>
                </a:solidFill>
              </a:rPr>
              <a:t>刪除物料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7198B6-A9EA-3949-A249-B7B54A2D2385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料號：不可更改。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品名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自定義名稱。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規格</a:t>
            </a:r>
            <a:r>
              <a:rPr lang="en-US" altLang="zh-TW" sz="1800" dirty="0">
                <a:solidFill>
                  <a:srgbClr val="002060"/>
                </a:solidFill>
              </a:rPr>
              <a:t>/</a:t>
            </a:r>
            <a:r>
              <a:rPr lang="zh-TW" altLang="en-US" sz="1800" dirty="0">
                <a:solidFill>
                  <a:srgbClr val="002060"/>
                </a:solidFill>
              </a:rPr>
              <a:t>型號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自定義敘述。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安全庫存：設定此零件的最低安全總量。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採購交期：設定補貨所需天數。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主要供應商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供應商名稱。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製造商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製造商名稱。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期初在庫數量 </a:t>
            </a:r>
            <a:r>
              <a:rPr lang="en-US" altLang="zh-TW" sz="1800" dirty="0">
                <a:solidFill>
                  <a:srgbClr val="002060"/>
                </a:solidFill>
              </a:rPr>
              <a:t>: </a:t>
            </a:r>
            <a:r>
              <a:rPr lang="zh-TW" altLang="en-US" sz="1800" dirty="0">
                <a:solidFill>
                  <a:srgbClr val="002060"/>
                </a:solidFill>
              </a:rPr>
              <a:t>目前庫存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附件 </a:t>
            </a:r>
            <a:r>
              <a:rPr lang="en-US" altLang="zh-TW" sz="1800" dirty="0">
                <a:solidFill>
                  <a:srgbClr val="002060"/>
                </a:solidFill>
              </a:rPr>
              <a:t>:</a:t>
            </a:r>
            <a:r>
              <a:rPr lang="zh-TW" altLang="en-US" sz="1800" dirty="0">
                <a:solidFill>
                  <a:srgbClr val="002060"/>
                </a:solidFill>
              </a:rPr>
              <a:t> 僅支援</a:t>
            </a:r>
            <a:r>
              <a:rPr lang="en-US" altLang="zh-TW" sz="1800" dirty="0">
                <a:solidFill>
                  <a:srgbClr val="002060"/>
                </a:solidFill>
              </a:rPr>
              <a:t>PDF</a:t>
            </a:r>
            <a:r>
              <a:rPr lang="zh-TW" altLang="en-US" sz="1800" dirty="0">
                <a:solidFill>
                  <a:srgbClr val="002060"/>
                </a:solidFill>
              </a:rPr>
              <a:t>檔，一個料號最多兩個附件</a:t>
            </a: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1E1055AF-5024-F161-5AF8-BD0BD30461A0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編輯或刪除零件的基礎資訊，在庫存查詢中對要編輯或刪除的物料點右鍵即可出現選單。</a:t>
            </a:r>
          </a:p>
        </p:txBody>
      </p:sp>
      <p:pic>
        <p:nvPicPr>
          <p:cNvPr id="5" name="圖片 4" descr="TES&#10;&#10;AI 產生的內容可能不正確。">
            <a:extLst>
              <a:ext uri="{FF2B5EF4-FFF2-40B4-BE49-F238E27FC236}">
                <a16:creationId xmlns:a16="http://schemas.microsoft.com/office/drawing/2014/main" id="{2815E343-2EDF-B1A2-25BB-25D5C0BE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633" y="4148812"/>
            <a:ext cx="2507084" cy="2379497"/>
          </a:xfrm>
          <a:prstGeom prst="rect">
            <a:avLst/>
          </a:prstGeom>
        </p:spPr>
      </p:pic>
      <p:pic>
        <p:nvPicPr>
          <p:cNvPr id="8" name="圖片 7" descr="The image shows a software interface with fields for product details, including barcode, product number, product code, inventory, purchase cycle, supplier, manufacturer, initial inventory, and a section for attaching up to two PDF documents.&#10;&#10;AI 產生的內容可能不正確。">
            <a:extLst>
              <a:ext uri="{FF2B5EF4-FFF2-40B4-BE49-F238E27FC236}">
                <a16:creationId xmlns:a16="http://schemas.microsoft.com/office/drawing/2014/main" id="{401EEA9F-A006-0C37-EB86-444A75DD9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38" y="1008135"/>
            <a:ext cx="4280500" cy="5745638"/>
          </a:xfrm>
          <a:prstGeom prst="rect">
            <a:avLst/>
          </a:prstGeom>
        </p:spPr>
      </p:pic>
      <p:sp>
        <p:nvSpPr>
          <p:cNvPr id="9" name="標題 2">
            <a:extLst>
              <a:ext uri="{FF2B5EF4-FFF2-40B4-BE49-F238E27FC236}">
                <a16:creationId xmlns:a16="http://schemas.microsoft.com/office/drawing/2014/main" id="{5B29FD1B-F5FB-0EC9-D33C-F7F83BA4F595}"/>
              </a:ext>
            </a:extLst>
          </p:cNvPr>
          <p:cNvSpPr txBox="1">
            <a:spLocks/>
          </p:cNvSpPr>
          <p:nvPr/>
        </p:nvSpPr>
        <p:spPr>
          <a:xfrm>
            <a:off x="217952" y="4148812"/>
            <a:ext cx="5511319" cy="122446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00FF"/>
                </a:solidFill>
              </a:rPr>
              <a:t>領料</a:t>
            </a:r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F180A0E3-15B1-4F5E-274B-6D1D616FA348}"/>
              </a:ext>
            </a:extLst>
          </p:cNvPr>
          <p:cNvSpPr txBox="1">
            <a:spLocks/>
          </p:cNvSpPr>
          <p:nvPr/>
        </p:nvSpPr>
        <p:spPr>
          <a:xfrm>
            <a:off x="537039" y="4610471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點擊領料會自動將料號帶入領料視窗。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C49E-ACCC-CC16-7516-4D97DD30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The image displays a table with columns for stock check, key words, product name, model number, supplier, manufacturer, warehouse, and stock levels, with two product entries TEST1 and TEST2.&#10;&#10;AI 產生的內容可能不正確。">
            <a:extLst>
              <a:ext uri="{FF2B5EF4-FFF2-40B4-BE49-F238E27FC236}">
                <a16:creationId xmlns:a16="http://schemas.microsoft.com/office/drawing/2014/main" id="{2D127AB8-9627-C403-B136-CC266976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84" y="3429000"/>
            <a:ext cx="11654961" cy="233967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7F30EA8-14CA-0337-626E-936AC979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庫存查詢看板 </a:t>
            </a:r>
            <a:r>
              <a:rPr lang="en-US" altLang="zh-TW" sz="2800" dirty="0"/>
              <a:t>(Inventory Monitoring)</a:t>
            </a:r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B596482B-6D93-EDE6-9CE4-8F0026113B93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庫存查詢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4FEE48A-F7EC-3CCD-4683-59A177514EE8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輸入關鍵字按查詢可搜尋物料名稱、規格</a:t>
            </a:r>
            <a:r>
              <a:rPr lang="en-US" altLang="zh-TW" sz="1800" dirty="0">
                <a:solidFill>
                  <a:srgbClr val="002060"/>
                </a:solidFill>
              </a:rPr>
              <a:t>/</a:t>
            </a:r>
            <a:r>
              <a:rPr lang="zh-TW" altLang="en-US" sz="1800" dirty="0">
                <a:solidFill>
                  <a:srgbClr val="002060"/>
                </a:solidFill>
              </a:rPr>
              <a:t>型號、料號。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AutoNum type="arabicPeriod"/>
            </a:pPr>
            <a:r>
              <a:rPr lang="zh-TW" altLang="en-US" sz="1800" dirty="0">
                <a:solidFill>
                  <a:srgbClr val="002060"/>
                </a:solidFill>
              </a:rPr>
              <a:t>按顯示全部可以顯示所有庫存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4289CD50-EC92-01C2-856A-A0B1D73CC3CA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用來查詢庫存清單。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E215241-EEC4-8622-786C-235339509618}"/>
              </a:ext>
            </a:extLst>
          </p:cNvPr>
          <p:cNvGrpSpPr/>
          <p:nvPr/>
        </p:nvGrpSpPr>
        <p:grpSpPr>
          <a:xfrm>
            <a:off x="357559" y="3806684"/>
            <a:ext cx="4289855" cy="605107"/>
            <a:chOff x="7688062" y="4473437"/>
            <a:chExt cx="2041726" cy="71112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7569B9B-F6B6-65C1-8F27-66905B080C28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682DB426-07CB-8C72-8DED-A2A98203AF8C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2F369C7-05F9-7B5B-C9B5-94215FE304DB}"/>
              </a:ext>
            </a:extLst>
          </p:cNvPr>
          <p:cNvGrpSpPr/>
          <p:nvPr/>
        </p:nvGrpSpPr>
        <p:grpSpPr>
          <a:xfrm>
            <a:off x="4676681" y="3806684"/>
            <a:ext cx="1400465" cy="565009"/>
            <a:chOff x="7688062" y="4473437"/>
            <a:chExt cx="2108579" cy="71112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DCEEAA0-3D59-C6F2-544B-468C29669FDD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1951813-B9EF-D7FD-B2C3-510394065010}"/>
                </a:ext>
              </a:extLst>
            </p:cNvPr>
            <p:cNvSpPr txBox="1"/>
            <p:nvPr/>
          </p:nvSpPr>
          <p:spPr>
            <a:xfrm>
              <a:off x="9416882" y="4473437"/>
              <a:ext cx="379759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832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1442-6BD6-C6F0-1F69-EC6F1462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EA1FF4-D808-25AD-DB91-0D15317D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低安全庫存監控 </a:t>
            </a:r>
            <a:r>
              <a:rPr lang="en-US" altLang="zh-TW" sz="2800" dirty="0"/>
              <a:t>(Low Safety Stock Monitoring)</a:t>
            </a:r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9CA39BF-1A32-AAD9-66FB-E7B28B423FD4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</a:t>
            </a:r>
            <a:r>
              <a:rPr lang="zh-TW" altLang="en-US" sz="1800" dirty="0">
                <a:solidFill>
                  <a:srgbClr val="0000FF"/>
                </a:solidFill>
              </a:rPr>
              <a:t>低安全庫存警報</a:t>
            </a: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883D75F4-F8CB-CCBB-9215-C21AF251BD35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領料後若剩餘庫存低於安全庫存則會發出警報。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414A5CC3-D0FF-379E-B150-99D2AAA1AA1B}"/>
              </a:ext>
            </a:extLst>
          </p:cNvPr>
          <p:cNvSpPr txBox="1">
            <a:spLocks/>
          </p:cNvSpPr>
          <p:nvPr/>
        </p:nvSpPr>
        <p:spPr>
          <a:xfrm>
            <a:off x="217952" y="279975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00FF"/>
                </a:solidFill>
              </a:rPr>
              <a:t>全廠低安全庫存看板</a:t>
            </a: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BE249722-073E-AC22-8A27-BD6475EB42BE}"/>
              </a:ext>
            </a:extLst>
          </p:cNvPr>
          <p:cNvSpPr txBox="1">
            <a:spLocks/>
          </p:cNvSpPr>
          <p:nvPr/>
        </p:nvSpPr>
        <p:spPr>
          <a:xfrm>
            <a:off x="537039" y="326141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打開可看到所有目前庫存低於安全庫存的物料。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5F584EF-6D8A-328D-8364-D6A254D4972F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TW" altLang="en-US" sz="1800" dirty="0">
                <a:solidFill>
                  <a:srgbClr val="002060"/>
                </a:solidFill>
              </a:rPr>
              <a:t>用以監控低於安全庫存的物料。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9" name="圖片 8" descr="The image shows a factory's low safety stock status table, listing item numbers, descriptions, specifications, and current and safe stock levels.&#10;&#10;AI 產生的內容可能不正確。">
            <a:extLst>
              <a:ext uri="{FF2B5EF4-FFF2-40B4-BE49-F238E27FC236}">
                <a16:creationId xmlns:a16="http://schemas.microsoft.com/office/drawing/2014/main" id="{EA2A33F6-98E9-8069-3FE3-ACF655920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2" y="3958849"/>
            <a:ext cx="11391900" cy="2352675"/>
          </a:xfrm>
          <a:prstGeom prst="rect">
            <a:avLst/>
          </a:prstGeom>
        </p:spPr>
      </p:pic>
      <p:pic>
        <p:nvPicPr>
          <p:cNvPr id="11" name="圖片 10" descr="The image shows a red background with Chinese text indicating a factory's total stock has only 3 units left and reaching safe water levels, followed by an acknowledgment message.&#10;&#10;AI 產生的內容可能不正確。">
            <a:extLst>
              <a:ext uri="{FF2B5EF4-FFF2-40B4-BE49-F238E27FC236}">
                <a16:creationId xmlns:a16="http://schemas.microsoft.com/office/drawing/2014/main" id="{678C1D68-5705-E580-7E50-C78B3FDF7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519" y="1008135"/>
            <a:ext cx="3785494" cy="25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06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1D1C4D8-6F7D-765A-E97E-3A41CFF0E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3200" dirty="0">
                <a:solidFill>
                  <a:srgbClr val="0087DC"/>
                </a:solidFill>
              </a:rPr>
              <a:t>www.cyntec.com</a:t>
            </a:r>
            <a:r>
              <a:rPr lang="en-US" altLang="zh-TW" sz="3200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0666819"/>
      </p:ext>
    </p:extLst>
  </p:cSld>
  <p:clrMapOvr>
    <a:masterClrMapping/>
  </p:clrMapOvr>
</p:sld>
</file>

<file path=ppt/theme/theme1.xml><?xml version="1.0" encoding="utf-8"?>
<a:theme xmlns:a="http://schemas.openxmlformats.org/drawingml/2006/main" name="1_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2342</TotalTime>
  <Words>1151</Words>
  <Application>Microsoft Office PowerPoint</Application>
  <PresentationFormat>寬螢幕</PresentationFormat>
  <Paragraphs>135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Calibri</vt:lpstr>
      <vt:lpstr>Wingdings</vt:lpstr>
      <vt:lpstr>1_Delta_PPTtemplate_16x9</vt:lpstr>
      <vt:lpstr>備品管理系統</vt:lpstr>
      <vt:lpstr>系統架構與自動啟動 (System Start-up)</vt:lpstr>
      <vt:lpstr>系統設定(System Setting)</vt:lpstr>
      <vt:lpstr>系統設定(System Setting)</vt:lpstr>
      <vt:lpstr>使用者權限等級 (User Access Levels)</vt:lpstr>
      <vt:lpstr>領料作業(Outbound)</vt:lpstr>
      <vt:lpstr>入料作業(Inbound)</vt:lpstr>
      <vt:lpstr>物料主檔管理 (Material Master) - 限 Level 1 &amp; 2</vt:lpstr>
      <vt:lpstr>物料主檔管理 (Material Master) - 限 Level 1 &amp; 2</vt:lpstr>
      <vt:lpstr>物料主檔管理 (Material Master) - 限 Level 1 &amp; 2</vt:lpstr>
      <vt:lpstr>庫存查詢看板 (Inventory Monitoring)</vt:lpstr>
      <vt:lpstr>低安全庫存監控 (Low Safety Stock Monitoring)</vt:lpstr>
      <vt:lpstr>Making Things Smaller and Smarter www.cyntec.com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熱壓機熱煤油外洩</dc:title>
  <dc:creator>HANK.HH.HSIEH 謝坤翰</dc:creator>
  <cp:lastModifiedBy>一軒 邱</cp:lastModifiedBy>
  <cp:revision>228</cp:revision>
  <dcterms:created xsi:type="dcterms:W3CDTF">2024-06-19T08:01:53Z</dcterms:created>
  <dcterms:modified xsi:type="dcterms:W3CDTF">2026-03-17T07:49:02Z</dcterms:modified>
</cp:coreProperties>
</file>