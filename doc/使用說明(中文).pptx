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0"/>
  </p:notesMasterIdLst>
  <p:sldIdLst>
    <p:sldId id="320" r:id="rId2"/>
    <p:sldId id="2147375043" r:id="rId3"/>
    <p:sldId id="2147375057" r:id="rId4"/>
    <p:sldId id="2147375058" r:id="rId5"/>
    <p:sldId id="2147375061" r:id="rId6"/>
    <p:sldId id="2147375059" r:id="rId7"/>
    <p:sldId id="2147375060" r:id="rId8"/>
    <p:sldId id="2147375062" r:id="rId9"/>
    <p:sldId id="2147375045" r:id="rId10"/>
    <p:sldId id="2147375047" r:id="rId11"/>
    <p:sldId id="2147375046" r:id="rId12"/>
    <p:sldId id="2147375056" r:id="rId13"/>
    <p:sldId id="2147375054" r:id="rId14"/>
    <p:sldId id="2147375048" r:id="rId15"/>
    <p:sldId id="2147375063" r:id="rId16"/>
    <p:sldId id="2147375064" r:id="rId17"/>
    <p:sldId id="2147375055" r:id="rId18"/>
    <p:sldId id="3019" r:id="rId1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SON.CM.CHEN 陳嘉民" initials="M陳" lastIdx="0" clrIdx="0">
    <p:extLst>
      <p:ext uri="{19B8F6BF-5375-455C-9EA6-DF929625EA0E}">
        <p15:presenceInfo xmlns:p15="http://schemas.microsoft.com/office/powerpoint/2012/main" userId="S-1-5-21-706670597-753717926-1206375605-40631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00FF00"/>
    <a:srgbClr val="8E594E"/>
    <a:srgbClr val="FCB88E"/>
    <a:srgbClr val="FFC301"/>
    <a:srgbClr val="F9FF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28" autoAdjust="0"/>
    <p:restoredTop sz="94660"/>
  </p:normalViewPr>
  <p:slideViewPr>
    <p:cSldViewPr snapToGrid="0">
      <p:cViewPr varScale="1">
        <p:scale>
          <a:sx n="72" d="100"/>
          <a:sy n="72" d="100"/>
        </p:scale>
        <p:origin x="448"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97D84D-3581-4C3F-BAAF-6FA71816E76E}" type="datetimeFigureOut">
              <a:rPr lang="zh-TW" altLang="en-US" smtClean="0"/>
              <a:t>2026/4/16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E84CAE-DE11-4542-A7AE-B5ECD1E6AC31}" type="slidenum">
              <a:rPr lang="zh-TW" altLang="en-US" smtClean="0"/>
              <a:t>‹#›</a:t>
            </a:fld>
            <a:endParaRPr lang="zh-TW" altLang="en-US"/>
          </a:p>
        </p:txBody>
      </p:sp>
    </p:spTree>
    <p:extLst>
      <p:ext uri="{BB962C8B-B14F-4D97-AF65-F5344CB8AC3E}">
        <p14:creationId xmlns:p14="http://schemas.microsoft.com/office/powerpoint/2010/main" val="1551945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30</a:t>
            </a:r>
            <a:r>
              <a:rPr lang="zh-TW" altLang="en-US" dirty="0"/>
              <a:t>項</a:t>
            </a:r>
          </a:p>
        </p:txBody>
      </p:sp>
      <p:sp>
        <p:nvSpPr>
          <p:cNvPr id="4" name="投影片編號版面配置區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9946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18218-28F1-27B7-DAD0-03EF08EFD3E9}"/>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0CBEACC-FA69-563F-C6D0-60BFE927B4C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A605115-A566-ED99-2EDE-AF2D3C651498}"/>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DD161119-6187-CAE1-2261-D54E160E9C6C}"/>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5328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F4BF4-010C-68D3-9ECF-1A9D8B3B850E}"/>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02525D6-D95F-B138-3001-69784120169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CDAD268-9BD0-29F2-EB4D-A213D9303F27}"/>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6B817C10-A040-AE67-5F3D-4B18DD095926}"/>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6374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DD8A-A157-2F29-AD37-FC2C671B5E5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1B284B5-EE8F-9562-B9DF-D7E919E931F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5F12D33-87EE-109F-AD67-06F36289D30C}"/>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4978C527-4365-865D-BBFE-F6C266FC1E7D}"/>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2791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55CA7-3455-9AE1-6AE7-41FE5270CD2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810AFCB-4455-8F22-2F71-75BAE44A50B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80FBE48-D675-29B0-2DD2-0EE1067DA4B4}"/>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CB03317E-1132-73E3-6206-5B1898A2CFF0}"/>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7205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55CA7-3455-9AE1-6AE7-41FE5270CD2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810AFCB-4455-8F22-2F71-75BAE44A50B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80FBE48-D675-29B0-2DD2-0EE1067DA4B4}"/>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CB03317E-1132-73E3-6206-5B1898A2CFF0}"/>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3891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55CA7-3455-9AE1-6AE7-41FE5270CD2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810AFCB-4455-8F22-2F71-75BAE44A50B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80FBE48-D675-29B0-2DD2-0EE1067DA4B4}"/>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CB03317E-1132-73E3-6206-5B1898A2CFF0}"/>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915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55CA7-3455-9AE1-6AE7-41FE5270CD2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810AFCB-4455-8F22-2F71-75BAE44A50B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80FBE48-D675-29B0-2DD2-0EE1067DA4B4}"/>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CB03317E-1132-73E3-6206-5B1898A2CFF0}"/>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3496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D6C2D-62D9-D607-C823-CBD031589399}"/>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07F06C8A-975D-4542-5DE6-6A5537294D5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569B2ED-B1A6-2928-A6DD-AD95937D0CDD}"/>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3F3F1A97-D13B-C9B0-4FCB-4C09525DF345}"/>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50867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57E18-B3FA-981A-81E4-99885B19ABF4}"/>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F4458DAF-E07E-2D96-96FA-D42617BE205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A6AA76F-988F-7291-6183-CA9D39DC33D1}"/>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2CA3FEF7-5272-4090-3E34-A6191B5A6471}"/>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3160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306BC-2CE5-80CA-3E11-A65B34D5C336}"/>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E92581C-2ADB-20AD-CAC6-F6B14C80167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73DB2EA-7503-A1CD-B4DF-3772867DC22B}"/>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3450EF08-B09F-292E-FFAB-BDEB4A27979A}"/>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7298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FEC42-A439-9A2D-2D9C-4F7D5CE1AE22}"/>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6219A6F2-8275-5CD7-1007-81B9BBBC907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3573EE5-9226-F213-6C2A-F65E6B86DB69}"/>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73A10352-19C5-FA30-8E24-26AF38D6313A}"/>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8230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1B0E2-9DAD-B6EE-90DC-405AE9E420E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B198BAC-021C-C0B8-F7CE-57CC31AD206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D6B908B-EB18-6544-A5D3-A637663E432D}"/>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A22293A4-C3DA-4124-0C26-385BD6ED7EC0}"/>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46575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212D5-A4B1-F55D-CA3D-130B9ED01CC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62496E2B-0AE6-F94F-A7C2-9A3AA88D636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02A7B89-3E76-3A7F-F6DE-2DB60DD44C63}"/>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CAEFE989-D40C-F9B9-5931-D61D5F2E0D90}"/>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79096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50FD-E7EA-C8B7-9775-21614C19E039}"/>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14A35FEC-3128-49A6-497B-9D878000C1F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D61BAF4-9C42-272A-49B9-84997B9A6CF5}"/>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DFC3CEB1-E386-C2A0-C49E-F8BA4ACB37C0}"/>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09289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BE4CF-676B-A695-B6E5-994869753393}"/>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A148959-A56A-B121-9AAC-8FE302D1F87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3944723-52DC-7FD4-7D5D-68A52C4E51E6}"/>
              </a:ext>
            </a:extLst>
          </p:cNvPr>
          <p:cNvSpPr>
            <a:spLocks noGrp="1"/>
          </p:cNvSpPr>
          <p:nvPr>
            <p:ph type="body" idx="1"/>
          </p:nvPr>
        </p:nvSpPr>
        <p:spPr/>
        <p:txBody>
          <a:bodyPr/>
          <a:lstStyle/>
          <a:p>
            <a:r>
              <a:rPr lang="en-US" altLang="zh-TW" dirty="0"/>
              <a:t>30</a:t>
            </a:r>
            <a:r>
              <a:rPr lang="zh-TW" altLang="en-US" dirty="0"/>
              <a:t>項</a:t>
            </a:r>
          </a:p>
        </p:txBody>
      </p:sp>
      <p:sp>
        <p:nvSpPr>
          <p:cNvPr id="4" name="投影片編號版面配置區 3">
            <a:extLst>
              <a:ext uri="{FF2B5EF4-FFF2-40B4-BE49-F238E27FC236}">
                <a16:creationId xmlns:a16="http://schemas.microsoft.com/office/drawing/2014/main" id="{EA68918A-705E-C659-ED2E-9591C6709212}"/>
              </a:ext>
            </a:extLst>
          </p:cNvPr>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82006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_Whit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1118617"/>
            <a:ext cx="9144000" cy="1864899"/>
          </a:xfrm>
        </p:spPr>
        <p:txBody>
          <a:bodyPr anchor="t">
            <a:normAutofit/>
          </a:bodyPr>
          <a:lstStyle>
            <a:lvl1pPr algn="l">
              <a:lnSpc>
                <a:spcPct val="110000"/>
              </a:lnSpc>
              <a:defRPr sz="3450" b="0">
                <a:solidFill>
                  <a:schemeClr val="tx1"/>
                </a:solidFill>
                <a:latin typeface="+mj-lt"/>
                <a:ea typeface="+mj-ea"/>
              </a:defRPr>
            </a:lvl1pPr>
          </a:lstStyle>
          <a:p>
            <a:r>
              <a:rPr lang="en-US" altLang="zh-TW" dirty="0"/>
              <a:t>Presentation Title Goes Here</a:t>
            </a:r>
            <a:br>
              <a:rPr lang="en-US" altLang="zh-TW" dirty="0"/>
            </a:br>
            <a:r>
              <a:rPr lang="en-US" altLang="zh-TW" dirty="0"/>
              <a:t>Maximum 2 Lines (32-46pt)</a:t>
            </a:r>
            <a:endParaRPr lang="en-US" dirty="0"/>
          </a:p>
        </p:txBody>
      </p:sp>
      <p:sp>
        <p:nvSpPr>
          <p:cNvPr id="3" name="副標題 2">
            <a:extLst>
              <a:ext uri="{FF2B5EF4-FFF2-40B4-BE49-F238E27FC236}">
                <a16:creationId xmlns:a16="http://schemas.microsoft.com/office/drawing/2014/main" id="{6C9BD8EC-F37F-4F94-8712-797CC1161E95}"/>
              </a:ext>
            </a:extLst>
          </p:cNvPr>
          <p:cNvSpPr>
            <a:spLocks noGrp="1"/>
          </p:cNvSpPr>
          <p:nvPr>
            <p:ph type="subTitle" idx="1" hasCustomPrompt="1"/>
          </p:nvPr>
        </p:nvSpPr>
        <p:spPr>
          <a:xfrm>
            <a:off x="896647" y="3015629"/>
            <a:ext cx="9144000" cy="1370104"/>
          </a:xfrm>
        </p:spPr>
        <p:txBody>
          <a:bodyPr>
            <a:normAutofit/>
          </a:bodyPr>
          <a:lstStyle>
            <a:lvl1pPr marL="0" indent="0" algn="l">
              <a:lnSpc>
                <a:spcPct val="110000"/>
              </a:lnSpc>
              <a:spcBef>
                <a:spcPts val="0"/>
              </a:spcBef>
              <a:buNone/>
              <a:defRPr sz="2250">
                <a:solidFill>
                  <a:schemeClr val="tx2"/>
                </a:solidFill>
                <a:latin typeface="+mj-lt"/>
                <a:ea typeface="+mj-ea"/>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altLang="zh-TW" sz="2250" dirty="0"/>
              <a:t>Presentation Subtitle Goes Here</a:t>
            </a:r>
            <a:br>
              <a:rPr lang="en-US" altLang="zh-TW" sz="2250" dirty="0"/>
            </a:br>
            <a:r>
              <a:rPr lang="en-US" altLang="zh-TW" sz="2250" dirty="0"/>
              <a:t>Maximum 2 Lines (24-32pt)</a:t>
            </a:r>
          </a:p>
        </p:txBody>
      </p:sp>
      <p:sp>
        <p:nvSpPr>
          <p:cNvPr id="11" name="頁尾版面配置區 4">
            <a:extLst>
              <a:ext uri="{FF2B5EF4-FFF2-40B4-BE49-F238E27FC236}">
                <a16:creationId xmlns:a16="http://schemas.microsoft.com/office/drawing/2014/main" id="{38A83012-CC3B-47DF-9FCA-A1115F39D319}"/>
              </a:ext>
            </a:extLst>
          </p:cNvPr>
          <p:cNvSpPr>
            <a:spLocks noGrp="1"/>
          </p:cNvSpPr>
          <p:nvPr>
            <p:ph type="ftr" sz="quarter" idx="3"/>
          </p:nvPr>
        </p:nvSpPr>
        <p:spPr>
          <a:xfrm>
            <a:off x="818613" y="5739683"/>
            <a:ext cx="5707316" cy="218356"/>
          </a:xfrm>
        </p:spPr>
        <p:txBody>
          <a:bodyPr/>
          <a:lstStyle>
            <a:lvl1pPr>
              <a:defRPr>
                <a:latin typeface="Arial" panose="020B0604020202020204" pitchFamily="34" charset="0"/>
                <a:cs typeface="Arial" panose="020B0604020202020204" pitchFamily="34" charset="0"/>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TW" sz="1350" b="0" i="0" u="none" strike="noStrike" kern="1200" cap="none" spc="0" normalizeH="0" baseline="0" noProof="0" dirty="0">
                <a:ln>
                  <a:noFill/>
                </a:ln>
                <a:solidFill>
                  <a:prstClr val="black"/>
                </a:solidFill>
                <a:effectLst/>
                <a:uLnTx/>
                <a:uFillTx/>
                <a:latin typeface="Arial" panose="020B0604020202020204" pitchFamily="34" charset="0"/>
                <a:ea typeface="微軟正黑體"/>
                <a:cs typeface="Arial" panose="020B0604020202020204" pitchFamily="34" charset="0"/>
              </a:rPr>
              <a:t>Presenter</a:t>
            </a:r>
            <a:r>
              <a:rPr kumimoji="0" lang="zh-TW" altLang="en-US" sz="1350" b="0" i="0" u="none" strike="noStrike" kern="1200" cap="none" spc="0" normalizeH="0" baseline="0" noProof="0" dirty="0">
                <a:ln>
                  <a:noFill/>
                </a:ln>
                <a:solidFill>
                  <a:prstClr val="black"/>
                </a:solidFill>
                <a:effectLst/>
                <a:uLnTx/>
                <a:uFillTx/>
                <a:latin typeface="Arial" panose="020B0604020202020204" pitchFamily="34" charset="0"/>
                <a:ea typeface="微軟正黑體"/>
                <a:cs typeface="Arial" panose="020B0604020202020204" pitchFamily="34" charset="0"/>
              </a:rPr>
              <a:t> </a:t>
            </a:r>
            <a:r>
              <a:rPr kumimoji="0" lang="en-US" altLang="zh-TW" sz="1350" b="0" i="0" u="none" strike="noStrike" kern="1200" cap="none" spc="0" normalizeH="0" baseline="0" noProof="0" dirty="0">
                <a:ln>
                  <a:noFill/>
                </a:ln>
                <a:solidFill>
                  <a:prstClr val="black"/>
                </a:solidFill>
                <a:effectLst/>
                <a:uLnTx/>
                <a:uFillTx/>
                <a:latin typeface="Arial" panose="020B0604020202020204" pitchFamily="34" charset="0"/>
                <a:ea typeface="微軟正黑體"/>
                <a:cs typeface="Arial" panose="020B0604020202020204" pitchFamily="34" charset="0"/>
              </a:rPr>
              <a:t>Name</a:t>
            </a:r>
            <a:r>
              <a:rPr kumimoji="0" lang="zh-TW" altLang="en-US" sz="1350" b="0" i="0" u="none" strike="noStrike" kern="1200" cap="none" spc="0" normalizeH="0" baseline="0" noProof="0" dirty="0">
                <a:ln>
                  <a:noFill/>
                </a:ln>
                <a:solidFill>
                  <a:prstClr val="black"/>
                </a:solidFill>
                <a:effectLst/>
                <a:uLnTx/>
                <a:uFillTx/>
                <a:latin typeface="Arial" panose="020B0604020202020204" pitchFamily="34" charset="0"/>
                <a:ea typeface="微軟正黑體"/>
                <a:cs typeface="Arial" panose="020B0604020202020204" pitchFamily="34" charset="0"/>
              </a:rPr>
              <a:t>｜</a:t>
            </a:r>
            <a:r>
              <a:rPr kumimoji="0" lang="en-US" altLang="zh-TW" sz="1350" b="0" i="0" u="none" strike="noStrike" kern="1200" cap="none" spc="0" normalizeH="0" baseline="0" noProof="0" dirty="0">
                <a:ln>
                  <a:noFill/>
                </a:ln>
                <a:solidFill>
                  <a:prstClr val="black"/>
                </a:solidFill>
                <a:effectLst/>
                <a:uLnTx/>
                <a:uFillTx/>
                <a:latin typeface="Arial" panose="020B0604020202020204" pitchFamily="34" charset="0"/>
                <a:ea typeface="微軟正黑體"/>
                <a:cs typeface="Arial" panose="020B0604020202020204" pitchFamily="34" charset="0"/>
              </a:rPr>
              <a:t>Department</a:t>
            </a:r>
            <a:r>
              <a:rPr kumimoji="0" lang="zh-TW" altLang="en-US" sz="1350" b="0" i="0" u="none" strike="noStrike" kern="1200" cap="none" spc="0" normalizeH="0" baseline="0" noProof="0" dirty="0">
                <a:ln>
                  <a:noFill/>
                </a:ln>
                <a:solidFill>
                  <a:prstClr val="black"/>
                </a:solidFill>
                <a:effectLst/>
                <a:uLnTx/>
                <a:uFillTx/>
                <a:latin typeface="Arial" panose="020B0604020202020204" pitchFamily="34" charset="0"/>
                <a:ea typeface="微軟正黑體"/>
                <a:cs typeface="Arial" panose="020B0604020202020204" pitchFamily="34" charset="0"/>
              </a:rPr>
              <a:t>｜</a:t>
            </a:r>
            <a:r>
              <a:rPr kumimoji="0" lang="en-US" altLang="zh-TW" sz="1350" b="0" i="0" u="none" strike="noStrike" kern="1200" cap="none" spc="0" normalizeH="0" baseline="0" noProof="0" dirty="0">
                <a:ln>
                  <a:noFill/>
                </a:ln>
                <a:solidFill>
                  <a:prstClr val="black"/>
                </a:solidFill>
                <a:effectLst/>
                <a:uLnTx/>
                <a:uFillTx/>
                <a:latin typeface="Arial" panose="020B0604020202020204" pitchFamily="34" charset="0"/>
                <a:ea typeface="微軟正黑體"/>
                <a:cs typeface="Arial" panose="020B0604020202020204" pitchFamily="34" charset="0"/>
              </a:rPr>
              <a:t>MM/DD/YYYY</a:t>
            </a:r>
          </a:p>
        </p:txBody>
      </p:sp>
      <p:sp>
        <p:nvSpPr>
          <p:cNvPr id="9" name="文字版面配置區 4">
            <a:extLst>
              <a:ext uri="{FF2B5EF4-FFF2-40B4-BE49-F238E27FC236}">
                <a16:creationId xmlns:a16="http://schemas.microsoft.com/office/drawing/2014/main" id="{C5F15596-5511-4524-8143-5414A6D0A46F}"/>
              </a:ext>
            </a:extLst>
          </p:cNvPr>
          <p:cNvSpPr>
            <a:spLocks noGrp="1"/>
          </p:cNvSpPr>
          <p:nvPr>
            <p:ph type="body" sz="quarter" idx="12" hasCustomPrompt="1"/>
          </p:nvPr>
        </p:nvSpPr>
        <p:spPr>
          <a:xfrm>
            <a:off x="934219" y="738191"/>
            <a:ext cx="2133447" cy="380427"/>
          </a:xfrm>
        </p:spPr>
        <p:txBody>
          <a:bodyPr>
            <a:normAutofit/>
          </a:bodyPr>
          <a:lstStyle>
            <a:lvl1pPr marL="0" indent="0">
              <a:buNone/>
              <a:defRPr sz="1350">
                <a:solidFill>
                  <a:srgbClr val="0070C0"/>
                </a:solidFill>
              </a:defRPr>
            </a:lvl1pPr>
          </a:lstStyle>
          <a:p>
            <a:pPr lvl="0"/>
            <a:r>
              <a:rPr lang="en-US" altLang="zh-TW" dirty="0"/>
              <a:t>Cover </a:t>
            </a:r>
            <a:r>
              <a:rPr lang="en-US" altLang="zh-TW" dirty="0" err="1"/>
              <a:t>Page_White</a:t>
            </a:r>
            <a:endParaRPr lang="zh-TW" altLang="en-US" dirty="0"/>
          </a:p>
        </p:txBody>
      </p:sp>
      <p:pic>
        <p:nvPicPr>
          <p:cNvPr id="4" name="圖片 3"/>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375007" y="5234195"/>
            <a:ext cx="1934679" cy="810473"/>
          </a:xfrm>
          <a:prstGeom prst="rect">
            <a:avLst/>
          </a:prstGeom>
        </p:spPr>
      </p:pic>
    </p:spTree>
    <p:extLst>
      <p:ext uri="{BB962C8B-B14F-4D97-AF65-F5344CB8AC3E}">
        <p14:creationId xmlns:p14="http://schemas.microsoft.com/office/powerpoint/2010/main" val="62743245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ver Page_Whit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7" name="圖片 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716013" y="5920122"/>
            <a:ext cx="847920" cy="355209"/>
          </a:xfrm>
          <a:prstGeom prst="rect">
            <a:avLst/>
          </a:prstGeom>
        </p:spPr>
      </p:pic>
    </p:spTree>
    <p:extLst>
      <p:ext uri="{BB962C8B-B14F-4D97-AF65-F5344CB8AC3E}">
        <p14:creationId xmlns:p14="http://schemas.microsoft.com/office/powerpoint/2010/main" val="84550598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微軟正黑體"/>
                <a:cs typeface="+mn-cs"/>
              </a:rPr>
              <a:t>MM/DD/YYYY</a:t>
            </a:r>
            <a:endParaRPr kumimoji="0" lang="en-US" sz="900" b="0" i="0" u="none" strike="noStrike" kern="1200" cap="none" spc="0" normalizeH="0" baseline="0" noProof="0" dirty="0">
              <a:ln>
                <a:noFill/>
              </a:ln>
              <a:solidFill>
                <a:prstClr val="black"/>
              </a:solidFill>
              <a:effectLst/>
              <a:uLnTx/>
              <a:uFillTx/>
              <a:latin typeface="Arial"/>
              <a:ea typeface="微軟正黑體"/>
              <a:cs typeface="+mn-cs"/>
            </a:endParaRPr>
          </a:p>
        </p:txBody>
      </p:sp>
      <p:sp>
        <p:nvSpPr>
          <p:cNvPr id="4" name="頁尾版面配置區 3"/>
          <p:cNvSpPr>
            <a:spLocks noGrp="1"/>
          </p:cNvSpPr>
          <p:nvPr>
            <p:ph type="ftr" sz="quarter" idx="1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rial"/>
                <a:ea typeface="微軟正黑體"/>
                <a:cs typeface="+mn-cs"/>
              </a:rPr>
              <a:t>Presenter Name</a:t>
            </a:r>
            <a:endParaRPr kumimoji="0" lang="en-US" sz="900" b="0" i="0" u="none" strike="noStrike" kern="1200" cap="none" spc="0" normalizeH="0" baseline="0" noProof="0" dirty="0">
              <a:ln>
                <a:noFill/>
              </a:ln>
              <a:solidFill>
                <a:prstClr val="black"/>
              </a:solidFill>
              <a:effectLst/>
              <a:uLnTx/>
              <a:uFillTx/>
              <a:latin typeface="Arial"/>
              <a:ea typeface="微軟正黑體"/>
              <a:cs typeface="+mn-cs"/>
            </a:endParaRPr>
          </a:p>
        </p:txBody>
      </p:sp>
      <p:sp>
        <p:nvSpPr>
          <p:cNvPr id="5" name="投影片編號版面配置區 4"/>
          <p:cNvSpPr>
            <a:spLocks noGrp="1"/>
          </p:cNvSpPr>
          <p:nvPr>
            <p:ph type="sldNum" sz="quarter" idx="12"/>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fld id="{81BD21A8-5E88-4AE4-993C-2D76760CAD3D}" type="slidenum">
              <a:rPr kumimoji="0" lang="en-US" sz="900" b="0" i="0" u="none" strike="noStrike" kern="1200" cap="none" spc="0" normalizeH="0" baseline="0" noProof="0" smtClean="0">
                <a:ln>
                  <a:noFill/>
                </a:ln>
                <a:solidFill>
                  <a:prstClr val="black"/>
                </a:solidFill>
                <a:effectLst/>
                <a:uLnTx/>
                <a:uFillTx/>
                <a:latin typeface="Arial"/>
                <a:ea typeface="微軟正黑體"/>
                <a:cs typeface="+mn-cs"/>
              </a:rPr>
              <a:pPr marL="0" marR="0" lvl="0" indent="0" algn="l" defTabSz="121917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solidFill>
              <a:effectLst/>
              <a:uLnTx/>
              <a:uFillTx/>
              <a:latin typeface="Arial"/>
              <a:ea typeface="微軟正黑體"/>
              <a:cs typeface="+mn-cs"/>
            </a:endParaRPr>
          </a:p>
        </p:txBody>
      </p:sp>
    </p:spTree>
    <p:extLst>
      <p:ext uri="{BB962C8B-B14F-4D97-AF65-F5344CB8AC3E}">
        <p14:creationId xmlns:p14="http://schemas.microsoft.com/office/powerpoint/2010/main" val="2828122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age_Title Only">
    <p:bg>
      <p:bgPr>
        <a:solidFill>
          <a:schemeClr val="bg1"/>
        </a:solidFill>
        <a:effectLst/>
      </p:bgPr>
    </p:bg>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2702107E-0279-495A-BF89-DD786730CC37}"/>
              </a:ext>
            </a:extLst>
          </p:cNvPr>
          <p:cNvSpPr>
            <a:spLocks noGrp="1"/>
          </p:cNvSpPr>
          <p:nvPr>
            <p:ph type="title" hasCustomPrompt="1"/>
          </p:nvPr>
        </p:nvSpPr>
        <p:spPr/>
        <p:txBody>
          <a:bodyPr/>
          <a:lstStyle>
            <a:lvl1pPr>
              <a:defRPr/>
            </a:lvl1pPr>
          </a:lstStyle>
          <a:p>
            <a:r>
              <a:rPr lang="en-US" altLang="zh-TW" dirty="0"/>
              <a:t>Page Title Goes Here (28-32pt)</a:t>
            </a:r>
            <a:endParaRPr lang="en-US" dirty="0"/>
          </a:p>
        </p:txBody>
      </p:sp>
      <p:grpSp>
        <p:nvGrpSpPr>
          <p:cNvPr id="49" name="群組 48">
            <a:extLst>
              <a:ext uri="{FF2B5EF4-FFF2-40B4-BE49-F238E27FC236}">
                <a16:creationId xmlns:a16="http://schemas.microsoft.com/office/drawing/2014/main" id="{8AEA3F42-8ED3-4628-89CC-CE9DC5D371F1}"/>
              </a:ext>
            </a:extLst>
          </p:cNvPr>
          <p:cNvGrpSpPr/>
          <p:nvPr userDrawn="1"/>
        </p:nvGrpSpPr>
        <p:grpSpPr>
          <a:xfrm>
            <a:off x="0" y="7008897"/>
            <a:ext cx="10358581" cy="423333"/>
            <a:chOff x="0" y="5256671"/>
            <a:chExt cx="7768936" cy="317500"/>
          </a:xfrm>
        </p:grpSpPr>
        <p:grpSp>
          <p:nvGrpSpPr>
            <p:cNvPr id="50" name="群組 49">
              <a:extLst>
                <a:ext uri="{FF2B5EF4-FFF2-40B4-BE49-F238E27FC236}">
                  <a16:creationId xmlns:a16="http://schemas.microsoft.com/office/drawing/2014/main" id="{BDCAFD82-B8CA-4738-843C-0FC6D7C6C5F5}"/>
                </a:ext>
              </a:extLst>
            </p:cNvPr>
            <p:cNvGrpSpPr/>
            <p:nvPr userDrawn="1"/>
          </p:nvGrpSpPr>
          <p:grpSpPr>
            <a:xfrm>
              <a:off x="0" y="5256671"/>
              <a:ext cx="1321058" cy="317500"/>
              <a:chOff x="0" y="5256671"/>
              <a:chExt cx="1321058" cy="317500"/>
            </a:xfrm>
          </p:grpSpPr>
          <p:sp>
            <p:nvSpPr>
              <p:cNvPr id="63" name="矩形 62">
                <a:extLst>
                  <a:ext uri="{FF2B5EF4-FFF2-40B4-BE49-F238E27FC236}">
                    <a16:creationId xmlns:a16="http://schemas.microsoft.com/office/drawing/2014/main" id="{3C299B04-932C-4519-8E76-017FBD3A569A}"/>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4" name="矩形 63">
                <a:extLst>
                  <a:ext uri="{FF2B5EF4-FFF2-40B4-BE49-F238E27FC236}">
                    <a16:creationId xmlns:a16="http://schemas.microsoft.com/office/drawing/2014/main" id="{0B20FB35-F562-4362-B563-165B2407465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5" name="矩形 64">
                <a:extLst>
                  <a:ext uri="{FF2B5EF4-FFF2-40B4-BE49-F238E27FC236}">
                    <a16:creationId xmlns:a16="http://schemas.microsoft.com/office/drawing/2014/main" id="{0DE5232E-7B0E-4AEF-9D43-2E173D30F319}"/>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grpSp>
        <p:grpSp>
          <p:nvGrpSpPr>
            <p:cNvPr id="51" name="群組 50">
              <a:extLst>
                <a:ext uri="{FF2B5EF4-FFF2-40B4-BE49-F238E27FC236}">
                  <a16:creationId xmlns:a16="http://schemas.microsoft.com/office/drawing/2014/main" id="{9D8FD8BE-B575-4450-95FD-B132F2FBF30C}"/>
                </a:ext>
              </a:extLst>
            </p:cNvPr>
            <p:cNvGrpSpPr/>
            <p:nvPr userDrawn="1"/>
          </p:nvGrpSpPr>
          <p:grpSpPr>
            <a:xfrm>
              <a:off x="2441313" y="5256671"/>
              <a:ext cx="5327623" cy="317500"/>
              <a:chOff x="2441313" y="5256671"/>
              <a:chExt cx="5327623" cy="317500"/>
            </a:xfrm>
          </p:grpSpPr>
          <p:sp>
            <p:nvSpPr>
              <p:cNvPr id="52" name="矩形 51">
                <a:extLst>
                  <a:ext uri="{FF2B5EF4-FFF2-40B4-BE49-F238E27FC236}">
                    <a16:creationId xmlns:a16="http://schemas.microsoft.com/office/drawing/2014/main" id="{FA6D470B-49E6-460D-A2F7-3AA3A3B20021}"/>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53" name="矩形 52">
                <a:extLst>
                  <a:ext uri="{FF2B5EF4-FFF2-40B4-BE49-F238E27FC236}">
                    <a16:creationId xmlns:a16="http://schemas.microsoft.com/office/drawing/2014/main" id="{184DC0D2-E428-4F38-B04F-7DC781667A34}"/>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54" name="矩形 53">
                <a:extLst>
                  <a:ext uri="{FF2B5EF4-FFF2-40B4-BE49-F238E27FC236}">
                    <a16:creationId xmlns:a16="http://schemas.microsoft.com/office/drawing/2014/main" id="{681D0C29-FC7B-4F3F-BD32-E40206A62370}"/>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55" name="矩形 54">
                <a:extLst>
                  <a:ext uri="{FF2B5EF4-FFF2-40B4-BE49-F238E27FC236}">
                    <a16:creationId xmlns:a16="http://schemas.microsoft.com/office/drawing/2014/main" id="{D032A71D-5325-4D28-B4B1-6B6BF4AAB30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56" name="矩形 55">
                <a:extLst>
                  <a:ext uri="{FF2B5EF4-FFF2-40B4-BE49-F238E27FC236}">
                    <a16:creationId xmlns:a16="http://schemas.microsoft.com/office/drawing/2014/main" id="{738A70FA-150B-4708-B634-5950D1A00DF9}"/>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57" name="矩形 56">
                <a:extLst>
                  <a:ext uri="{FF2B5EF4-FFF2-40B4-BE49-F238E27FC236}">
                    <a16:creationId xmlns:a16="http://schemas.microsoft.com/office/drawing/2014/main" id="{D3854FDB-0E9B-46EB-A142-15E78B7E2E6D}"/>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58" name="矩形 57">
                <a:extLst>
                  <a:ext uri="{FF2B5EF4-FFF2-40B4-BE49-F238E27FC236}">
                    <a16:creationId xmlns:a16="http://schemas.microsoft.com/office/drawing/2014/main" id="{6FD94B95-A8E7-4E9F-A041-9A4885EECF37}"/>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59" name="矩形 58">
                <a:extLst>
                  <a:ext uri="{FF2B5EF4-FFF2-40B4-BE49-F238E27FC236}">
                    <a16:creationId xmlns:a16="http://schemas.microsoft.com/office/drawing/2014/main" id="{1F6E9780-35D6-4AF2-80BB-A3569C8BA2E3}"/>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0" name="矩形 59">
                <a:extLst>
                  <a:ext uri="{FF2B5EF4-FFF2-40B4-BE49-F238E27FC236}">
                    <a16:creationId xmlns:a16="http://schemas.microsoft.com/office/drawing/2014/main" id="{4A11A937-B5ED-40BD-9B95-73D6C01FBDBD}"/>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1" name="矩形 60">
                <a:extLst>
                  <a:ext uri="{FF2B5EF4-FFF2-40B4-BE49-F238E27FC236}">
                    <a16:creationId xmlns:a16="http://schemas.microsoft.com/office/drawing/2014/main" id="{71465539-F4BD-48C9-8CC9-44AE7B97586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2" name="矩形 61">
                <a:extLst>
                  <a:ext uri="{FF2B5EF4-FFF2-40B4-BE49-F238E27FC236}">
                    <a16:creationId xmlns:a16="http://schemas.microsoft.com/office/drawing/2014/main" id="{85BCC709-E469-4948-B4D5-AF8897457737}"/>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grpSp>
      </p:grpSp>
      <p:sp>
        <p:nvSpPr>
          <p:cNvPr id="24" name="文字方塊 23">
            <a:extLst>
              <a:ext uri="{FF2B5EF4-FFF2-40B4-BE49-F238E27FC236}">
                <a16:creationId xmlns:a16="http://schemas.microsoft.com/office/drawing/2014/main" id="{4EB72046-7EFA-4D5B-9003-30F89B1D91A8}"/>
              </a:ext>
            </a:extLst>
          </p:cNvPr>
          <p:cNvSpPr txBox="1"/>
          <p:nvPr userDrawn="1"/>
        </p:nvSpPr>
        <p:spPr>
          <a:xfrm>
            <a:off x="116027" y="6478467"/>
            <a:ext cx="349776" cy="25391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fld id="{823BD820-02AB-4111-88E2-98F36ECA9073}" type="slidenum">
              <a:rPr kumimoji="0" lang="en-US" sz="1050" b="0" i="0" u="none" strike="noStrike" kern="1200" cap="none" spc="0" normalizeH="0" baseline="0" noProof="0" smtClean="0">
                <a:ln>
                  <a:noFill/>
                </a:ln>
                <a:solidFill>
                  <a:prstClr val="black"/>
                </a:solidFill>
                <a:effectLst/>
                <a:uLnTx/>
                <a:uFillTx/>
                <a:latin typeface="Arial"/>
                <a:ea typeface="微軟正黑體"/>
                <a:cs typeface="+mn-cs"/>
              </a:rPr>
              <a:pPr marL="0" marR="0" lvl="0" indent="0" algn="l" defTabSz="121917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black"/>
              </a:solidFill>
              <a:effectLst/>
              <a:uLnTx/>
              <a:uFillTx/>
              <a:latin typeface="Arial"/>
              <a:ea typeface="微軟正黑體"/>
              <a:cs typeface="+mn-cs"/>
            </a:endParaRPr>
          </a:p>
        </p:txBody>
      </p:sp>
      <p:sp>
        <p:nvSpPr>
          <p:cNvPr id="25" name="文字方塊 24">
            <a:extLst>
              <a:ext uri="{FF2B5EF4-FFF2-40B4-BE49-F238E27FC236}">
                <a16:creationId xmlns:a16="http://schemas.microsoft.com/office/drawing/2014/main" id="{E8C46C83-D634-4B86-88D9-5C8B6A41BF9F}"/>
              </a:ext>
            </a:extLst>
          </p:cNvPr>
          <p:cNvSpPr txBox="1"/>
          <p:nvPr userDrawn="1"/>
        </p:nvSpPr>
        <p:spPr>
          <a:xfrm>
            <a:off x="482268" y="6528267"/>
            <a:ext cx="1013419" cy="207749"/>
          </a:xfrm>
          <a:prstGeom prst="rect">
            <a:avLst/>
          </a:prstGeom>
          <a:noFill/>
        </p:spPr>
        <p:txBody>
          <a:bodyPr wrap="none" rtlCol="0">
            <a:sp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prstClr val="black"/>
                </a:solidFill>
                <a:effectLst/>
                <a:uLnTx/>
                <a:uFillTx/>
                <a:latin typeface="Arial"/>
                <a:ea typeface="微軟正黑體"/>
                <a:cs typeface="+mn-cs"/>
              </a:rPr>
              <a:t>Cyntec Confidential</a:t>
            </a:r>
          </a:p>
        </p:txBody>
      </p:sp>
      <p:pic>
        <p:nvPicPr>
          <p:cNvPr id="27" name="圖片 2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20813" y="6391177"/>
            <a:ext cx="847920" cy="355209"/>
          </a:xfrm>
          <a:prstGeom prst="rect">
            <a:avLst/>
          </a:prstGeom>
        </p:spPr>
      </p:pic>
    </p:spTree>
    <p:extLst>
      <p:ext uri="{BB962C8B-B14F-4D97-AF65-F5344CB8AC3E}">
        <p14:creationId xmlns:p14="http://schemas.microsoft.com/office/powerpoint/2010/main" val="102535811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age">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CA6B8E-EB08-4AB0-9768-E121F12ABA2B}"/>
              </a:ext>
            </a:extLst>
          </p:cNvPr>
          <p:cNvSpPr>
            <a:spLocks noGrp="1"/>
          </p:cNvSpPr>
          <p:nvPr>
            <p:ph type="title" hasCustomPrompt="1"/>
          </p:nvPr>
        </p:nvSpPr>
        <p:spPr>
          <a:xfrm>
            <a:off x="406400" y="372981"/>
            <a:ext cx="11379200" cy="679396"/>
          </a:xfrm>
        </p:spPr>
        <p:txBody>
          <a:bodyPr anchor="t"/>
          <a:lstStyle>
            <a:lvl1pPr>
              <a:defRPr/>
            </a:lvl1pPr>
          </a:lstStyle>
          <a:p>
            <a:r>
              <a:rPr lang="en-US" altLang="zh-TW" dirty="0"/>
              <a:t>Page Title Goes Here (32pt)</a:t>
            </a:r>
            <a:endParaRPr lang="en-US" dirty="0"/>
          </a:p>
        </p:txBody>
      </p:sp>
      <p:sp>
        <p:nvSpPr>
          <p:cNvPr id="3" name="內容版面配置區 2">
            <a:extLst>
              <a:ext uri="{FF2B5EF4-FFF2-40B4-BE49-F238E27FC236}">
                <a16:creationId xmlns:a16="http://schemas.microsoft.com/office/drawing/2014/main" id="{BEF22CCF-5B81-47DC-861A-B0A56BD7A109}"/>
              </a:ext>
            </a:extLst>
          </p:cNvPr>
          <p:cNvSpPr>
            <a:spLocks noGrp="1"/>
          </p:cNvSpPr>
          <p:nvPr>
            <p:ph idx="1" hasCustomPrompt="1"/>
          </p:nvPr>
        </p:nvSpPr>
        <p:spPr>
          <a:xfrm>
            <a:off x="406400" y="1170462"/>
            <a:ext cx="11379200" cy="4953777"/>
          </a:xfrm>
        </p:spPr>
        <p:txBody>
          <a:bodyPr>
            <a:normAutofit/>
          </a:bodyPr>
          <a:lstStyle>
            <a:lvl1pPr>
              <a:lnSpc>
                <a:spcPct val="110000"/>
              </a:lnSpc>
              <a:defRPr sz="1500">
                <a:solidFill>
                  <a:schemeClr val="tx1"/>
                </a:solidFill>
              </a:defRPr>
            </a:lvl1pPr>
          </a:lstStyle>
          <a:p>
            <a:pPr lvl="0"/>
            <a:r>
              <a:rPr lang="en-US" altLang="zh-TW" dirty="0"/>
              <a:t>Content goes here (20pt)</a:t>
            </a:r>
            <a:endParaRPr lang="en-US" dirty="0"/>
          </a:p>
        </p:txBody>
      </p:sp>
      <p:sp>
        <p:nvSpPr>
          <p:cNvPr id="52" name="文字方塊 51">
            <a:extLst>
              <a:ext uri="{FF2B5EF4-FFF2-40B4-BE49-F238E27FC236}">
                <a16:creationId xmlns:a16="http://schemas.microsoft.com/office/drawing/2014/main" id="{4EB72046-7EFA-4D5B-9003-30F89B1D91A8}"/>
              </a:ext>
            </a:extLst>
          </p:cNvPr>
          <p:cNvSpPr txBox="1"/>
          <p:nvPr userDrawn="1"/>
        </p:nvSpPr>
        <p:spPr>
          <a:xfrm>
            <a:off x="116027" y="6478467"/>
            <a:ext cx="349776" cy="253916"/>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fld id="{823BD820-02AB-4111-88E2-98F36ECA9073}" type="slidenum">
              <a:rPr kumimoji="0" lang="en-US" sz="1050" b="0" i="0" u="none" strike="noStrike" kern="1200" cap="none" spc="0" normalizeH="0" baseline="0" noProof="0" smtClean="0">
                <a:ln>
                  <a:noFill/>
                </a:ln>
                <a:solidFill>
                  <a:prstClr val="black"/>
                </a:solidFill>
                <a:effectLst/>
                <a:uLnTx/>
                <a:uFillTx/>
                <a:latin typeface="Arial"/>
                <a:ea typeface="微軟正黑體"/>
                <a:cs typeface="+mn-cs"/>
              </a:rPr>
              <a:pPr marL="0" marR="0" lvl="0" indent="0" algn="l" defTabSz="121917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a:ln>
                <a:noFill/>
              </a:ln>
              <a:solidFill>
                <a:prstClr val="black"/>
              </a:solidFill>
              <a:effectLst/>
              <a:uLnTx/>
              <a:uFillTx/>
              <a:latin typeface="Arial"/>
              <a:ea typeface="微軟正黑體"/>
              <a:cs typeface="+mn-cs"/>
            </a:endParaRPr>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82268" y="6528267"/>
            <a:ext cx="1013419" cy="207749"/>
          </a:xfrm>
          <a:prstGeom prst="rect">
            <a:avLst/>
          </a:prstGeom>
          <a:noFill/>
        </p:spPr>
        <p:txBody>
          <a:bodyPr wrap="none" rtlCol="0">
            <a:sp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prstClr val="black"/>
                </a:solidFill>
                <a:effectLst/>
                <a:uLnTx/>
                <a:uFillTx/>
                <a:latin typeface="Arial"/>
                <a:ea typeface="微軟正黑體"/>
                <a:cs typeface="+mn-cs"/>
              </a:rPr>
              <a:t>Cyntec Confidential</a:t>
            </a:r>
          </a:p>
        </p:txBody>
      </p:sp>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7"/>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Arial"/>
                  <a:ea typeface="微軟正黑體"/>
                  <a:cs typeface="+mn-cs"/>
                </a:endParaRPr>
              </a:p>
            </p:txBody>
          </p:sp>
        </p:grpSp>
      </p:grpSp>
      <p:pic>
        <p:nvPicPr>
          <p:cNvPr id="24" name="圖片 2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20813" y="6391177"/>
            <a:ext cx="847920" cy="355209"/>
          </a:xfrm>
          <a:prstGeom prst="rect">
            <a:avLst/>
          </a:prstGeom>
        </p:spPr>
      </p:pic>
      <p:grpSp>
        <p:nvGrpSpPr>
          <p:cNvPr id="25" name="群組 24"/>
          <p:cNvGrpSpPr/>
          <p:nvPr userDrawn="1"/>
        </p:nvGrpSpPr>
        <p:grpSpPr>
          <a:xfrm>
            <a:off x="-8501" y="0"/>
            <a:ext cx="12203889" cy="6858000"/>
            <a:chOff x="-8501" y="0"/>
            <a:chExt cx="12203889" cy="6858000"/>
          </a:xfrm>
        </p:grpSpPr>
        <p:grpSp>
          <p:nvGrpSpPr>
            <p:cNvPr id="26" name="群組 25"/>
            <p:cNvGrpSpPr/>
            <p:nvPr/>
          </p:nvGrpSpPr>
          <p:grpSpPr>
            <a:xfrm>
              <a:off x="8743123" y="0"/>
              <a:ext cx="3452265" cy="6853928"/>
              <a:chOff x="8368748" y="371350"/>
              <a:chExt cx="3452265" cy="6853928"/>
            </a:xfrm>
          </p:grpSpPr>
          <p:sp>
            <p:nvSpPr>
              <p:cNvPr id="30" name="矩形 29"/>
              <p:cNvSpPr/>
              <p:nvPr/>
            </p:nvSpPr>
            <p:spPr>
              <a:xfrm>
                <a:off x="8368748" y="371350"/>
                <a:ext cx="2266122" cy="72000"/>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a:ea typeface="微軟正黑體"/>
                  <a:cs typeface="+mn-cs"/>
                </a:endParaRPr>
              </a:p>
            </p:txBody>
          </p:sp>
          <p:sp>
            <p:nvSpPr>
              <p:cNvPr id="31" name="L-圖案 30"/>
              <p:cNvSpPr/>
              <p:nvPr/>
            </p:nvSpPr>
            <p:spPr>
              <a:xfrm rot="10800000">
                <a:off x="10634870" y="371350"/>
                <a:ext cx="1182755" cy="1705927"/>
              </a:xfrm>
              <a:prstGeom prst="corner">
                <a:avLst>
                  <a:gd name="adj1" fmla="val 6060"/>
                  <a:gd name="adj2" fmla="val 5977"/>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a:ea typeface="微軟正黑體"/>
                  <a:cs typeface="+mn-cs"/>
                </a:endParaRPr>
              </a:p>
            </p:txBody>
          </p:sp>
          <p:sp>
            <p:nvSpPr>
              <p:cNvPr id="32" name="矩形 31"/>
              <p:cNvSpPr/>
              <p:nvPr/>
            </p:nvSpPr>
            <p:spPr>
              <a:xfrm rot="5400000">
                <a:off x="9211013" y="4615278"/>
                <a:ext cx="5148000" cy="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a:ea typeface="微軟正黑體"/>
                  <a:cs typeface="+mn-cs"/>
                </a:endParaRPr>
              </a:p>
            </p:txBody>
          </p:sp>
        </p:grpSp>
        <p:sp>
          <p:nvSpPr>
            <p:cNvPr id="27" name="矩形 26"/>
            <p:cNvSpPr/>
            <p:nvPr/>
          </p:nvSpPr>
          <p:spPr>
            <a:xfrm rot="10800000">
              <a:off x="-1" y="6786000"/>
              <a:ext cx="12192000" cy="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a:ea typeface="微軟正黑體"/>
                <a:cs typeface="+mn-cs"/>
              </a:endParaRPr>
            </a:p>
          </p:txBody>
        </p:sp>
        <p:sp>
          <p:nvSpPr>
            <p:cNvPr id="28" name="矩形 27"/>
            <p:cNvSpPr/>
            <p:nvPr/>
          </p:nvSpPr>
          <p:spPr>
            <a:xfrm rot="5400000">
              <a:off x="-3392501" y="3395307"/>
              <a:ext cx="6840000" cy="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a:ea typeface="微軟正黑體"/>
                <a:cs typeface="+mn-cs"/>
              </a:endParaRPr>
            </a:p>
          </p:txBody>
        </p:sp>
        <p:sp>
          <p:nvSpPr>
            <p:cNvPr id="29" name="矩形 28"/>
            <p:cNvSpPr/>
            <p:nvPr/>
          </p:nvSpPr>
          <p:spPr>
            <a:xfrm rot="10800000">
              <a:off x="0" y="0"/>
              <a:ext cx="8743126" cy="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a:ea typeface="微軟正黑體"/>
                <a:cs typeface="+mn-cs"/>
              </a:endParaRPr>
            </a:p>
          </p:txBody>
        </p:sp>
      </p:grpSp>
    </p:spTree>
    <p:extLst>
      <p:ext uri="{BB962C8B-B14F-4D97-AF65-F5344CB8AC3E}">
        <p14:creationId xmlns:p14="http://schemas.microsoft.com/office/powerpoint/2010/main" val="11992679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reak Pag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4B44CAB8-9DEC-4DEF-99E0-D78F53E4F834}"/>
              </a:ext>
            </a:extLst>
          </p:cNvPr>
          <p:cNvSpPr>
            <a:spLocks noGrp="1"/>
          </p:cNvSpPr>
          <p:nvPr>
            <p:ph type="ctrTitle" hasCustomPrompt="1"/>
          </p:nvPr>
        </p:nvSpPr>
        <p:spPr>
          <a:xfrm>
            <a:off x="896647" y="1118623"/>
            <a:ext cx="9144000" cy="1864899"/>
          </a:xfrm>
        </p:spPr>
        <p:txBody>
          <a:bodyPr anchor="t">
            <a:normAutofit/>
          </a:bodyPr>
          <a:lstStyle>
            <a:lvl1pPr algn="l">
              <a:lnSpc>
                <a:spcPct val="110000"/>
              </a:lnSpc>
              <a:defRPr sz="3450" b="0">
                <a:solidFill>
                  <a:schemeClr val="bg1"/>
                </a:solidFill>
                <a:latin typeface="+mj-lt"/>
                <a:ea typeface="Verdana" panose="020B0604030504040204" pitchFamily="34" charset="0"/>
              </a:defRPr>
            </a:lvl1pPr>
          </a:lstStyle>
          <a:p>
            <a:r>
              <a:rPr lang="en-US" altLang="zh-TW" dirty="0"/>
              <a:t>Break Page Title Goes Here</a:t>
            </a:r>
            <a:br>
              <a:rPr lang="en-US" altLang="zh-TW" dirty="0"/>
            </a:br>
            <a:r>
              <a:rPr lang="en-US" altLang="zh-TW" dirty="0"/>
              <a:t>Maximum 2 Lines (32-46pt)</a:t>
            </a:r>
            <a:endParaRPr lang="en-US" dirty="0"/>
          </a:p>
        </p:txBody>
      </p:sp>
      <p:sp>
        <p:nvSpPr>
          <p:cNvPr id="6" name="副標題 2">
            <a:extLst>
              <a:ext uri="{FF2B5EF4-FFF2-40B4-BE49-F238E27FC236}">
                <a16:creationId xmlns:a16="http://schemas.microsoft.com/office/drawing/2014/main" id="{814F8012-3519-4A75-B26B-57773CA554B6}"/>
              </a:ext>
            </a:extLst>
          </p:cNvPr>
          <p:cNvSpPr>
            <a:spLocks noGrp="1"/>
          </p:cNvSpPr>
          <p:nvPr>
            <p:ph type="subTitle" idx="1" hasCustomPrompt="1"/>
          </p:nvPr>
        </p:nvSpPr>
        <p:spPr>
          <a:xfrm>
            <a:off x="896647" y="3015633"/>
            <a:ext cx="9144000" cy="1353169"/>
          </a:xfrm>
        </p:spPr>
        <p:txBody>
          <a:bodyPr>
            <a:normAutofit/>
          </a:bodyPr>
          <a:lstStyle>
            <a:lvl1pPr marL="0" indent="0" algn="l">
              <a:lnSpc>
                <a:spcPct val="110000"/>
              </a:lnSpc>
              <a:spcBef>
                <a:spcPts val="0"/>
              </a:spcBef>
              <a:buNone/>
              <a:defRPr sz="2400">
                <a:solidFill>
                  <a:schemeClr val="bg1"/>
                </a:solidFill>
                <a:latin typeface="+mj-lt"/>
                <a:ea typeface="Verdana" panose="020B0604030504040204" pitchFamily="34" charset="0"/>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n-US" altLang="zh-TW" dirty="0"/>
              <a:t>Break Page Subtitle Goes Here</a:t>
            </a:r>
            <a:br>
              <a:rPr lang="en-US" altLang="zh-TW" dirty="0"/>
            </a:br>
            <a:r>
              <a:rPr lang="en-US" altLang="zh-TW" dirty="0"/>
              <a:t>Maximum 2 Lines (24-32pt)</a:t>
            </a:r>
          </a:p>
        </p:txBody>
      </p:sp>
      <p:pic>
        <p:nvPicPr>
          <p:cNvPr id="3" name="圖片 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36632" y="5765533"/>
            <a:ext cx="1886827" cy="842912"/>
          </a:xfrm>
          <a:prstGeom prst="rect">
            <a:avLst/>
          </a:prstGeom>
        </p:spPr>
      </p:pic>
    </p:spTree>
    <p:extLst>
      <p:ext uri="{BB962C8B-B14F-4D97-AF65-F5344CB8AC3E}">
        <p14:creationId xmlns:p14="http://schemas.microsoft.com/office/powerpoint/2010/main" val="2959306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ing Page_Whit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標題 1">
            <a:extLst>
              <a:ext uri="{FF2B5EF4-FFF2-40B4-BE49-F238E27FC236}">
                <a16:creationId xmlns:a16="http://schemas.microsoft.com/office/drawing/2014/main" id="{5F44435C-4EDB-4AB4-AAD6-08BF8682BAAC}"/>
              </a:ext>
            </a:extLst>
          </p:cNvPr>
          <p:cNvSpPr>
            <a:spLocks noGrp="1"/>
          </p:cNvSpPr>
          <p:nvPr>
            <p:ph type="ctrTitle" hasCustomPrompt="1"/>
          </p:nvPr>
        </p:nvSpPr>
        <p:spPr>
          <a:xfrm>
            <a:off x="896648" y="1099373"/>
            <a:ext cx="10018401" cy="1864899"/>
          </a:xfrm>
        </p:spPr>
        <p:txBody>
          <a:bodyPr anchor="t">
            <a:normAutofit/>
          </a:bodyPr>
          <a:lstStyle>
            <a:lvl1pPr algn="l">
              <a:lnSpc>
                <a:spcPct val="110000"/>
              </a:lnSpc>
              <a:defRPr sz="3450" b="0">
                <a:solidFill>
                  <a:schemeClr val="tx1"/>
                </a:solidFill>
                <a:latin typeface="+mj-lt"/>
                <a:ea typeface="Verdana" panose="020B0604030504040204" pitchFamily="34" charset="0"/>
              </a:defRPr>
            </a:lvl1pPr>
          </a:lstStyle>
          <a:p>
            <a:r>
              <a:rPr lang="en-US" altLang="zh-TW" dirty="0"/>
              <a:t>Making Things Smaller and Smarter</a:t>
            </a:r>
            <a:br>
              <a:rPr lang="en-US" altLang="zh-TW" dirty="0"/>
            </a:br>
            <a:r>
              <a:rPr lang="en-US" altLang="zh-TW" sz="2400" dirty="0">
                <a:solidFill>
                  <a:srgbClr val="0087DC"/>
                </a:solidFill>
              </a:rPr>
              <a:t>www.cyntec.com</a:t>
            </a:r>
            <a:r>
              <a:rPr lang="en-US" altLang="zh-TW" sz="2400" dirty="0"/>
              <a:t> </a:t>
            </a:r>
            <a:endParaRPr lang="en-US" dirty="0"/>
          </a:p>
        </p:txBody>
      </p:sp>
      <p:pic>
        <p:nvPicPr>
          <p:cNvPr id="8" name="圖片 7"/>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856271" y="5667332"/>
            <a:ext cx="1934679" cy="810473"/>
          </a:xfrm>
          <a:prstGeom prst="rect">
            <a:avLst/>
          </a:prstGeom>
        </p:spPr>
      </p:pic>
    </p:spTree>
    <p:extLst>
      <p:ext uri="{BB962C8B-B14F-4D97-AF65-F5344CB8AC3E}">
        <p14:creationId xmlns:p14="http://schemas.microsoft.com/office/powerpoint/2010/main" val="2494344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8"/>
          <p:cNvSpPr>
            <a:spLocks noGrp="1" noChangeArrowheads="1"/>
          </p:cNvSpPr>
          <p:nvPr>
            <p:ph type="sldNum" sz="quarter"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C1A208F-14AF-4B55-98E2-50AE68538517}" type="slidenum">
              <a:rPr kumimoji="0" lang="en-US" altLang="zh-TW" sz="900" b="0" i="0" u="none" strike="noStrike" kern="1200" cap="none" spc="0" normalizeH="0" baseline="0" noProof="0">
                <a:ln>
                  <a:noFill/>
                </a:ln>
                <a:solidFill>
                  <a:prstClr val="black"/>
                </a:solidFill>
                <a:effectLst/>
                <a:uLnTx/>
                <a:uFillTx/>
                <a:latin typeface="Arial"/>
                <a:ea typeface="微軟正黑體"/>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altLang="zh-TW" sz="900" b="0" i="0" u="none" strike="noStrike" kern="1200" cap="none" spc="0" normalizeH="0" baseline="0" noProof="0" dirty="0">
              <a:ln>
                <a:noFill/>
              </a:ln>
              <a:solidFill>
                <a:prstClr val="black"/>
              </a:solidFill>
              <a:effectLst/>
              <a:uLnTx/>
              <a:uFillTx/>
              <a:latin typeface="Arial"/>
              <a:ea typeface="微軟正黑體"/>
              <a:cs typeface="+mn-cs"/>
            </a:endParaRPr>
          </a:p>
        </p:txBody>
      </p:sp>
    </p:spTree>
    <p:extLst>
      <p:ext uri="{BB962C8B-B14F-4D97-AF65-F5344CB8AC3E}">
        <p14:creationId xmlns:p14="http://schemas.microsoft.com/office/powerpoint/2010/main" val="4244422511"/>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584B288-D41F-4145-A1C0-E0281E1E2461}"/>
              </a:ext>
            </a:extLst>
          </p:cNvPr>
          <p:cNvSpPr>
            <a:spLocks noGrp="1"/>
          </p:cNvSpPr>
          <p:nvPr>
            <p:ph type="title"/>
          </p:nvPr>
        </p:nvSpPr>
        <p:spPr>
          <a:xfrm>
            <a:off x="406400" y="440356"/>
            <a:ext cx="11379200" cy="679396"/>
          </a:xfrm>
          <a:prstGeom prst="rect">
            <a:avLst/>
          </a:prstGeom>
        </p:spPr>
        <p:txBody>
          <a:bodyPr vert="horz" lIns="0" tIns="45720" rIns="0" bIns="45720" rtlCol="0" anchor="t">
            <a:normAutofit/>
          </a:bodyPr>
          <a:lstStyle/>
          <a:p>
            <a:r>
              <a:rPr lang="en-US" altLang="zh-TW" dirty="0"/>
              <a:t>Page Title Goes Here (32pt)</a:t>
            </a:r>
            <a:endParaRPr lang="en-US" dirty="0"/>
          </a:p>
        </p:txBody>
      </p:sp>
      <p:sp>
        <p:nvSpPr>
          <p:cNvPr id="3" name="文字版面配置區 2">
            <a:extLst>
              <a:ext uri="{FF2B5EF4-FFF2-40B4-BE49-F238E27FC236}">
                <a16:creationId xmlns:a16="http://schemas.microsoft.com/office/drawing/2014/main" id="{23BE7FFB-6DD4-4C49-91B1-9DC75DF6EC07}"/>
              </a:ext>
            </a:extLst>
          </p:cNvPr>
          <p:cNvSpPr>
            <a:spLocks noGrp="1"/>
          </p:cNvSpPr>
          <p:nvPr>
            <p:ph type="body" idx="1"/>
          </p:nvPr>
        </p:nvSpPr>
        <p:spPr>
          <a:xfrm>
            <a:off x="406400" y="1170463"/>
            <a:ext cx="11379200" cy="4669631"/>
          </a:xfrm>
          <a:prstGeom prst="rect">
            <a:avLst/>
          </a:prstGeom>
        </p:spPr>
        <p:txBody>
          <a:bodyPr vert="horz" lIns="0" tIns="45720" rIns="0" bIns="45720" rtlCol="0">
            <a:normAutofit/>
          </a:bodyPr>
          <a:lstStyle/>
          <a:p>
            <a:pPr lvl="0"/>
            <a:r>
              <a:rPr lang="en-US" altLang="zh-TW" dirty="0"/>
              <a:t>Content goes here (24pt)</a:t>
            </a:r>
            <a:endParaRPr lang="en-US" dirty="0"/>
          </a:p>
        </p:txBody>
      </p:sp>
      <p:sp>
        <p:nvSpPr>
          <p:cNvPr id="4" name="日期版面配置區 3">
            <a:extLst>
              <a:ext uri="{FF2B5EF4-FFF2-40B4-BE49-F238E27FC236}">
                <a16:creationId xmlns:a16="http://schemas.microsoft.com/office/drawing/2014/main" id="{1BBD7ECA-A67F-4BFF-9619-0DDD6E5A9229}"/>
              </a:ext>
            </a:extLst>
          </p:cNvPr>
          <p:cNvSpPr>
            <a:spLocks noGrp="1"/>
          </p:cNvSpPr>
          <p:nvPr>
            <p:ph type="dt" sz="half" idx="2"/>
          </p:nvPr>
        </p:nvSpPr>
        <p:spPr>
          <a:xfrm>
            <a:off x="6096000" y="6176269"/>
            <a:ext cx="2743200" cy="422101"/>
          </a:xfrm>
          <a:prstGeom prst="rect">
            <a:avLst/>
          </a:prstGeom>
        </p:spPr>
        <p:txBody>
          <a:bodyPr vert="horz" lIns="91440" tIns="45720" rIns="91440" bIns="45720" rtlCol="0" anchor="ctr"/>
          <a:lstStyle>
            <a:lvl1pPr algn="l">
              <a:defRPr sz="900">
                <a:solidFill>
                  <a:schemeClr val="tx1"/>
                </a:solidFill>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a:ea typeface="微軟正黑體"/>
                <a:cs typeface="+mn-cs"/>
              </a:rPr>
              <a:t>MM/DD/YYYY</a:t>
            </a:r>
          </a:p>
        </p:txBody>
      </p:sp>
      <p:sp>
        <p:nvSpPr>
          <p:cNvPr id="5" name="頁尾版面配置區 4">
            <a:extLst>
              <a:ext uri="{FF2B5EF4-FFF2-40B4-BE49-F238E27FC236}">
                <a16:creationId xmlns:a16="http://schemas.microsoft.com/office/drawing/2014/main" id="{989C03B7-7699-4072-AC6D-A339A44A7047}"/>
              </a:ext>
            </a:extLst>
          </p:cNvPr>
          <p:cNvSpPr>
            <a:spLocks noGrp="1"/>
          </p:cNvSpPr>
          <p:nvPr>
            <p:ph type="ftr" sz="quarter" idx="3"/>
          </p:nvPr>
        </p:nvSpPr>
        <p:spPr>
          <a:xfrm>
            <a:off x="843611" y="6191967"/>
            <a:ext cx="4114800" cy="437428"/>
          </a:xfrm>
          <a:prstGeom prst="rect">
            <a:avLst/>
          </a:prstGeom>
        </p:spPr>
        <p:txBody>
          <a:bodyPr vert="horz" lIns="91440" tIns="45720" rIns="91440" bIns="45720" rtlCol="0" anchor="ctr"/>
          <a:lstStyle>
            <a:lvl1pPr algn="l">
              <a:defRPr sz="900" u="none">
                <a:solidFill>
                  <a:schemeClr val="tx1"/>
                </a:solidFill>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a:ea typeface="微軟正黑體"/>
                <a:cs typeface="+mn-cs"/>
              </a:rPr>
              <a:t>Presenter Name</a:t>
            </a:r>
          </a:p>
        </p:txBody>
      </p:sp>
      <p:sp>
        <p:nvSpPr>
          <p:cNvPr id="6" name="投影片編號版面配置區 5">
            <a:extLst>
              <a:ext uri="{FF2B5EF4-FFF2-40B4-BE49-F238E27FC236}">
                <a16:creationId xmlns:a16="http://schemas.microsoft.com/office/drawing/2014/main" id="{9AC81264-E3A8-4919-AA46-612C30BB1B99}"/>
              </a:ext>
            </a:extLst>
          </p:cNvPr>
          <p:cNvSpPr>
            <a:spLocks noGrp="1"/>
          </p:cNvSpPr>
          <p:nvPr>
            <p:ph type="sldNum" sz="quarter" idx="4"/>
          </p:nvPr>
        </p:nvSpPr>
        <p:spPr>
          <a:xfrm>
            <a:off x="406404" y="6191970"/>
            <a:ext cx="401121" cy="422589"/>
          </a:xfrm>
          <a:prstGeom prst="rect">
            <a:avLst/>
          </a:prstGeom>
        </p:spPr>
        <p:txBody>
          <a:bodyPr vert="horz" lIns="91440" tIns="45720" rIns="91440" bIns="45720" rtlCol="0" anchor="ctr"/>
          <a:lstStyle>
            <a:lvl1pPr algn="l">
              <a:defRPr sz="900">
                <a:solidFill>
                  <a:schemeClr val="tx1"/>
                </a:solidFill>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fld id="{81BD21A8-5E88-4AE4-993C-2D76760CAD3D}" type="slidenum">
              <a:rPr kumimoji="0" lang="en-US" sz="900" b="0" i="0" u="none" strike="noStrike" kern="1200" cap="none" spc="0" normalizeH="0" baseline="0" noProof="0" smtClean="0">
                <a:ln>
                  <a:noFill/>
                </a:ln>
                <a:solidFill>
                  <a:prstClr val="black"/>
                </a:solidFill>
                <a:effectLst/>
                <a:uLnTx/>
                <a:uFillTx/>
                <a:latin typeface="Arial"/>
                <a:ea typeface="微軟正黑體"/>
                <a:cs typeface="+mn-cs"/>
              </a:rPr>
              <a:pPr marL="0" marR="0" lvl="0" indent="0" algn="l" defTabSz="121917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solidFill>
              <a:effectLst/>
              <a:uLnTx/>
              <a:uFillTx/>
              <a:latin typeface="Arial"/>
              <a:ea typeface="微軟正黑體"/>
              <a:cs typeface="+mn-cs"/>
            </a:endParaRPr>
          </a:p>
        </p:txBody>
      </p:sp>
    </p:spTree>
    <p:extLst>
      <p:ext uri="{BB962C8B-B14F-4D97-AF65-F5344CB8AC3E}">
        <p14:creationId xmlns:p14="http://schemas.microsoft.com/office/powerpoint/2010/main" val="16067118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Lst>
  <p:hf hdr="0"/>
  <p:txStyles>
    <p:title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171446" indent="-171446" algn="l" defTabSz="685783" rtl="0" eaLnBrk="1" latinLnBrk="0" hangingPunct="1">
        <a:lnSpc>
          <a:spcPct val="90000"/>
        </a:lnSpc>
        <a:spcBef>
          <a:spcPts val="750"/>
        </a:spcBef>
        <a:buClr>
          <a:schemeClr val="tx2"/>
        </a:buClr>
        <a:buFont typeface="Arial" panose="020B0604020202020204" pitchFamily="34" charset="0"/>
        <a:buChar char="•"/>
        <a:defRPr sz="18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Clr>
          <a:schemeClr val="tx2"/>
        </a:buClr>
        <a:buFont typeface="Arial" panose="020B0604020202020204" pitchFamily="34" charset="0"/>
        <a:buChar char="•"/>
        <a:defRPr sz="18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Clr>
          <a:schemeClr val="tx2"/>
        </a:buClr>
        <a:buFont typeface="Arial" panose="020B0604020202020204" pitchFamily="34" charset="0"/>
        <a:buChar char="•"/>
        <a:defRPr sz="15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Clr>
          <a:schemeClr val="tx2"/>
        </a:buClr>
        <a:buFont typeface="Arial" panose="020B0604020202020204" pitchFamily="34" charset="0"/>
        <a:buChar char="•"/>
        <a:defRPr sz="135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Clr>
          <a:schemeClr val="tx2"/>
        </a:buClr>
        <a:buFont typeface="Arial" panose="020B0604020202020204" pitchFamily="34" charset="0"/>
        <a:buChar char="•"/>
        <a:defRPr sz="135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hyperlink" Target="http://0.0.0.0:5000/"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頁尾版面配置區 3">
            <a:extLst>
              <a:ext uri="{FF2B5EF4-FFF2-40B4-BE49-F238E27FC236}">
                <a16:creationId xmlns:a16="http://schemas.microsoft.com/office/drawing/2014/main" id="{6FB26735-20D3-BD36-9DFC-6C8632F7D075}"/>
              </a:ext>
            </a:extLst>
          </p:cNvPr>
          <p:cNvSpPr>
            <a:spLocks noGrp="1"/>
          </p:cNvSpPr>
          <p:nvPr>
            <p:ph type="ftr" sz="quarter" idx="3"/>
          </p:nvPr>
        </p:nvSpPr>
        <p:spPr>
          <a:xfrm>
            <a:off x="896647" y="5561882"/>
            <a:ext cx="3126713" cy="610317"/>
          </a:xfrm>
        </p:spPr>
        <p:txBody>
          <a:bodyPr/>
          <a:lstStyle/>
          <a:p>
            <a:r>
              <a:rPr lang="zh-TW" altLang="en-US" sz="1800" b="1" dirty="0">
                <a:latin typeface="微軟正黑體" panose="020B0604030504040204" pitchFamily="34" charset="-120"/>
                <a:ea typeface="微軟正黑體" panose="020B0604030504040204" pitchFamily="34" charset="-120"/>
              </a:rPr>
              <a:t>製作人：</a:t>
            </a:r>
            <a:r>
              <a:rPr lang="en-US" altLang="zh-TW" sz="1800" b="1" dirty="0">
                <a:latin typeface="微軟正黑體" panose="020B0604030504040204" pitchFamily="34" charset="-120"/>
                <a:ea typeface="微軟正黑體" panose="020B0604030504040204" pitchFamily="34" charset="-120"/>
              </a:rPr>
              <a:t>YiHsuan Chiu</a:t>
            </a:r>
          </a:p>
          <a:p>
            <a:r>
              <a:rPr lang="zh-TW" altLang="en-US" sz="1800" b="1" dirty="0"/>
              <a:t>製作日期：</a:t>
            </a:r>
            <a:r>
              <a:rPr lang="en-US" altLang="zh-TW" sz="1800" dirty="0"/>
              <a:t>2026/3/16</a:t>
            </a:r>
          </a:p>
        </p:txBody>
      </p:sp>
      <p:sp>
        <p:nvSpPr>
          <p:cNvPr id="6" name="標題 1">
            <a:extLst>
              <a:ext uri="{FF2B5EF4-FFF2-40B4-BE49-F238E27FC236}">
                <a16:creationId xmlns:a16="http://schemas.microsoft.com/office/drawing/2014/main" id="{413BCBA5-0F9D-4710-802F-538EAA9E6FA9}"/>
              </a:ext>
            </a:extLst>
          </p:cNvPr>
          <p:cNvSpPr>
            <a:spLocks noGrp="1"/>
          </p:cNvSpPr>
          <p:nvPr>
            <p:ph type="ctrTitle"/>
          </p:nvPr>
        </p:nvSpPr>
        <p:spPr>
          <a:xfrm>
            <a:off x="1727775" y="891821"/>
            <a:ext cx="9144000" cy="681385"/>
          </a:xfrm>
        </p:spPr>
        <p:txBody>
          <a:bodyPr>
            <a:normAutofit/>
          </a:bodyPr>
          <a:lstStyle/>
          <a:p>
            <a:pPr algn="ctr"/>
            <a:r>
              <a:rPr lang="zh-TW" altLang="en-US" sz="3200" b="1" dirty="0">
                <a:ln w="0"/>
                <a:solidFill>
                  <a:schemeClr val="tx2"/>
                </a:solidFill>
                <a:latin typeface="+mj-ea"/>
              </a:rPr>
              <a:t>備品管理系統</a:t>
            </a:r>
          </a:p>
        </p:txBody>
      </p:sp>
    </p:spTree>
    <p:extLst>
      <p:ext uri="{BB962C8B-B14F-4D97-AF65-F5344CB8AC3E}">
        <p14:creationId xmlns:p14="http://schemas.microsoft.com/office/powerpoint/2010/main" val="2364261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319892" y="107816"/>
            <a:ext cx="11379200" cy="461659"/>
          </a:xfrm>
        </p:spPr>
        <p:txBody>
          <a:bodyPr>
            <a:noAutofit/>
          </a:bodyPr>
          <a:lstStyle/>
          <a:p>
            <a:r>
              <a:rPr lang="zh-TW" altLang="en-US" sz="2800" dirty="0"/>
              <a:t>系統架構與自動啟動 </a:t>
            </a:r>
            <a:r>
              <a:rPr lang="en-US" altLang="zh-TW" sz="2800" dirty="0"/>
              <a:t>(System Start-up)</a:t>
            </a:r>
            <a:endParaRPr lang="zh-TW" altLang="en-US" sz="2800" dirty="0"/>
          </a:p>
        </p:txBody>
      </p:sp>
      <p:sp>
        <p:nvSpPr>
          <p:cNvPr id="53" name="標題 2">
            <a:extLst>
              <a:ext uri="{FF2B5EF4-FFF2-40B4-BE49-F238E27FC236}">
                <a16:creationId xmlns:a16="http://schemas.microsoft.com/office/drawing/2014/main" id="{AA75B6B3-7F5E-43F0-B40E-D93642C39390}"/>
              </a:ext>
            </a:extLst>
          </p:cNvPr>
          <p:cNvSpPr txBox="1">
            <a:spLocks/>
          </p:cNvSpPr>
          <p:nvPr/>
        </p:nvSpPr>
        <p:spPr>
          <a:xfrm>
            <a:off x="217952" y="1200293"/>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開機自動啟動</a:t>
            </a:r>
          </a:p>
        </p:txBody>
      </p:sp>
      <p:sp>
        <p:nvSpPr>
          <p:cNvPr id="22" name="標題 2">
            <a:extLst>
              <a:ext uri="{FF2B5EF4-FFF2-40B4-BE49-F238E27FC236}">
                <a16:creationId xmlns:a16="http://schemas.microsoft.com/office/drawing/2014/main" id="{53058284-99EE-4ABC-9C47-7F1DE266C3B4}"/>
              </a:ext>
            </a:extLst>
          </p:cNvPr>
          <p:cNvSpPr txBox="1">
            <a:spLocks/>
          </p:cNvSpPr>
          <p:nvPr/>
        </p:nvSpPr>
        <p:spPr>
          <a:xfrm>
            <a:off x="537039" y="1661952"/>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後端服務程式已註冊於 </a:t>
            </a:r>
            <a:r>
              <a:rPr lang="en-US" altLang="zh-TW" sz="1800" dirty="0">
                <a:solidFill>
                  <a:srgbClr val="002060"/>
                </a:solidFill>
              </a:rPr>
              <a:t>Windows </a:t>
            </a:r>
            <a:r>
              <a:rPr lang="zh-TW" altLang="en-US" sz="1800" dirty="0">
                <a:solidFill>
                  <a:srgbClr val="002060"/>
                </a:solidFill>
              </a:rPr>
              <a:t>啟動清單中。只要您登入 </a:t>
            </a:r>
            <a:r>
              <a:rPr lang="en-US" altLang="zh-TW" sz="1800" dirty="0">
                <a:solidFill>
                  <a:srgbClr val="002060"/>
                </a:solidFill>
              </a:rPr>
              <a:t>Windows</a:t>
            </a:r>
            <a:r>
              <a:rPr lang="zh-TW" altLang="en-US" sz="1800" dirty="0">
                <a:solidFill>
                  <a:srgbClr val="002060"/>
                </a:solidFill>
              </a:rPr>
              <a:t>，系統會自動在背景執行，不需手動開啟。</a:t>
            </a:r>
            <a:endParaRPr lang="en-US" altLang="zh-TW" sz="1800" dirty="0">
              <a:solidFill>
                <a:srgbClr val="002060"/>
              </a:solidFill>
            </a:endParaRPr>
          </a:p>
        </p:txBody>
      </p:sp>
      <p:sp>
        <p:nvSpPr>
          <p:cNvPr id="35" name="標題 2">
            <a:extLst>
              <a:ext uri="{FF2B5EF4-FFF2-40B4-BE49-F238E27FC236}">
                <a16:creationId xmlns:a16="http://schemas.microsoft.com/office/drawing/2014/main" id="{553DB767-9839-456B-A218-E4949D6939C3}"/>
              </a:ext>
            </a:extLst>
          </p:cNvPr>
          <p:cNvSpPr txBox="1">
            <a:spLocks/>
          </p:cNvSpPr>
          <p:nvPr/>
        </p:nvSpPr>
        <p:spPr>
          <a:xfrm>
            <a:off x="217952" y="2799753"/>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2.</a:t>
            </a:r>
            <a:r>
              <a:rPr lang="zh-TW" altLang="en-US" sz="1800" dirty="0">
                <a:solidFill>
                  <a:srgbClr val="0000FF"/>
                </a:solidFill>
              </a:rPr>
              <a:t>系統托盤 </a:t>
            </a:r>
            <a:r>
              <a:rPr lang="en-US" altLang="zh-TW" sz="1800" dirty="0">
                <a:solidFill>
                  <a:srgbClr val="0000FF"/>
                </a:solidFill>
              </a:rPr>
              <a:t>(Tray Icon)</a:t>
            </a:r>
            <a:endParaRPr lang="zh-TW" altLang="en-US" sz="1800" dirty="0">
              <a:solidFill>
                <a:srgbClr val="0000FF"/>
              </a:solidFill>
            </a:endParaRPr>
          </a:p>
        </p:txBody>
      </p:sp>
      <p:sp>
        <p:nvSpPr>
          <p:cNvPr id="43" name="標題 2">
            <a:extLst>
              <a:ext uri="{FF2B5EF4-FFF2-40B4-BE49-F238E27FC236}">
                <a16:creationId xmlns:a16="http://schemas.microsoft.com/office/drawing/2014/main" id="{8023B91D-D96B-4E7C-9385-2B64F834915C}"/>
              </a:ext>
            </a:extLst>
          </p:cNvPr>
          <p:cNvSpPr txBox="1">
            <a:spLocks/>
          </p:cNvSpPr>
          <p:nvPr/>
        </p:nvSpPr>
        <p:spPr>
          <a:xfrm>
            <a:off x="537039" y="3261412"/>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螢幕右下角會出現一個「盾牌圖示」。</a:t>
            </a:r>
          </a:p>
          <a:p>
            <a:pPr algn="l"/>
            <a:r>
              <a:rPr lang="zh-TW" altLang="en-US" sz="1800" dirty="0">
                <a:solidFill>
                  <a:srgbClr val="002060"/>
                </a:solidFill>
              </a:rPr>
              <a:t>      * 綠色</a:t>
            </a:r>
            <a:r>
              <a:rPr lang="en-US" altLang="zh-TW" sz="1800" dirty="0">
                <a:solidFill>
                  <a:srgbClr val="002060"/>
                </a:solidFill>
              </a:rPr>
              <a:t>/</a:t>
            </a:r>
            <a:r>
              <a:rPr lang="zh-TW" altLang="en-US" sz="1800" dirty="0">
                <a:solidFill>
                  <a:srgbClr val="002060"/>
                </a:solidFill>
              </a:rPr>
              <a:t>正常圖示：代表服務運作中。</a:t>
            </a:r>
          </a:p>
          <a:p>
            <a:pPr algn="l"/>
            <a:r>
              <a:rPr lang="zh-TW" altLang="en-US" sz="1800" dirty="0">
                <a:solidFill>
                  <a:srgbClr val="002060"/>
                </a:solidFill>
              </a:rPr>
              <a:t>      * 右鍵功能：提供 </a:t>
            </a:r>
            <a:r>
              <a:rPr lang="en-US" altLang="zh-TW" sz="1800" dirty="0">
                <a:solidFill>
                  <a:srgbClr val="002060"/>
                </a:solidFill>
              </a:rPr>
              <a:t>Open Logs (</a:t>
            </a:r>
            <a:r>
              <a:rPr lang="zh-TW" altLang="en-US" sz="1800" dirty="0">
                <a:solidFill>
                  <a:srgbClr val="002060"/>
                </a:solidFill>
              </a:rPr>
              <a:t>查看日誌</a:t>
            </a:r>
            <a:r>
              <a:rPr lang="en-US" altLang="zh-TW" sz="1800" dirty="0">
                <a:solidFill>
                  <a:srgbClr val="002060"/>
                </a:solidFill>
              </a:rPr>
              <a:t>) </a:t>
            </a:r>
            <a:r>
              <a:rPr lang="zh-TW" altLang="en-US" sz="1800" dirty="0">
                <a:solidFill>
                  <a:srgbClr val="002060"/>
                </a:solidFill>
              </a:rPr>
              <a:t>與 </a:t>
            </a:r>
            <a:r>
              <a:rPr lang="en-US" altLang="zh-TW" sz="1800" dirty="0">
                <a:solidFill>
                  <a:srgbClr val="002060"/>
                </a:solidFill>
              </a:rPr>
              <a:t>Exit Server (</a:t>
            </a:r>
            <a:r>
              <a:rPr lang="zh-TW" altLang="en-US" sz="1800" dirty="0">
                <a:solidFill>
                  <a:srgbClr val="002060"/>
                </a:solidFill>
              </a:rPr>
              <a:t>關閉伺服器</a:t>
            </a:r>
            <a:r>
              <a:rPr lang="en-US" altLang="zh-TW" sz="1800" dirty="0">
                <a:solidFill>
                  <a:srgbClr val="002060"/>
                </a:solidFill>
              </a:rPr>
              <a:t>)</a:t>
            </a:r>
            <a:r>
              <a:rPr lang="zh-TW" altLang="en-US" sz="1800" dirty="0">
                <a:solidFill>
                  <a:srgbClr val="002060"/>
                </a:solidFill>
              </a:rPr>
              <a:t>。</a:t>
            </a:r>
          </a:p>
          <a:p>
            <a:pPr algn="l"/>
            <a:r>
              <a:rPr lang="zh-TW" altLang="en-US" sz="1800" dirty="0">
                <a:solidFill>
                  <a:srgbClr val="002060"/>
                </a:solidFill>
              </a:rPr>
              <a:t>      * 注意：除非維護需要，請勿關閉伺服器，否則全工廠的領料端將會斷線。</a:t>
            </a:r>
            <a:endParaRPr lang="en-US" altLang="zh-TW" sz="1800" dirty="0">
              <a:solidFill>
                <a:srgbClr val="002060"/>
              </a:solidFill>
            </a:endParaRPr>
          </a:p>
        </p:txBody>
      </p:sp>
      <p:sp>
        <p:nvSpPr>
          <p:cNvPr id="2" name="標題 2">
            <a:extLst>
              <a:ext uri="{FF2B5EF4-FFF2-40B4-BE49-F238E27FC236}">
                <a16:creationId xmlns:a16="http://schemas.microsoft.com/office/drawing/2014/main" id="{98E699DE-C149-93F1-20EE-7783799EFED4}"/>
              </a:ext>
            </a:extLst>
          </p:cNvPr>
          <p:cNvSpPr txBox="1">
            <a:spLocks/>
          </p:cNvSpPr>
          <p:nvPr/>
        </p:nvSpPr>
        <p:spPr>
          <a:xfrm>
            <a:off x="537039" y="546476"/>
            <a:ext cx="11162053"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本系統分為「後端服務 </a:t>
            </a:r>
            <a:r>
              <a:rPr lang="en-US" altLang="zh-TW" sz="1800" dirty="0">
                <a:solidFill>
                  <a:srgbClr val="002060"/>
                </a:solidFill>
              </a:rPr>
              <a:t>(API Server)</a:t>
            </a:r>
            <a:r>
              <a:rPr lang="zh-TW" altLang="en-US" sz="1800" dirty="0">
                <a:solidFill>
                  <a:srgbClr val="002060"/>
                </a:solidFill>
              </a:rPr>
              <a:t>」與「操作介面 </a:t>
            </a:r>
            <a:r>
              <a:rPr lang="en-US" altLang="zh-TW" sz="1800" dirty="0">
                <a:solidFill>
                  <a:srgbClr val="002060"/>
                </a:solidFill>
              </a:rPr>
              <a:t>(Client)</a:t>
            </a:r>
            <a:r>
              <a:rPr lang="zh-TW" altLang="en-US" sz="1800" dirty="0">
                <a:solidFill>
                  <a:srgbClr val="002060"/>
                </a:solidFill>
              </a:rPr>
              <a:t>」。為了確保作業不中斷，後端服務已設定為自動化管理。</a:t>
            </a:r>
            <a:endParaRPr lang="en-US" altLang="zh-TW" sz="1800" dirty="0">
              <a:solidFill>
                <a:srgbClr val="002060"/>
              </a:solidFill>
            </a:endParaRPr>
          </a:p>
        </p:txBody>
      </p:sp>
      <p:pic>
        <p:nvPicPr>
          <p:cNvPr id="7" name="圖片 6" descr="7ￂﾰ￢ﾄﾃ Sunny.&#10;&#10;AI 產生的內容可能不正確。">
            <a:extLst>
              <a:ext uri="{FF2B5EF4-FFF2-40B4-BE49-F238E27FC236}">
                <a16:creationId xmlns:a16="http://schemas.microsoft.com/office/drawing/2014/main" id="{7373FD56-5055-33DB-7472-D3C227CBFEC9}"/>
              </a:ext>
            </a:extLst>
          </p:cNvPr>
          <p:cNvPicPr>
            <a:picLocks noChangeAspect="1"/>
          </p:cNvPicPr>
          <p:nvPr/>
        </p:nvPicPr>
        <p:blipFill>
          <a:blip r:embed="rId3"/>
          <a:stretch>
            <a:fillRect/>
          </a:stretch>
        </p:blipFill>
        <p:spPr>
          <a:xfrm>
            <a:off x="8402173" y="3132246"/>
            <a:ext cx="3571875" cy="2724150"/>
          </a:xfrm>
          <a:prstGeom prst="rect">
            <a:avLst/>
          </a:prstGeom>
        </p:spPr>
      </p:pic>
    </p:spTree>
    <p:extLst>
      <p:ext uri="{BB962C8B-B14F-4D97-AF65-F5344CB8AC3E}">
        <p14:creationId xmlns:p14="http://schemas.microsoft.com/office/powerpoint/2010/main" val="1547232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652B4-DD50-90DD-1372-1BAAADC3ADDF}"/>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67D0F314-0F7B-9255-14A5-96ECDE8DE331}"/>
              </a:ext>
            </a:extLst>
          </p:cNvPr>
          <p:cNvSpPr>
            <a:spLocks noGrp="1"/>
          </p:cNvSpPr>
          <p:nvPr>
            <p:ph type="title"/>
          </p:nvPr>
        </p:nvSpPr>
        <p:spPr>
          <a:xfrm>
            <a:off x="319892" y="107816"/>
            <a:ext cx="11379200" cy="461659"/>
          </a:xfrm>
        </p:spPr>
        <p:txBody>
          <a:bodyPr>
            <a:noAutofit/>
          </a:bodyPr>
          <a:lstStyle/>
          <a:p>
            <a:r>
              <a:rPr lang="zh-TW" altLang="en-US" sz="2800" dirty="0"/>
              <a:t>系統設定</a:t>
            </a:r>
            <a:r>
              <a:rPr lang="en-US" altLang="zh-TW" sz="2800" dirty="0"/>
              <a:t>(System Setting)</a:t>
            </a:r>
            <a:endParaRPr lang="zh-TW" altLang="en-US" sz="2800" dirty="0"/>
          </a:p>
        </p:txBody>
      </p:sp>
      <p:sp>
        <p:nvSpPr>
          <p:cNvPr id="53" name="標題 2">
            <a:extLst>
              <a:ext uri="{FF2B5EF4-FFF2-40B4-BE49-F238E27FC236}">
                <a16:creationId xmlns:a16="http://schemas.microsoft.com/office/drawing/2014/main" id="{F1D58291-492B-EB1C-A0F8-D422A13FC50F}"/>
              </a:ext>
            </a:extLst>
          </p:cNvPr>
          <p:cNvSpPr txBox="1">
            <a:spLocks/>
          </p:cNvSpPr>
          <p:nvPr/>
        </p:nvSpPr>
        <p:spPr>
          <a:xfrm>
            <a:off x="217952" y="1200293"/>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後端服務 </a:t>
            </a:r>
            <a:r>
              <a:rPr lang="en-US" altLang="zh-TW" sz="1800" dirty="0">
                <a:solidFill>
                  <a:srgbClr val="0000FF"/>
                </a:solidFill>
              </a:rPr>
              <a:t>(API Server)</a:t>
            </a:r>
            <a:endParaRPr lang="zh-TW" altLang="en-US" sz="1800" dirty="0">
              <a:solidFill>
                <a:srgbClr val="0000FF"/>
              </a:solidFill>
            </a:endParaRPr>
          </a:p>
        </p:txBody>
      </p:sp>
      <p:sp>
        <p:nvSpPr>
          <p:cNvPr id="22" name="標題 2">
            <a:extLst>
              <a:ext uri="{FF2B5EF4-FFF2-40B4-BE49-F238E27FC236}">
                <a16:creationId xmlns:a16="http://schemas.microsoft.com/office/drawing/2014/main" id="{9D0186C0-3D2B-922E-87F0-681CFEAC529D}"/>
              </a:ext>
            </a:extLst>
          </p:cNvPr>
          <p:cNvSpPr txBox="1">
            <a:spLocks/>
          </p:cNvSpPr>
          <p:nvPr/>
        </p:nvSpPr>
        <p:spPr>
          <a:xfrm>
            <a:off x="537039" y="1661952"/>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後端服務主要在管理資料庫，接收用戶端的連線需求，整個工廠只應存在一台。</a:t>
            </a:r>
            <a:endParaRPr lang="en-US" altLang="zh-TW" sz="1800" dirty="0">
              <a:solidFill>
                <a:srgbClr val="002060"/>
              </a:solidFill>
            </a:endParaRPr>
          </a:p>
          <a:p>
            <a:pPr marL="285750" indent="-285750" algn="l">
              <a:buFont typeface="Wingdings" panose="05000000000000000000" pitchFamily="2" charset="2"/>
              <a:buChar char="u"/>
            </a:pPr>
            <a:r>
              <a:rPr lang="zh-TW" altLang="en-US" sz="1800" dirty="0">
                <a:solidFill>
                  <a:srgbClr val="002060"/>
                </a:solidFill>
              </a:rPr>
              <a:t>後端設定檔位於資料夾內</a:t>
            </a:r>
            <a:r>
              <a:rPr lang="en-US" altLang="zh-TW" sz="1800" dirty="0">
                <a:solidFill>
                  <a:srgbClr val="002060"/>
                </a:solidFill>
              </a:rPr>
              <a:t>Config.ini</a:t>
            </a:r>
          </a:p>
          <a:p>
            <a:pPr marL="285750" indent="-285750" algn="l">
              <a:buFont typeface="Wingdings" panose="05000000000000000000" pitchFamily="2" charset="2"/>
              <a:buChar char="u"/>
            </a:pPr>
            <a:r>
              <a:rPr lang="en-US" altLang="zh-TW" sz="1800" dirty="0" err="1">
                <a:solidFill>
                  <a:srgbClr val="002060"/>
                </a:solidFill>
              </a:rPr>
              <a:t>DefaultConnection</a:t>
            </a:r>
            <a:r>
              <a:rPr lang="en-US" altLang="zh-TW" sz="1800" dirty="0">
                <a:solidFill>
                  <a:srgbClr val="002060"/>
                </a:solidFill>
              </a:rPr>
              <a:t>=Data Source : </a:t>
            </a:r>
            <a:r>
              <a:rPr lang="en-US" altLang="zh-TW" sz="1800" dirty="0" err="1">
                <a:solidFill>
                  <a:srgbClr val="002060"/>
                </a:solidFill>
              </a:rPr>
              <a:t>DataBase</a:t>
            </a:r>
            <a:r>
              <a:rPr lang="zh-TW" altLang="en-US" sz="1800" dirty="0">
                <a:solidFill>
                  <a:srgbClr val="002060"/>
                </a:solidFill>
              </a:rPr>
              <a:t>存放位置</a:t>
            </a:r>
            <a:endParaRPr lang="en-US" altLang="zh-TW" sz="1800" dirty="0">
              <a:solidFill>
                <a:srgbClr val="002060"/>
              </a:solidFill>
            </a:endParaRPr>
          </a:p>
          <a:p>
            <a:pPr marL="285750" indent="-285750" algn="l">
              <a:buFont typeface="Wingdings" panose="05000000000000000000" pitchFamily="2" charset="2"/>
              <a:buChar char="u"/>
            </a:pPr>
            <a:r>
              <a:rPr lang="en-US" altLang="zh-TW" sz="1800" dirty="0" err="1">
                <a:solidFill>
                  <a:srgbClr val="002060"/>
                </a:solidFill>
              </a:rPr>
              <a:t>Urls</a:t>
            </a:r>
            <a:r>
              <a:rPr lang="en-US" altLang="zh-TW" sz="1800" dirty="0">
                <a:solidFill>
                  <a:srgbClr val="002060"/>
                </a:solidFill>
              </a:rPr>
              <a:t> : </a:t>
            </a:r>
            <a:r>
              <a:rPr lang="zh-TW" altLang="en-US" sz="1800" dirty="0">
                <a:solidFill>
                  <a:srgbClr val="002060"/>
                </a:solidFill>
              </a:rPr>
              <a:t>後端允許連線位置，正常設為</a:t>
            </a:r>
            <a:r>
              <a:rPr lang="en-US" altLang="zh-TW" sz="1800" dirty="0">
                <a:solidFill>
                  <a:srgbClr val="002060"/>
                </a:solidFill>
                <a:hlinkClick r:id="rId3"/>
              </a:rPr>
              <a:t>http://0.0.0.0:5000</a:t>
            </a:r>
            <a:r>
              <a:rPr lang="zh-TW" altLang="en-US" sz="1800" dirty="0">
                <a:solidFill>
                  <a:srgbClr val="002060"/>
                </a:solidFill>
              </a:rPr>
              <a:t>無須更動</a:t>
            </a:r>
            <a:endParaRPr lang="en-US" altLang="zh-TW" sz="1800" dirty="0">
              <a:solidFill>
                <a:srgbClr val="002060"/>
              </a:solidFill>
            </a:endParaRPr>
          </a:p>
          <a:p>
            <a:pPr marL="285750" indent="-285750" algn="l">
              <a:buFont typeface="Wingdings" panose="05000000000000000000" pitchFamily="2" charset="2"/>
              <a:buChar char="u"/>
            </a:pPr>
            <a:r>
              <a:rPr lang="en-US" altLang="zh-TW" sz="1800" dirty="0">
                <a:solidFill>
                  <a:srgbClr val="002060"/>
                </a:solidFill>
              </a:rPr>
              <a:t>Language : </a:t>
            </a:r>
            <a:r>
              <a:rPr lang="zh-TW" altLang="en-US" sz="1800" dirty="0">
                <a:solidFill>
                  <a:srgbClr val="002060"/>
                </a:solidFill>
              </a:rPr>
              <a:t>系統語系設定，目前支援中文</a:t>
            </a:r>
            <a:r>
              <a:rPr lang="en-US" altLang="zh-TW" sz="1800" dirty="0">
                <a:solidFill>
                  <a:srgbClr val="002060"/>
                </a:solidFill>
              </a:rPr>
              <a:t>(</a:t>
            </a:r>
            <a:r>
              <a:rPr lang="en-US" altLang="zh-TW" sz="1800" dirty="0" err="1">
                <a:solidFill>
                  <a:srgbClr val="002060"/>
                </a:solidFill>
              </a:rPr>
              <a:t>zh</a:t>
            </a:r>
            <a:r>
              <a:rPr lang="en-US" altLang="zh-TW" sz="1800" dirty="0">
                <a:solidFill>
                  <a:srgbClr val="002060"/>
                </a:solidFill>
              </a:rPr>
              <a:t>-TW)</a:t>
            </a:r>
            <a:r>
              <a:rPr lang="zh-TW" altLang="en-US" sz="1800" dirty="0">
                <a:solidFill>
                  <a:srgbClr val="002060"/>
                </a:solidFill>
              </a:rPr>
              <a:t>、英文</a:t>
            </a:r>
            <a:r>
              <a:rPr lang="en-US" altLang="zh-TW" sz="1800" dirty="0">
                <a:solidFill>
                  <a:srgbClr val="002060"/>
                </a:solidFill>
              </a:rPr>
              <a:t>(</a:t>
            </a:r>
            <a:r>
              <a:rPr lang="en-US" altLang="zh-TW" sz="1800" dirty="0" err="1">
                <a:solidFill>
                  <a:srgbClr val="002060"/>
                </a:solidFill>
              </a:rPr>
              <a:t>en</a:t>
            </a:r>
            <a:r>
              <a:rPr lang="en-US" altLang="zh-TW" sz="1800" dirty="0">
                <a:solidFill>
                  <a:srgbClr val="002060"/>
                </a:solidFill>
              </a:rPr>
              <a:t>)</a:t>
            </a:r>
            <a:r>
              <a:rPr lang="zh-TW" altLang="en-US" sz="1800" dirty="0">
                <a:solidFill>
                  <a:srgbClr val="002060"/>
                </a:solidFill>
              </a:rPr>
              <a:t>、德文</a:t>
            </a:r>
            <a:r>
              <a:rPr lang="en-US" altLang="zh-TW" sz="1800" dirty="0">
                <a:solidFill>
                  <a:srgbClr val="002060"/>
                </a:solidFill>
              </a:rPr>
              <a:t>(de)</a:t>
            </a:r>
          </a:p>
          <a:p>
            <a:pPr marL="285750" indent="-285750" algn="l">
              <a:buFont typeface="Wingdings" panose="05000000000000000000" pitchFamily="2" charset="2"/>
              <a:buChar char="u"/>
            </a:pPr>
            <a:r>
              <a:rPr lang="en-US" altLang="zh-TW" sz="1800" dirty="0" err="1">
                <a:solidFill>
                  <a:srgbClr val="002060"/>
                </a:solidFill>
              </a:rPr>
              <a:t>AttachmentPath</a:t>
            </a:r>
            <a:r>
              <a:rPr lang="en-US" altLang="zh-TW" sz="1800" dirty="0">
                <a:solidFill>
                  <a:srgbClr val="002060"/>
                </a:solidFill>
              </a:rPr>
              <a:t> : </a:t>
            </a:r>
            <a:r>
              <a:rPr lang="zh-TW" altLang="en-US" sz="1800" dirty="0">
                <a:solidFill>
                  <a:srgbClr val="002060"/>
                </a:solidFill>
              </a:rPr>
              <a:t>料號附件的存放位置</a:t>
            </a:r>
            <a:endParaRPr lang="en-US" altLang="zh-TW" sz="1800" dirty="0">
              <a:solidFill>
                <a:srgbClr val="002060"/>
              </a:solidFill>
            </a:endParaRPr>
          </a:p>
          <a:p>
            <a:pPr marL="285750" indent="-285750" algn="l">
              <a:buFont typeface="Wingdings" panose="05000000000000000000" pitchFamily="2" charset="2"/>
              <a:buChar char="u"/>
            </a:pPr>
            <a:endParaRPr lang="en-US" altLang="zh-TW" sz="1800" dirty="0">
              <a:solidFill>
                <a:srgbClr val="002060"/>
              </a:solidFill>
            </a:endParaRPr>
          </a:p>
        </p:txBody>
      </p:sp>
      <p:sp>
        <p:nvSpPr>
          <p:cNvPr id="2" name="標題 2">
            <a:extLst>
              <a:ext uri="{FF2B5EF4-FFF2-40B4-BE49-F238E27FC236}">
                <a16:creationId xmlns:a16="http://schemas.microsoft.com/office/drawing/2014/main" id="{66E8546D-9B80-CE49-B7FC-AF751685F5AE}"/>
              </a:ext>
            </a:extLst>
          </p:cNvPr>
          <p:cNvSpPr txBox="1">
            <a:spLocks/>
          </p:cNvSpPr>
          <p:nvPr/>
        </p:nvSpPr>
        <p:spPr>
          <a:xfrm>
            <a:off x="537039" y="546476"/>
            <a:ext cx="11162053"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本系統分為「後端服務 </a:t>
            </a:r>
            <a:r>
              <a:rPr lang="en-US" altLang="zh-TW" sz="1800" dirty="0">
                <a:solidFill>
                  <a:srgbClr val="002060"/>
                </a:solidFill>
              </a:rPr>
              <a:t>(API Server)</a:t>
            </a:r>
            <a:r>
              <a:rPr lang="zh-TW" altLang="en-US" sz="1800" dirty="0">
                <a:solidFill>
                  <a:srgbClr val="002060"/>
                </a:solidFill>
              </a:rPr>
              <a:t>」與「用戶端</a:t>
            </a:r>
            <a:r>
              <a:rPr lang="en-US" altLang="zh-TW" sz="1800" dirty="0">
                <a:solidFill>
                  <a:srgbClr val="002060"/>
                </a:solidFill>
              </a:rPr>
              <a:t>(Client)</a:t>
            </a:r>
            <a:r>
              <a:rPr lang="zh-TW" altLang="en-US" sz="1800" dirty="0">
                <a:solidFill>
                  <a:srgbClr val="002060"/>
                </a:solidFill>
              </a:rPr>
              <a:t>」。為了確保作業不中斷，後端服務已設定為自動化管理。</a:t>
            </a:r>
            <a:endParaRPr lang="en-US" altLang="zh-TW" sz="1800" dirty="0">
              <a:solidFill>
                <a:srgbClr val="002060"/>
              </a:solidFill>
            </a:endParaRPr>
          </a:p>
        </p:txBody>
      </p:sp>
      <p:pic>
        <p:nvPicPr>
          <p:cNvPr id="5" name="圖片 4" descr="The image displays a configuration for a PartsManager API server, including connection strings, network information, and system settings.&#10;&#10;AI 產生的內容可能不正確。">
            <a:extLst>
              <a:ext uri="{FF2B5EF4-FFF2-40B4-BE49-F238E27FC236}">
                <a16:creationId xmlns:a16="http://schemas.microsoft.com/office/drawing/2014/main" id="{30DD1355-25C1-9CCB-9F31-EA07E4A124A8}"/>
              </a:ext>
            </a:extLst>
          </p:cNvPr>
          <p:cNvPicPr>
            <a:picLocks noChangeAspect="1"/>
          </p:cNvPicPr>
          <p:nvPr/>
        </p:nvPicPr>
        <p:blipFill>
          <a:blip r:embed="rId4"/>
          <a:stretch>
            <a:fillRect/>
          </a:stretch>
        </p:blipFill>
        <p:spPr>
          <a:xfrm>
            <a:off x="2496312" y="3429000"/>
            <a:ext cx="6065429" cy="3067573"/>
          </a:xfrm>
          <a:prstGeom prst="rect">
            <a:avLst/>
          </a:prstGeom>
        </p:spPr>
      </p:pic>
    </p:spTree>
    <p:extLst>
      <p:ext uri="{BB962C8B-B14F-4D97-AF65-F5344CB8AC3E}">
        <p14:creationId xmlns:p14="http://schemas.microsoft.com/office/powerpoint/2010/main" val="665868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9ADCA-4CFD-C13B-388C-A44B35EBA70E}"/>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FEC18BF5-3A91-0ECF-C96D-B8A2F7881E4F}"/>
              </a:ext>
            </a:extLst>
          </p:cNvPr>
          <p:cNvSpPr>
            <a:spLocks noGrp="1"/>
          </p:cNvSpPr>
          <p:nvPr>
            <p:ph type="title"/>
          </p:nvPr>
        </p:nvSpPr>
        <p:spPr>
          <a:xfrm>
            <a:off x="319892" y="107816"/>
            <a:ext cx="11379200" cy="461659"/>
          </a:xfrm>
        </p:spPr>
        <p:txBody>
          <a:bodyPr>
            <a:noAutofit/>
          </a:bodyPr>
          <a:lstStyle/>
          <a:p>
            <a:r>
              <a:rPr lang="zh-TW" altLang="en-US" sz="2800" dirty="0"/>
              <a:t>系統設定</a:t>
            </a:r>
            <a:r>
              <a:rPr lang="en-US" altLang="zh-TW" sz="2800" dirty="0"/>
              <a:t>(System Setting)</a:t>
            </a:r>
            <a:endParaRPr lang="zh-TW" altLang="en-US" sz="2800" dirty="0"/>
          </a:p>
        </p:txBody>
      </p:sp>
      <p:sp>
        <p:nvSpPr>
          <p:cNvPr id="35" name="標題 2">
            <a:extLst>
              <a:ext uri="{FF2B5EF4-FFF2-40B4-BE49-F238E27FC236}">
                <a16:creationId xmlns:a16="http://schemas.microsoft.com/office/drawing/2014/main" id="{E0B6479F-9213-480E-0CD6-CFF621C1323D}"/>
              </a:ext>
            </a:extLst>
          </p:cNvPr>
          <p:cNvSpPr txBox="1">
            <a:spLocks/>
          </p:cNvSpPr>
          <p:nvPr/>
        </p:nvSpPr>
        <p:spPr>
          <a:xfrm>
            <a:off x="208525" y="1193390"/>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2.</a:t>
            </a:r>
            <a:r>
              <a:rPr lang="zh-TW" altLang="en-US" sz="1800" dirty="0">
                <a:solidFill>
                  <a:srgbClr val="002060"/>
                </a:solidFill>
              </a:rPr>
              <a:t> </a:t>
            </a:r>
            <a:r>
              <a:rPr lang="zh-TW" altLang="en-US" sz="1800" dirty="0">
                <a:solidFill>
                  <a:srgbClr val="0000FF"/>
                </a:solidFill>
              </a:rPr>
              <a:t>用戶端</a:t>
            </a:r>
            <a:r>
              <a:rPr lang="en-US" altLang="zh-TW" sz="1800" dirty="0">
                <a:solidFill>
                  <a:srgbClr val="0000FF"/>
                </a:solidFill>
              </a:rPr>
              <a:t>(Client)</a:t>
            </a:r>
            <a:endParaRPr lang="zh-TW" altLang="en-US" sz="1800" dirty="0">
              <a:solidFill>
                <a:srgbClr val="0000FF"/>
              </a:solidFill>
            </a:endParaRPr>
          </a:p>
        </p:txBody>
      </p:sp>
      <p:sp>
        <p:nvSpPr>
          <p:cNvPr id="2" name="標題 2">
            <a:extLst>
              <a:ext uri="{FF2B5EF4-FFF2-40B4-BE49-F238E27FC236}">
                <a16:creationId xmlns:a16="http://schemas.microsoft.com/office/drawing/2014/main" id="{1587DF81-3F7D-51ED-BC05-B5333DB43B43}"/>
              </a:ext>
            </a:extLst>
          </p:cNvPr>
          <p:cNvSpPr txBox="1">
            <a:spLocks/>
          </p:cNvSpPr>
          <p:nvPr/>
        </p:nvSpPr>
        <p:spPr>
          <a:xfrm>
            <a:off x="537039" y="546476"/>
            <a:ext cx="11162053"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本系統分為「後端服務 </a:t>
            </a:r>
            <a:r>
              <a:rPr lang="en-US" altLang="zh-TW" sz="1800" dirty="0">
                <a:solidFill>
                  <a:srgbClr val="002060"/>
                </a:solidFill>
              </a:rPr>
              <a:t>(API Server)</a:t>
            </a:r>
            <a:r>
              <a:rPr lang="zh-TW" altLang="en-US" sz="1800" dirty="0">
                <a:solidFill>
                  <a:srgbClr val="002060"/>
                </a:solidFill>
              </a:rPr>
              <a:t>」與「用戶端</a:t>
            </a:r>
            <a:r>
              <a:rPr lang="en-US" altLang="zh-TW" sz="1800" dirty="0">
                <a:solidFill>
                  <a:srgbClr val="002060"/>
                </a:solidFill>
              </a:rPr>
              <a:t>(Client)</a:t>
            </a:r>
            <a:r>
              <a:rPr lang="zh-TW" altLang="en-US" sz="1800" dirty="0">
                <a:solidFill>
                  <a:srgbClr val="002060"/>
                </a:solidFill>
              </a:rPr>
              <a:t>」。為了確保作業不中斷，後端服務已設定為自動化管理。</a:t>
            </a:r>
            <a:endParaRPr lang="en-US" altLang="zh-TW" sz="1800" dirty="0">
              <a:solidFill>
                <a:srgbClr val="002060"/>
              </a:solidFill>
            </a:endParaRPr>
          </a:p>
        </p:txBody>
      </p:sp>
      <p:pic>
        <p:nvPicPr>
          <p:cNvPr id="6" name="圖片 5" descr="The diagram shows a configuration for a Parts Manager Client with network settings, system language, and inventory options.&#10;&#10;AI 產生的內容可能不正確。">
            <a:extLst>
              <a:ext uri="{FF2B5EF4-FFF2-40B4-BE49-F238E27FC236}">
                <a16:creationId xmlns:a16="http://schemas.microsoft.com/office/drawing/2014/main" id="{6CB2BC96-D29D-2635-95F9-9FD0C02A1B4C}"/>
              </a:ext>
            </a:extLst>
          </p:cNvPr>
          <p:cNvPicPr>
            <a:picLocks noChangeAspect="1"/>
          </p:cNvPicPr>
          <p:nvPr/>
        </p:nvPicPr>
        <p:blipFill>
          <a:blip r:embed="rId3"/>
          <a:stretch>
            <a:fillRect/>
          </a:stretch>
        </p:blipFill>
        <p:spPr>
          <a:xfrm>
            <a:off x="6555396" y="3056510"/>
            <a:ext cx="5143696" cy="3614489"/>
          </a:xfrm>
          <a:prstGeom prst="rect">
            <a:avLst/>
          </a:prstGeom>
        </p:spPr>
      </p:pic>
      <p:sp>
        <p:nvSpPr>
          <p:cNvPr id="7" name="標題 2">
            <a:extLst>
              <a:ext uri="{FF2B5EF4-FFF2-40B4-BE49-F238E27FC236}">
                <a16:creationId xmlns:a16="http://schemas.microsoft.com/office/drawing/2014/main" id="{BAF6F0C8-5D97-98DC-6943-1B49F09C40A5}"/>
              </a:ext>
            </a:extLst>
          </p:cNvPr>
          <p:cNvSpPr txBox="1">
            <a:spLocks/>
          </p:cNvSpPr>
          <p:nvPr/>
        </p:nvSpPr>
        <p:spPr>
          <a:xfrm>
            <a:off x="537039" y="1661952"/>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用戶端主要在提供介面執行領料、入庫等作業行為，整個工廠可存在多台。</a:t>
            </a:r>
            <a:endParaRPr lang="en-US" altLang="zh-TW" sz="1800" dirty="0">
              <a:solidFill>
                <a:srgbClr val="002060"/>
              </a:solidFill>
            </a:endParaRPr>
          </a:p>
          <a:p>
            <a:pPr marL="285750" indent="-285750" algn="l">
              <a:buFont typeface="Wingdings" panose="05000000000000000000" pitchFamily="2" charset="2"/>
              <a:buChar char="u"/>
            </a:pPr>
            <a:r>
              <a:rPr lang="zh-TW" altLang="en-US" sz="1800" dirty="0">
                <a:solidFill>
                  <a:srgbClr val="002060"/>
                </a:solidFill>
              </a:rPr>
              <a:t>用戶端設定檔位於資料夾內</a:t>
            </a:r>
            <a:r>
              <a:rPr lang="en-US" altLang="zh-TW" sz="1800" dirty="0">
                <a:solidFill>
                  <a:srgbClr val="002060"/>
                </a:solidFill>
              </a:rPr>
              <a:t>Config.ini</a:t>
            </a:r>
          </a:p>
          <a:p>
            <a:pPr marL="285750" indent="-285750" algn="l">
              <a:buFont typeface="Wingdings" panose="05000000000000000000" pitchFamily="2" charset="2"/>
              <a:buChar char="u"/>
            </a:pPr>
            <a:r>
              <a:rPr lang="en-US" altLang="zh-TW" sz="1800" dirty="0" err="1">
                <a:solidFill>
                  <a:srgbClr val="002060"/>
                </a:solidFill>
              </a:rPr>
              <a:t>ServerIP</a:t>
            </a:r>
            <a:r>
              <a:rPr lang="en-US" altLang="zh-TW" sz="1800" dirty="0">
                <a:solidFill>
                  <a:srgbClr val="002060"/>
                </a:solidFill>
              </a:rPr>
              <a:t> : </a:t>
            </a:r>
            <a:r>
              <a:rPr lang="zh-TW" altLang="en-US" sz="1800" dirty="0">
                <a:solidFill>
                  <a:srgbClr val="002060"/>
                </a:solidFill>
              </a:rPr>
              <a:t>後端</a:t>
            </a:r>
            <a:r>
              <a:rPr lang="en-US" altLang="zh-TW" sz="1800" dirty="0">
                <a:solidFill>
                  <a:srgbClr val="002060"/>
                </a:solidFill>
              </a:rPr>
              <a:t>Server</a:t>
            </a:r>
            <a:r>
              <a:rPr lang="zh-TW" altLang="en-US" sz="1800" dirty="0">
                <a:solidFill>
                  <a:srgbClr val="002060"/>
                </a:solidFill>
              </a:rPr>
              <a:t>的</a:t>
            </a:r>
            <a:r>
              <a:rPr lang="en-US" altLang="zh-TW" sz="1800" dirty="0">
                <a:solidFill>
                  <a:srgbClr val="002060"/>
                </a:solidFill>
              </a:rPr>
              <a:t>IP</a:t>
            </a:r>
          </a:p>
          <a:p>
            <a:pPr marL="285750" indent="-285750" algn="l">
              <a:buFont typeface="Wingdings" panose="05000000000000000000" pitchFamily="2" charset="2"/>
              <a:buChar char="u"/>
            </a:pPr>
            <a:r>
              <a:rPr lang="en-US" altLang="zh-TW" sz="1800" dirty="0" err="1">
                <a:solidFill>
                  <a:srgbClr val="002060"/>
                </a:solidFill>
              </a:rPr>
              <a:t>ServerPort</a:t>
            </a:r>
            <a:r>
              <a:rPr lang="en-US" altLang="zh-TW" sz="1800" dirty="0">
                <a:solidFill>
                  <a:srgbClr val="002060"/>
                </a:solidFill>
              </a:rPr>
              <a:t> : </a:t>
            </a:r>
            <a:r>
              <a:rPr lang="zh-TW" altLang="en-US" sz="1800" dirty="0">
                <a:solidFill>
                  <a:srgbClr val="002060"/>
                </a:solidFill>
              </a:rPr>
              <a:t>後端</a:t>
            </a:r>
            <a:r>
              <a:rPr lang="en-US" altLang="zh-TW" sz="1800" dirty="0">
                <a:solidFill>
                  <a:srgbClr val="002060"/>
                </a:solidFill>
              </a:rPr>
              <a:t>Server</a:t>
            </a:r>
            <a:r>
              <a:rPr lang="zh-TW" altLang="en-US" sz="1800" dirty="0">
                <a:solidFill>
                  <a:srgbClr val="002060"/>
                </a:solidFill>
              </a:rPr>
              <a:t>的</a:t>
            </a:r>
            <a:r>
              <a:rPr lang="en-US" altLang="zh-TW" sz="1800" dirty="0">
                <a:solidFill>
                  <a:srgbClr val="002060"/>
                </a:solidFill>
              </a:rPr>
              <a:t>Port</a:t>
            </a:r>
            <a:r>
              <a:rPr lang="zh-TW" altLang="en-US" sz="1800" dirty="0">
                <a:solidFill>
                  <a:srgbClr val="002060"/>
                </a:solidFill>
              </a:rPr>
              <a:t>，預設是</a:t>
            </a:r>
            <a:r>
              <a:rPr lang="en-US" altLang="zh-TW" sz="1800" dirty="0">
                <a:solidFill>
                  <a:srgbClr val="002060"/>
                </a:solidFill>
              </a:rPr>
              <a:t>5000</a:t>
            </a:r>
          </a:p>
          <a:p>
            <a:pPr marL="285750" indent="-285750" algn="l">
              <a:buFont typeface="Wingdings" panose="05000000000000000000" pitchFamily="2" charset="2"/>
              <a:buChar char="u"/>
            </a:pPr>
            <a:r>
              <a:rPr lang="en-US" altLang="zh-TW" sz="1800" dirty="0">
                <a:solidFill>
                  <a:srgbClr val="002060"/>
                </a:solidFill>
              </a:rPr>
              <a:t>Language : </a:t>
            </a:r>
            <a:r>
              <a:rPr lang="zh-TW" altLang="en-US" sz="1800" dirty="0">
                <a:solidFill>
                  <a:srgbClr val="002060"/>
                </a:solidFill>
              </a:rPr>
              <a:t>系統語系設定，目前支援中文</a:t>
            </a:r>
            <a:r>
              <a:rPr lang="en-US" altLang="zh-TW" sz="1800" dirty="0">
                <a:solidFill>
                  <a:srgbClr val="002060"/>
                </a:solidFill>
              </a:rPr>
              <a:t>(</a:t>
            </a:r>
            <a:r>
              <a:rPr lang="en-US" altLang="zh-TW" sz="1800" dirty="0" err="1">
                <a:solidFill>
                  <a:srgbClr val="002060"/>
                </a:solidFill>
              </a:rPr>
              <a:t>zh</a:t>
            </a:r>
            <a:r>
              <a:rPr lang="en-US" altLang="zh-TW" sz="1800" dirty="0">
                <a:solidFill>
                  <a:srgbClr val="002060"/>
                </a:solidFill>
              </a:rPr>
              <a:t>-TW)</a:t>
            </a:r>
            <a:r>
              <a:rPr lang="zh-TW" altLang="en-US" sz="1800" dirty="0">
                <a:solidFill>
                  <a:srgbClr val="002060"/>
                </a:solidFill>
              </a:rPr>
              <a:t>、英文</a:t>
            </a:r>
            <a:r>
              <a:rPr lang="en-US" altLang="zh-TW" sz="1800" dirty="0">
                <a:solidFill>
                  <a:srgbClr val="002060"/>
                </a:solidFill>
              </a:rPr>
              <a:t>(</a:t>
            </a:r>
            <a:r>
              <a:rPr lang="en-US" altLang="zh-TW" sz="1800" dirty="0" err="1">
                <a:solidFill>
                  <a:srgbClr val="002060"/>
                </a:solidFill>
              </a:rPr>
              <a:t>en</a:t>
            </a:r>
            <a:r>
              <a:rPr lang="en-US" altLang="zh-TW" sz="1800" dirty="0">
                <a:solidFill>
                  <a:srgbClr val="002060"/>
                </a:solidFill>
              </a:rPr>
              <a:t>)</a:t>
            </a:r>
            <a:r>
              <a:rPr lang="zh-TW" altLang="en-US" sz="1800" dirty="0">
                <a:solidFill>
                  <a:srgbClr val="002060"/>
                </a:solidFill>
              </a:rPr>
              <a:t>、德文</a:t>
            </a:r>
            <a:r>
              <a:rPr lang="en-US" altLang="zh-TW" sz="1800" dirty="0">
                <a:solidFill>
                  <a:srgbClr val="002060"/>
                </a:solidFill>
              </a:rPr>
              <a:t>(de)</a:t>
            </a:r>
          </a:p>
          <a:p>
            <a:pPr marL="285750" indent="-285750" algn="l">
              <a:buFont typeface="Wingdings" panose="05000000000000000000" pitchFamily="2" charset="2"/>
              <a:buChar char="u"/>
            </a:pPr>
            <a:r>
              <a:rPr lang="en-US" altLang="zh-TW" sz="1800" dirty="0" err="1">
                <a:solidFill>
                  <a:srgbClr val="002060"/>
                </a:solidFill>
              </a:rPr>
              <a:t>AutoLogoutMinutes</a:t>
            </a:r>
            <a:r>
              <a:rPr lang="zh-TW" altLang="en-US" sz="1800" dirty="0">
                <a:solidFill>
                  <a:srgbClr val="002060"/>
                </a:solidFill>
              </a:rPr>
              <a:t> </a:t>
            </a:r>
            <a:r>
              <a:rPr lang="en-US" altLang="zh-TW" sz="1800" dirty="0">
                <a:solidFill>
                  <a:srgbClr val="002060"/>
                </a:solidFill>
              </a:rPr>
              <a:t>:</a:t>
            </a:r>
            <a:r>
              <a:rPr lang="zh-TW" altLang="en-US" sz="1800" dirty="0">
                <a:solidFill>
                  <a:srgbClr val="002060"/>
                </a:solidFill>
              </a:rPr>
              <a:t> 閒置多久後自動登出</a:t>
            </a:r>
            <a:endParaRPr lang="en-US" altLang="zh-TW" sz="1800" dirty="0">
              <a:solidFill>
                <a:srgbClr val="002060"/>
              </a:solidFill>
            </a:endParaRPr>
          </a:p>
          <a:p>
            <a:pPr marL="285750" indent="-285750" algn="l">
              <a:buFont typeface="Wingdings" panose="05000000000000000000" pitchFamily="2" charset="2"/>
              <a:buChar char="u"/>
            </a:pPr>
            <a:endParaRPr lang="en-US" altLang="zh-TW" sz="1800" dirty="0">
              <a:solidFill>
                <a:srgbClr val="002060"/>
              </a:solidFill>
            </a:endParaRPr>
          </a:p>
        </p:txBody>
      </p:sp>
    </p:spTree>
    <p:extLst>
      <p:ext uri="{BB962C8B-B14F-4D97-AF65-F5344CB8AC3E}">
        <p14:creationId xmlns:p14="http://schemas.microsoft.com/office/powerpoint/2010/main" val="1582073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5F7DB-5684-7480-E779-3A75F01263FA}"/>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A98C3E96-18AF-E4F4-7623-1DE90DE57B35}"/>
              </a:ext>
            </a:extLst>
          </p:cNvPr>
          <p:cNvSpPr>
            <a:spLocks noGrp="1"/>
          </p:cNvSpPr>
          <p:nvPr>
            <p:ph type="title"/>
          </p:nvPr>
        </p:nvSpPr>
        <p:spPr>
          <a:xfrm>
            <a:off x="319892" y="107816"/>
            <a:ext cx="11379200" cy="461659"/>
          </a:xfrm>
        </p:spPr>
        <p:txBody>
          <a:bodyPr>
            <a:noAutofit/>
          </a:bodyPr>
          <a:lstStyle/>
          <a:p>
            <a:r>
              <a:rPr lang="zh-TW" altLang="en-US" sz="2800" dirty="0"/>
              <a:t>使用者權限等級 </a:t>
            </a:r>
            <a:r>
              <a:rPr lang="en-US" altLang="zh-TW" sz="2800" dirty="0"/>
              <a:t>(User Access Levels)</a:t>
            </a:r>
            <a:endParaRPr lang="zh-TW" altLang="en-US" sz="2800" dirty="0"/>
          </a:p>
        </p:txBody>
      </p:sp>
      <p:sp>
        <p:nvSpPr>
          <p:cNvPr id="2" name="標題 2">
            <a:extLst>
              <a:ext uri="{FF2B5EF4-FFF2-40B4-BE49-F238E27FC236}">
                <a16:creationId xmlns:a16="http://schemas.microsoft.com/office/drawing/2014/main" id="{BE0914B9-6200-C274-A9C1-855852E20516}"/>
              </a:ext>
            </a:extLst>
          </p:cNvPr>
          <p:cNvSpPr txBox="1">
            <a:spLocks/>
          </p:cNvSpPr>
          <p:nvPr/>
        </p:nvSpPr>
        <p:spPr>
          <a:xfrm>
            <a:off x="537039" y="546476"/>
            <a:ext cx="11162053"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系統區分四個權限等級，確保資料安全且操作介面簡潔。等級數字越小，權限越高。</a:t>
            </a:r>
            <a:endParaRPr lang="en-US" altLang="zh-TW" sz="1800" dirty="0">
              <a:solidFill>
                <a:srgbClr val="002060"/>
              </a:solidFill>
            </a:endParaRPr>
          </a:p>
        </p:txBody>
      </p:sp>
      <p:graphicFrame>
        <p:nvGraphicFramePr>
          <p:cNvPr id="4" name="表格 3">
            <a:extLst>
              <a:ext uri="{FF2B5EF4-FFF2-40B4-BE49-F238E27FC236}">
                <a16:creationId xmlns:a16="http://schemas.microsoft.com/office/drawing/2014/main" id="{9D2B62DF-E2CE-52C4-4DFB-E2A809980A23}"/>
              </a:ext>
            </a:extLst>
          </p:cNvPr>
          <p:cNvGraphicFramePr>
            <a:graphicFrameLocks noGrp="1"/>
          </p:cNvGraphicFramePr>
          <p:nvPr>
            <p:extLst>
              <p:ext uri="{D42A27DB-BD31-4B8C-83A1-F6EECF244321}">
                <p14:modId xmlns:p14="http://schemas.microsoft.com/office/powerpoint/2010/main" val="3781217871"/>
              </p:ext>
            </p:extLst>
          </p:nvPr>
        </p:nvGraphicFramePr>
        <p:xfrm>
          <a:off x="1297352" y="1729344"/>
          <a:ext cx="9424280" cy="2062480"/>
        </p:xfrm>
        <a:graphic>
          <a:graphicData uri="http://schemas.openxmlformats.org/drawingml/2006/table">
            <a:tbl>
              <a:tblPr firstRow="1" bandRow="1">
                <a:tableStyleId>{5C22544A-7EE6-4342-B048-85BDC9FD1C3A}</a:tableStyleId>
              </a:tblPr>
              <a:tblGrid>
                <a:gridCol w="1361663">
                  <a:extLst>
                    <a:ext uri="{9D8B030D-6E8A-4147-A177-3AD203B41FA5}">
                      <a16:colId xmlns:a16="http://schemas.microsoft.com/office/drawing/2014/main" val="4106553782"/>
                    </a:ext>
                  </a:extLst>
                </a:gridCol>
                <a:gridCol w="3073366">
                  <a:extLst>
                    <a:ext uri="{9D8B030D-6E8A-4147-A177-3AD203B41FA5}">
                      <a16:colId xmlns:a16="http://schemas.microsoft.com/office/drawing/2014/main" val="246725681"/>
                    </a:ext>
                  </a:extLst>
                </a:gridCol>
                <a:gridCol w="4989251">
                  <a:extLst>
                    <a:ext uri="{9D8B030D-6E8A-4147-A177-3AD203B41FA5}">
                      <a16:colId xmlns:a16="http://schemas.microsoft.com/office/drawing/2014/main" val="1886333170"/>
                    </a:ext>
                  </a:extLst>
                </a:gridCol>
              </a:tblGrid>
              <a:tr h="370840">
                <a:tc>
                  <a:txBody>
                    <a:bodyPr/>
                    <a:lstStyle/>
                    <a:p>
                      <a:pPr algn="ctr"/>
                      <a:r>
                        <a:rPr lang="zh-TW" altLang="en-US" sz="1600" dirty="0">
                          <a:solidFill>
                            <a:schemeClr val="tx1"/>
                          </a:solidFill>
                        </a:rPr>
                        <a:t>等級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600" dirty="0">
                          <a:solidFill>
                            <a:schemeClr val="tx1"/>
                          </a:solidFill>
                        </a:rPr>
                        <a:t>權限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600" dirty="0">
                          <a:solidFill>
                            <a:schemeClr val="tx1"/>
                          </a:solidFill>
                        </a:rPr>
                        <a:t>可見功能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6586635"/>
                  </a:ext>
                </a:extLst>
              </a:tr>
              <a:tr h="370840">
                <a:tc>
                  <a:txBody>
                    <a:bodyPr/>
                    <a:lstStyle/>
                    <a:p>
                      <a:pPr algn="ctr"/>
                      <a:r>
                        <a:rPr lang="en-US" altLang="zh-TW" sz="1600" dirty="0">
                          <a:solidFill>
                            <a:schemeClr val="tx1"/>
                          </a:solidFill>
                        </a:rPr>
                        <a:t>1</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solidFill>
                            <a:schemeClr val="tx1"/>
                          </a:solidFill>
                        </a:rPr>
                        <a:t>最高權限，可管理使用者帳號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solidFill>
                            <a:schemeClr val="tx1"/>
                          </a:solidFill>
                        </a:rPr>
                        <a:t>全部按鈕 </a:t>
                      </a:r>
                      <a:r>
                        <a:rPr lang="en-US" altLang="zh-TW" sz="1600" dirty="0">
                          <a:solidFill>
                            <a:schemeClr val="tx1"/>
                          </a:solidFill>
                        </a:rPr>
                        <a:t>(</a:t>
                      </a:r>
                      <a:r>
                        <a:rPr lang="zh-TW" altLang="en-US" sz="1600" dirty="0">
                          <a:solidFill>
                            <a:schemeClr val="tx1"/>
                          </a:solidFill>
                        </a:rPr>
                        <a:t>含使用者管理</a:t>
                      </a:r>
                      <a:r>
                        <a:rPr lang="en-US" altLang="zh-TW" sz="1600" dirty="0">
                          <a:solidFill>
                            <a:schemeClr val="tx1"/>
                          </a:solidFill>
                        </a:rPr>
                        <a:t>)</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6098634"/>
                  </a:ext>
                </a:extLst>
              </a:tr>
              <a:tr h="370840">
                <a:tc>
                  <a:txBody>
                    <a:bodyPr/>
                    <a:lstStyle/>
                    <a:p>
                      <a:pPr algn="ctr"/>
                      <a:r>
                        <a:rPr lang="en-US" altLang="zh-TW" sz="1600" dirty="0">
                          <a:solidFill>
                            <a:schemeClr val="tx1"/>
                          </a:solidFill>
                        </a:rPr>
                        <a:t>2</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solidFill>
                            <a:schemeClr val="tx1"/>
                          </a:solidFill>
                        </a:rPr>
                        <a:t>可建立、修改物料主檔與規格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solidFill>
                            <a:schemeClr val="tx1"/>
                          </a:solidFill>
                        </a:rPr>
                        <a:t>除了使用者管理外的所有按鈕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12905984"/>
                  </a:ext>
                </a:extLst>
              </a:tr>
              <a:tr h="370840">
                <a:tc>
                  <a:txBody>
                    <a:bodyPr/>
                    <a:lstStyle/>
                    <a:p>
                      <a:pPr algn="ctr"/>
                      <a:r>
                        <a:rPr lang="en-US" altLang="zh-TW" sz="1600" dirty="0">
                          <a:solidFill>
                            <a:schemeClr val="tx1"/>
                          </a:solidFill>
                        </a:rPr>
                        <a:t>3</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solidFill>
                            <a:schemeClr val="tx1"/>
                          </a:solidFill>
                        </a:rPr>
                        <a:t>執行日常進出庫、查詢、看警報</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solidFill>
                            <a:schemeClr val="tx1"/>
                          </a:solidFill>
                        </a:rPr>
                        <a:t>入庫、庫存查詢、低水位看板、領料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3935677"/>
                  </a:ext>
                </a:extLst>
              </a:tr>
              <a:tr h="370840">
                <a:tc>
                  <a:txBody>
                    <a:bodyPr/>
                    <a:lstStyle/>
                    <a:p>
                      <a:pPr algn="ctr"/>
                      <a:r>
                        <a:rPr lang="en-US" altLang="zh-TW" sz="1600" dirty="0">
                          <a:solidFill>
                            <a:schemeClr val="tx1"/>
                          </a:solidFill>
                        </a:rPr>
                        <a:t>4</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solidFill>
                            <a:schemeClr val="tx1"/>
                          </a:solidFill>
                        </a:rPr>
                        <a:t>僅限在主畫面執行領料過帳與庫存查詢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1600" dirty="0">
                          <a:solidFill>
                            <a:schemeClr val="tx1"/>
                          </a:solidFill>
                        </a:rPr>
                        <a:t>庫存查詢、領料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5648180"/>
                  </a:ext>
                </a:extLst>
              </a:tr>
            </a:tbl>
          </a:graphicData>
        </a:graphic>
      </p:graphicFrame>
    </p:spTree>
    <p:extLst>
      <p:ext uri="{BB962C8B-B14F-4D97-AF65-F5344CB8AC3E}">
        <p14:creationId xmlns:p14="http://schemas.microsoft.com/office/powerpoint/2010/main" val="1725905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C30A3-5E3C-9304-B464-F2E9D3B30F46}"/>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7A222034-2117-4C14-91EF-518C53A0CDC0}"/>
              </a:ext>
            </a:extLst>
          </p:cNvPr>
          <p:cNvPicPr>
            <a:picLocks noChangeAspect="1"/>
          </p:cNvPicPr>
          <p:nvPr/>
        </p:nvPicPr>
        <p:blipFill>
          <a:blip r:embed="rId3"/>
          <a:stretch>
            <a:fillRect/>
          </a:stretch>
        </p:blipFill>
        <p:spPr>
          <a:xfrm>
            <a:off x="7824787" y="1620860"/>
            <a:ext cx="3248025" cy="4886325"/>
          </a:xfrm>
          <a:prstGeom prst="rect">
            <a:avLst/>
          </a:prstGeom>
        </p:spPr>
      </p:pic>
      <p:sp>
        <p:nvSpPr>
          <p:cNvPr id="3" name="標題 2">
            <a:extLst>
              <a:ext uri="{FF2B5EF4-FFF2-40B4-BE49-F238E27FC236}">
                <a16:creationId xmlns:a16="http://schemas.microsoft.com/office/drawing/2014/main" id="{330AC778-A75E-4B3B-B7EE-64A0226D86B7}"/>
              </a:ext>
            </a:extLst>
          </p:cNvPr>
          <p:cNvSpPr>
            <a:spLocks noGrp="1"/>
          </p:cNvSpPr>
          <p:nvPr>
            <p:ph type="title"/>
          </p:nvPr>
        </p:nvSpPr>
        <p:spPr>
          <a:xfrm>
            <a:off x="319892" y="107816"/>
            <a:ext cx="11379200" cy="461659"/>
          </a:xfrm>
        </p:spPr>
        <p:txBody>
          <a:bodyPr>
            <a:noAutofit/>
          </a:bodyPr>
          <a:lstStyle/>
          <a:p>
            <a:r>
              <a:rPr lang="zh-TW" altLang="en-US" sz="2800" dirty="0"/>
              <a:t>系統登入</a:t>
            </a:r>
            <a:r>
              <a:rPr lang="en-US" altLang="zh-TW" sz="2800" dirty="0"/>
              <a:t>(System Login)</a:t>
            </a:r>
            <a:endParaRPr lang="zh-TW" altLang="en-US" sz="2800" dirty="0"/>
          </a:p>
        </p:txBody>
      </p:sp>
      <p:sp>
        <p:nvSpPr>
          <p:cNvPr id="53" name="標題 2">
            <a:extLst>
              <a:ext uri="{FF2B5EF4-FFF2-40B4-BE49-F238E27FC236}">
                <a16:creationId xmlns:a16="http://schemas.microsoft.com/office/drawing/2014/main" id="{223A83BF-FA63-8E7E-746A-499ECB7C30D2}"/>
              </a:ext>
            </a:extLst>
          </p:cNvPr>
          <p:cNvSpPr txBox="1">
            <a:spLocks/>
          </p:cNvSpPr>
          <p:nvPr/>
        </p:nvSpPr>
        <p:spPr>
          <a:xfrm>
            <a:off x="217952" y="490075"/>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 登入</a:t>
            </a:r>
          </a:p>
        </p:txBody>
      </p:sp>
      <p:sp>
        <p:nvSpPr>
          <p:cNvPr id="22" name="標題 2">
            <a:extLst>
              <a:ext uri="{FF2B5EF4-FFF2-40B4-BE49-F238E27FC236}">
                <a16:creationId xmlns:a16="http://schemas.microsoft.com/office/drawing/2014/main" id="{4BDF6F7B-00EF-58E5-EE95-7B9488F6884C}"/>
              </a:ext>
            </a:extLst>
          </p:cNvPr>
          <p:cNvSpPr txBox="1">
            <a:spLocks/>
          </p:cNvSpPr>
          <p:nvPr/>
        </p:nvSpPr>
        <p:spPr>
          <a:xfrm>
            <a:off x="537039" y="951734"/>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Font typeface="+mj-lt"/>
              <a:buAutoNum type="arabicPeriod"/>
            </a:pPr>
            <a:r>
              <a:rPr lang="zh-TW" altLang="en-US" sz="1800" dirty="0">
                <a:solidFill>
                  <a:srgbClr val="002060"/>
                </a:solidFill>
              </a:rPr>
              <a:t>輸入使用者名稱</a:t>
            </a:r>
            <a:r>
              <a:rPr lang="en-US" altLang="zh-TW" sz="1800" dirty="0">
                <a:solidFill>
                  <a:srgbClr val="002060"/>
                </a:solidFill>
              </a:rPr>
              <a:t>(</a:t>
            </a:r>
            <a:r>
              <a:rPr lang="zh-TW" altLang="en-US" sz="1800" dirty="0">
                <a:solidFill>
                  <a:srgbClr val="002060"/>
                </a:solidFill>
              </a:rPr>
              <a:t>工號</a:t>
            </a:r>
            <a:r>
              <a:rPr lang="en-US" altLang="zh-TW" sz="1800" dirty="0">
                <a:solidFill>
                  <a:srgbClr val="002060"/>
                </a:solidFill>
              </a:rPr>
              <a:t>)</a:t>
            </a:r>
            <a:r>
              <a:rPr lang="zh-TW" altLang="en-US" sz="1800" dirty="0">
                <a:solidFill>
                  <a:srgbClr val="002060"/>
                </a:solidFill>
              </a:rPr>
              <a:t>與密碼</a:t>
            </a:r>
            <a:r>
              <a:rPr lang="en-US" altLang="zh-TW" sz="1800" dirty="0">
                <a:solidFill>
                  <a:srgbClr val="002060"/>
                </a:solidFill>
              </a:rPr>
              <a:t>(</a:t>
            </a:r>
            <a:r>
              <a:rPr lang="zh-TW" altLang="en-US" sz="1800" dirty="0">
                <a:solidFill>
                  <a:srgbClr val="002060"/>
                </a:solidFill>
              </a:rPr>
              <a:t>預設</a:t>
            </a:r>
            <a:r>
              <a:rPr lang="en-US" altLang="zh-TW" sz="1800" dirty="0">
                <a:solidFill>
                  <a:srgbClr val="002060"/>
                </a:solidFill>
              </a:rPr>
              <a:t>1234)</a:t>
            </a:r>
            <a:r>
              <a:rPr lang="zh-TW" altLang="en-US" sz="1800" dirty="0">
                <a:solidFill>
                  <a:srgbClr val="002060"/>
                </a:solidFill>
              </a:rPr>
              <a:t>，點擊登入即可。</a:t>
            </a:r>
            <a:endParaRPr lang="en-US" altLang="zh-TW" sz="1800" dirty="0">
              <a:solidFill>
                <a:srgbClr val="002060"/>
              </a:solidFill>
            </a:endParaRPr>
          </a:p>
          <a:p>
            <a:pPr marL="342900" indent="-342900" algn="l">
              <a:buFont typeface="+mj-lt"/>
              <a:buAutoNum type="arabicPeriod"/>
            </a:pPr>
            <a:endParaRPr lang="en-US" altLang="zh-TW" sz="1800" dirty="0">
              <a:solidFill>
                <a:srgbClr val="002060"/>
              </a:solidFill>
            </a:endParaRPr>
          </a:p>
        </p:txBody>
      </p:sp>
      <p:grpSp>
        <p:nvGrpSpPr>
          <p:cNvPr id="21" name="群組 20">
            <a:extLst>
              <a:ext uri="{FF2B5EF4-FFF2-40B4-BE49-F238E27FC236}">
                <a16:creationId xmlns:a16="http://schemas.microsoft.com/office/drawing/2014/main" id="{F44B3AAE-71E1-41E2-B364-6BDDD87CCE75}"/>
              </a:ext>
            </a:extLst>
          </p:cNvPr>
          <p:cNvGrpSpPr/>
          <p:nvPr/>
        </p:nvGrpSpPr>
        <p:grpSpPr>
          <a:xfrm>
            <a:off x="7924800" y="1957524"/>
            <a:ext cx="3048000" cy="2547801"/>
            <a:chOff x="7688062" y="4473437"/>
            <a:chExt cx="2041726" cy="711122"/>
          </a:xfrm>
        </p:grpSpPr>
        <p:sp>
          <p:nvSpPr>
            <p:cNvPr id="23" name="矩形 22">
              <a:extLst>
                <a:ext uri="{FF2B5EF4-FFF2-40B4-BE49-F238E27FC236}">
                  <a16:creationId xmlns:a16="http://schemas.microsoft.com/office/drawing/2014/main" id="{3D369295-7D36-4C25-A333-29B242A1A5B4}"/>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24" name="文字方塊 23">
              <a:extLst>
                <a:ext uri="{FF2B5EF4-FFF2-40B4-BE49-F238E27FC236}">
                  <a16:creationId xmlns:a16="http://schemas.microsoft.com/office/drawing/2014/main" id="{5C5007FE-847E-4BA0-A3E3-A59A2B6C8231}"/>
                </a:ext>
              </a:extLst>
            </p:cNvPr>
            <p:cNvSpPr txBox="1"/>
            <p:nvPr/>
          </p:nvSpPr>
          <p:spPr>
            <a:xfrm>
              <a:off x="9416882" y="4473437"/>
              <a:ext cx="312906" cy="369332"/>
            </a:xfrm>
            <a:prstGeom prst="rect">
              <a:avLst/>
            </a:prstGeom>
            <a:noFill/>
          </p:spPr>
          <p:txBody>
            <a:bodyPr wrap="none" rtlCol="0">
              <a:spAutoFit/>
            </a:bodyPr>
            <a:lstStyle/>
            <a:p>
              <a:r>
                <a:rPr lang="en-US" altLang="zh-TW" b="1" dirty="0">
                  <a:solidFill>
                    <a:srgbClr val="FF0000"/>
                  </a:solidFill>
                </a:rPr>
                <a:t>1</a:t>
              </a:r>
              <a:endParaRPr lang="zh-TW" altLang="en-US" b="1" dirty="0">
                <a:solidFill>
                  <a:srgbClr val="FF0000"/>
                </a:solidFill>
              </a:endParaRPr>
            </a:p>
          </p:txBody>
        </p:sp>
      </p:grpSp>
      <p:grpSp>
        <p:nvGrpSpPr>
          <p:cNvPr id="25" name="群組 24">
            <a:extLst>
              <a:ext uri="{FF2B5EF4-FFF2-40B4-BE49-F238E27FC236}">
                <a16:creationId xmlns:a16="http://schemas.microsoft.com/office/drawing/2014/main" id="{14F3F059-7E28-416A-9830-227FC76B4EE8}"/>
              </a:ext>
            </a:extLst>
          </p:cNvPr>
          <p:cNvGrpSpPr/>
          <p:nvPr/>
        </p:nvGrpSpPr>
        <p:grpSpPr>
          <a:xfrm>
            <a:off x="7924800" y="4505326"/>
            <a:ext cx="3248025" cy="1866900"/>
            <a:chOff x="7688062" y="4473437"/>
            <a:chExt cx="2211864" cy="711122"/>
          </a:xfrm>
        </p:grpSpPr>
        <p:sp>
          <p:nvSpPr>
            <p:cNvPr id="26" name="矩形 25">
              <a:extLst>
                <a:ext uri="{FF2B5EF4-FFF2-40B4-BE49-F238E27FC236}">
                  <a16:creationId xmlns:a16="http://schemas.microsoft.com/office/drawing/2014/main" id="{34467799-9DE1-439D-986E-1919037B23E6}"/>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27" name="文字方塊 26">
              <a:extLst>
                <a:ext uri="{FF2B5EF4-FFF2-40B4-BE49-F238E27FC236}">
                  <a16:creationId xmlns:a16="http://schemas.microsoft.com/office/drawing/2014/main" id="{52BE1012-E161-4DA4-8F2B-5A711A326337}"/>
                </a:ext>
              </a:extLst>
            </p:cNvPr>
            <p:cNvSpPr txBox="1"/>
            <p:nvPr/>
          </p:nvSpPr>
          <p:spPr>
            <a:xfrm>
              <a:off x="9416882" y="4473437"/>
              <a:ext cx="483044" cy="612750"/>
            </a:xfrm>
            <a:prstGeom prst="rect">
              <a:avLst/>
            </a:prstGeom>
            <a:noFill/>
          </p:spPr>
          <p:txBody>
            <a:bodyPr wrap="none" rtlCol="0">
              <a:spAutoFit/>
            </a:bodyPr>
            <a:lstStyle/>
            <a:p>
              <a:r>
                <a:rPr lang="en-US" altLang="zh-TW" b="1" dirty="0">
                  <a:solidFill>
                    <a:srgbClr val="FF0000"/>
                  </a:solidFill>
                </a:rPr>
                <a:t>2</a:t>
              </a:r>
              <a:endParaRPr lang="zh-TW" altLang="en-US" b="1" dirty="0">
                <a:solidFill>
                  <a:srgbClr val="FF0000"/>
                </a:solidFill>
              </a:endParaRPr>
            </a:p>
          </p:txBody>
        </p:sp>
      </p:grpSp>
      <p:sp>
        <p:nvSpPr>
          <p:cNvPr id="28" name="標題 2">
            <a:extLst>
              <a:ext uri="{FF2B5EF4-FFF2-40B4-BE49-F238E27FC236}">
                <a16:creationId xmlns:a16="http://schemas.microsoft.com/office/drawing/2014/main" id="{F44ECA81-0EE8-45EF-AFEA-D21A23222DCF}"/>
              </a:ext>
            </a:extLst>
          </p:cNvPr>
          <p:cNvSpPr txBox="1">
            <a:spLocks/>
          </p:cNvSpPr>
          <p:nvPr/>
        </p:nvSpPr>
        <p:spPr>
          <a:xfrm>
            <a:off x="217952" y="1488812"/>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修改伺服器連線資訊</a:t>
            </a:r>
          </a:p>
        </p:txBody>
      </p:sp>
      <p:sp>
        <p:nvSpPr>
          <p:cNvPr id="29" name="標題 2">
            <a:extLst>
              <a:ext uri="{FF2B5EF4-FFF2-40B4-BE49-F238E27FC236}">
                <a16:creationId xmlns:a16="http://schemas.microsoft.com/office/drawing/2014/main" id="{FAFF85B9-160E-41D2-8AE7-CD231D199019}"/>
              </a:ext>
            </a:extLst>
          </p:cNvPr>
          <p:cNvSpPr txBox="1">
            <a:spLocks/>
          </p:cNvSpPr>
          <p:nvPr/>
        </p:nvSpPr>
        <p:spPr>
          <a:xfrm>
            <a:off x="537039" y="1950471"/>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Font typeface="+mj-lt"/>
              <a:buAutoNum type="arabicPeriod"/>
            </a:pPr>
            <a:r>
              <a:rPr lang="zh-TW" altLang="en-US" sz="1800" dirty="0">
                <a:solidFill>
                  <a:srgbClr val="002060"/>
                </a:solidFill>
              </a:rPr>
              <a:t>若伺服器狀態顯示斷線則可點選齒輪圖案修改連線資訊。</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輸入伺服器</a:t>
            </a:r>
            <a:r>
              <a:rPr lang="en-US" altLang="zh-TW" sz="1800" dirty="0">
                <a:solidFill>
                  <a:srgbClr val="002060"/>
                </a:solidFill>
              </a:rPr>
              <a:t>IP</a:t>
            </a:r>
            <a:r>
              <a:rPr lang="zh-TW" altLang="en-US" sz="1800" dirty="0">
                <a:solidFill>
                  <a:srgbClr val="002060"/>
                </a:solidFill>
              </a:rPr>
              <a:t>與連接</a:t>
            </a:r>
            <a:r>
              <a:rPr lang="en-US" altLang="zh-TW" sz="1800" dirty="0">
                <a:solidFill>
                  <a:srgbClr val="002060"/>
                </a:solidFill>
              </a:rPr>
              <a:t>Port</a:t>
            </a:r>
            <a:r>
              <a:rPr lang="zh-TW" altLang="en-US" sz="1800" dirty="0">
                <a:solidFill>
                  <a:srgbClr val="002060"/>
                </a:solidFill>
              </a:rPr>
              <a:t>。</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點擊重新連線，連線燈號轉為綠燈即可。</a:t>
            </a:r>
            <a:endParaRPr lang="en-US" altLang="zh-TW" sz="1800" dirty="0">
              <a:solidFill>
                <a:srgbClr val="002060"/>
              </a:solidFill>
            </a:endParaRPr>
          </a:p>
          <a:p>
            <a:pPr marL="342900" indent="-342900" algn="l">
              <a:buFont typeface="+mj-lt"/>
              <a:buAutoNum type="arabicPeriod"/>
            </a:pPr>
            <a:endParaRPr lang="en-US" altLang="zh-TW" sz="1800" dirty="0">
              <a:solidFill>
                <a:srgbClr val="002060"/>
              </a:solidFill>
            </a:endParaRPr>
          </a:p>
        </p:txBody>
      </p:sp>
    </p:spTree>
    <p:extLst>
      <p:ext uri="{BB962C8B-B14F-4D97-AF65-F5344CB8AC3E}">
        <p14:creationId xmlns:p14="http://schemas.microsoft.com/office/powerpoint/2010/main" val="227663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C30A3-5E3C-9304-B464-F2E9D3B30F46}"/>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330AC778-A75E-4B3B-B7EE-64A0226D86B7}"/>
              </a:ext>
            </a:extLst>
          </p:cNvPr>
          <p:cNvSpPr>
            <a:spLocks noGrp="1"/>
          </p:cNvSpPr>
          <p:nvPr>
            <p:ph type="title"/>
          </p:nvPr>
        </p:nvSpPr>
        <p:spPr>
          <a:xfrm>
            <a:off x="319892" y="107816"/>
            <a:ext cx="11379200" cy="461659"/>
          </a:xfrm>
        </p:spPr>
        <p:txBody>
          <a:bodyPr>
            <a:noAutofit/>
          </a:bodyPr>
          <a:lstStyle/>
          <a:p>
            <a:r>
              <a:rPr lang="zh-TW" altLang="en-US" sz="2800" dirty="0"/>
              <a:t>權限管理</a:t>
            </a:r>
            <a:r>
              <a:rPr lang="en-US" altLang="zh-TW" sz="2800" dirty="0"/>
              <a:t>(User Manager)</a:t>
            </a:r>
            <a:endParaRPr lang="zh-TW" altLang="en-US" sz="2800" dirty="0"/>
          </a:p>
        </p:txBody>
      </p:sp>
      <p:sp>
        <p:nvSpPr>
          <p:cNvPr id="53" name="標題 2">
            <a:extLst>
              <a:ext uri="{FF2B5EF4-FFF2-40B4-BE49-F238E27FC236}">
                <a16:creationId xmlns:a16="http://schemas.microsoft.com/office/drawing/2014/main" id="{223A83BF-FA63-8E7E-746A-499ECB7C30D2}"/>
              </a:ext>
            </a:extLst>
          </p:cNvPr>
          <p:cNvSpPr txBox="1">
            <a:spLocks/>
          </p:cNvSpPr>
          <p:nvPr/>
        </p:nvSpPr>
        <p:spPr>
          <a:xfrm>
            <a:off x="217952" y="490075"/>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新增使用者</a:t>
            </a:r>
          </a:p>
        </p:txBody>
      </p:sp>
      <p:sp>
        <p:nvSpPr>
          <p:cNvPr id="22" name="標題 2">
            <a:extLst>
              <a:ext uri="{FF2B5EF4-FFF2-40B4-BE49-F238E27FC236}">
                <a16:creationId xmlns:a16="http://schemas.microsoft.com/office/drawing/2014/main" id="{4BDF6F7B-00EF-58E5-EE95-7B9488F6884C}"/>
              </a:ext>
            </a:extLst>
          </p:cNvPr>
          <p:cNvSpPr txBox="1">
            <a:spLocks/>
          </p:cNvSpPr>
          <p:nvPr/>
        </p:nvSpPr>
        <p:spPr>
          <a:xfrm>
            <a:off x="537039" y="951734"/>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Font typeface="+mj-lt"/>
              <a:buAutoNum type="arabicPeriod"/>
            </a:pPr>
            <a:r>
              <a:rPr lang="zh-TW" altLang="en-US" sz="1800" dirty="0">
                <a:solidFill>
                  <a:srgbClr val="002060"/>
                </a:solidFill>
              </a:rPr>
              <a:t>輸入使用者名稱</a:t>
            </a:r>
            <a:r>
              <a:rPr lang="en-US" altLang="zh-TW" sz="1800" dirty="0">
                <a:solidFill>
                  <a:srgbClr val="002060"/>
                </a:solidFill>
              </a:rPr>
              <a:t>(</a:t>
            </a:r>
            <a:r>
              <a:rPr lang="zh-TW" altLang="en-US" sz="1800" dirty="0">
                <a:solidFill>
                  <a:srgbClr val="002060"/>
                </a:solidFill>
              </a:rPr>
              <a:t>工號</a:t>
            </a:r>
            <a:r>
              <a:rPr lang="en-US" altLang="zh-TW" sz="1800" dirty="0">
                <a:solidFill>
                  <a:srgbClr val="002060"/>
                </a:solidFill>
              </a:rPr>
              <a:t>)</a:t>
            </a:r>
            <a:r>
              <a:rPr lang="zh-TW" altLang="en-US" sz="1800" dirty="0">
                <a:solidFill>
                  <a:srgbClr val="002060"/>
                </a:solidFill>
              </a:rPr>
              <a:t>與密碼，選擇對應的使用者等級</a:t>
            </a:r>
            <a:r>
              <a:rPr lang="en-US" altLang="zh-TW" sz="1800" dirty="0">
                <a:solidFill>
                  <a:srgbClr val="002060"/>
                </a:solidFill>
              </a:rPr>
              <a:t>(1~4)</a:t>
            </a:r>
            <a:r>
              <a:rPr lang="zh-TW" altLang="en-US" sz="1800" dirty="0">
                <a:solidFill>
                  <a:srgbClr val="002060"/>
                </a:solidFill>
              </a:rPr>
              <a:t>，點擊新增使用者即可。</a:t>
            </a:r>
            <a:endParaRPr lang="en-US" altLang="zh-TW" sz="1800" dirty="0">
              <a:solidFill>
                <a:srgbClr val="002060"/>
              </a:solidFill>
            </a:endParaRPr>
          </a:p>
          <a:p>
            <a:pPr marL="342900" indent="-342900" algn="l">
              <a:buFont typeface="+mj-lt"/>
              <a:buAutoNum type="arabicPeriod"/>
            </a:pPr>
            <a:endParaRPr lang="en-US" altLang="zh-TW" sz="1800" dirty="0">
              <a:solidFill>
                <a:srgbClr val="002060"/>
              </a:solidFill>
            </a:endParaRPr>
          </a:p>
        </p:txBody>
      </p:sp>
      <p:pic>
        <p:nvPicPr>
          <p:cNvPr id="2" name="圖片 1">
            <a:extLst>
              <a:ext uri="{FF2B5EF4-FFF2-40B4-BE49-F238E27FC236}">
                <a16:creationId xmlns:a16="http://schemas.microsoft.com/office/drawing/2014/main" id="{E70DC5FC-8E8C-4E7D-B846-8DB7058B1A0B}"/>
              </a:ext>
            </a:extLst>
          </p:cNvPr>
          <p:cNvPicPr>
            <a:picLocks noChangeAspect="1"/>
          </p:cNvPicPr>
          <p:nvPr/>
        </p:nvPicPr>
        <p:blipFill>
          <a:blip r:embed="rId3"/>
          <a:stretch>
            <a:fillRect/>
          </a:stretch>
        </p:blipFill>
        <p:spPr>
          <a:xfrm>
            <a:off x="5600700" y="2081675"/>
            <a:ext cx="5505450" cy="4286250"/>
          </a:xfrm>
          <a:prstGeom prst="rect">
            <a:avLst/>
          </a:prstGeom>
        </p:spPr>
      </p:pic>
      <p:grpSp>
        <p:nvGrpSpPr>
          <p:cNvPr id="21" name="群組 20">
            <a:extLst>
              <a:ext uri="{FF2B5EF4-FFF2-40B4-BE49-F238E27FC236}">
                <a16:creationId xmlns:a16="http://schemas.microsoft.com/office/drawing/2014/main" id="{F44B3AAE-71E1-41E2-B364-6BDDD87CCE75}"/>
              </a:ext>
            </a:extLst>
          </p:cNvPr>
          <p:cNvGrpSpPr/>
          <p:nvPr/>
        </p:nvGrpSpPr>
        <p:grpSpPr>
          <a:xfrm>
            <a:off x="5802111" y="4597262"/>
            <a:ext cx="5065913" cy="1232038"/>
            <a:chOff x="7688062" y="4473437"/>
            <a:chExt cx="2041726" cy="711122"/>
          </a:xfrm>
        </p:grpSpPr>
        <p:sp>
          <p:nvSpPr>
            <p:cNvPr id="23" name="矩形 22">
              <a:extLst>
                <a:ext uri="{FF2B5EF4-FFF2-40B4-BE49-F238E27FC236}">
                  <a16:creationId xmlns:a16="http://schemas.microsoft.com/office/drawing/2014/main" id="{3D369295-7D36-4C25-A333-29B242A1A5B4}"/>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24" name="文字方塊 23">
              <a:extLst>
                <a:ext uri="{FF2B5EF4-FFF2-40B4-BE49-F238E27FC236}">
                  <a16:creationId xmlns:a16="http://schemas.microsoft.com/office/drawing/2014/main" id="{5C5007FE-847E-4BA0-A3E3-A59A2B6C8231}"/>
                </a:ext>
              </a:extLst>
            </p:cNvPr>
            <p:cNvSpPr txBox="1"/>
            <p:nvPr/>
          </p:nvSpPr>
          <p:spPr>
            <a:xfrm>
              <a:off x="9416882" y="4473437"/>
              <a:ext cx="312906" cy="369332"/>
            </a:xfrm>
            <a:prstGeom prst="rect">
              <a:avLst/>
            </a:prstGeom>
            <a:noFill/>
          </p:spPr>
          <p:txBody>
            <a:bodyPr wrap="none" rtlCol="0">
              <a:spAutoFit/>
            </a:bodyPr>
            <a:lstStyle/>
            <a:p>
              <a:r>
                <a:rPr lang="en-US" altLang="zh-TW" b="1" dirty="0">
                  <a:solidFill>
                    <a:srgbClr val="FF0000"/>
                  </a:solidFill>
                </a:rPr>
                <a:t>1</a:t>
              </a:r>
              <a:endParaRPr lang="zh-TW" altLang="en-US" b="1" dirty="0">
                <a:solidFill>
                  <a:srgbClr val="FF0000"/>
                </a:solidFill>
              </a:endParaRPr>
            </a:p>
          </p:txBody>
        </p:sp>
      </p:grpSp>
      <p:grpSp>
        <p:nvGrpSpPr>
          <p:cNvPr id="25" name="群組 24">
            <a:extLst>
              <a:ext uri="{FF2B5EF4-FFF2-40B4-BE49-F238E27FC236}">
                <a16:creationId xmlns:a16="http://schemas.microsoft.com/office/drawing/2014/main" id="{14F3F059-7E28-416A-9830-227FC76B4EE8}"/>
              </a:ext>
            </a:extLst>
          </p:cNvPr>
          <p:cNvGrpSpPr/>
          <p:nvPr/>
        </p:nvGrpSpPr>
        <p:grpSpPr>
          <a:xfrm>
            <a:off x="5802111" y="5838825"/>
            <a:ext cx="1432801" cy="428625"/>
            <a:chOff x="7688062" y="4473437"/>
            <a:chExt cx="2211864" cy="711122"/>
          </a:xfrm>
        </p:grpSpPr>
        <p:sp>
          <p:nvSpPr>
            <p:cNvPr id="26" name="矩形 25">
              <a:extLst>
                <a:ext uri="{FF2B5EF4-FFF2-40B4-BE49-F238E27FC236}">
                  <a16:creationId xmlns:a16="http://schemas.microsoft.com/office/drawing/2014/main" id="{34467799-9DE1-439D-986E-1919037B23E6}"/>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27" name="文字方塊 26">
              <a:extLst>
                <a:ext uri="{FF2B5EF4-FFF2-40B4-BE49-F238E27FC236}">
                  <a16:creationId xmlns:a16="http://schemas.microsoft.com/office/drawing/2014/main" id="{52BE1012-E161-4DA4-8F2B-5A711A326337}"/>
                </a:ext>
              </a:extLst>
            </p:cNvPr>
            <p:cNvSpPr txBox="1"/>
            <p:nvPr/>
          </p:nvSpPr>
          <p:spPr>
            <a:xfrm>
              <a:off x="9416882" y="4473437"/>
              <a:ext cx="483044" cy="612750"/>
            </a:xfrm>
            <a:prstGeom prst="rect">
              <a:avLst/>
            </a:prstGeom>
            <a:noFill/>
          </p:spPr>
          <p:txBody>
            <a:bodyPr wrap="none" rtlCol="0">
              <a:spAutoFit/>
            </a:bodyPr>
            <a:lstStyle/>
            <a:p>
              <a:r>
                <a:rPr lang="en-US" altLang="zh-TW" b="1" dirty="0">
                  <a:solidFill>
                    <a:srgbClr val="FF0000"/>
                  </a:solidFill>
                </a:rPr>
                <a:t>2</a:t>
              </a:r>
              <a:endParaRPr lang="zh-TW" altLang="en-US" b="1" dirty="0">
                <a:solidFill>
                  <a:srgbClr val="FF0000"/>
                </a:solidFill>
              </a:endParaRPr>
            </a:p>
          </p:txBody>
        </p:sp>
      </p:grpSp>
      <p:sp>
        <p:nvSpPr>
          <p:cNvPr id="28" name="標題 2">
            <a:extLst>
              <a:ext uri="{FF2B5EF4-FFF2-40B4-BE49-F238E27FC236}">
                <a16:creationId xmlns:a16="http://schemas.microsoft.com/office/drawing/2014/main" id="{F44ECA81-0EE8-45EF-AFEA-D21A23222DCF}"/>
              </a:ext>
            </a:extLst>
          </p:cNvPr>
          <p:cNvSpPr txBox="1">
            <a:spLocks/>
          </p:cNvSpPr>
          <p:nvPr/>
        </p:nvSpPr>
        <p:spPr>
          <a:xfrm>
            <a:off x="217952" y="1488812"/>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刪除使用者</a:t>
            </a:r>
          </a:p>
        </p:txBody>
      </p:sp>
      <p:sp>
        <p:nvSpPr>
          <p:cNvPr id="29" name="標題 2">
            <a:extLst>
              <a:ext uri="{FF2B5EF4-FFF2-40B4-BE49-F238E27FC236}">
                <a16:creationId xmlns:a16="http://schemas.microsoft.com/office/drawing/2014/main" id="{FAFF85B9-160E-41D2-8AE7-CD231D199019}"/>
              </a:ext>
            </a:extLst>
          </p:cNvPr>
          <p:cNvSpPr txBox="1">
            <a:spLocks/>
          </p:cNvSpPr>
          <p:nvPr/>
        </p:nvSpPr>
        <p:spPr>
          <a:xfrm>
            <a:off x="537039" y="1950471"/>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Font typeface="+mj-lt"/>
              <a:buAutoNum type="arabicPeriod"/>
            </a:pPr>
            <a:r>
              <a:rPr lang="zh-TW" altLang="en-US" sz="1800" dirty="0">
                <a:solidFill>
                  <a:srgbClr val="002060"/>
                </a:solidFill>
              </a:rPr>
              <a:t>選擇要刪除的使用者，點擊刪除使用者即可。</a:t>
            </a:r>
            <a:endParaRPr lang="en-US" altLang="zh-TW" sz="1800" dirty="0">
              <a:solidFill>
                <a:srgbClr val="002060"/>
              </a:solidFill>
            </a:endParaRPr>
          </a:p>
          <a:p>
            <a:pPr marL="342900" indent="-342900" algn="l">
              <a:buFont typeface="+mj-lt"/>
              <a:buAutoNum type="arabicPeriod"/>
            </a:pPr>
            <a:endParaRPr lang="en-US" altLang="zh-TW" sz="1800" dirty="0">
              <a:solidFill>
                <a:srgbClr val="002060"/>
              </a:solidFill>
            </a:endParaRPr>
          </a:p>
        </p:txBody>
      </p:sp>
    </p:spTree>
    <p:extLst>
      <p:ext uri="{BB962C8B-B14F-4D97-AF65-F5344CB8AC3E}">
        <p14:creationId xmlns:p14="http://schemas.microsoft.com/office/powerpoint/2010/main" val="1208796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C30A3-5E3C-9304-B464-F2E9D3B30F46}"/>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330AC778-A75E-4B3B-B7EE-64A0226D86B7}"/>
              </a:ext>
            </a:extLst>
          </p:cNvPr>
          <p:cNvSpPr>
            <a:spLocks noGrp="1"/>
          </p:cNvSpPr>
          <p:nvPr>
            <p:ph type="title"/>
          </p:nvPr>
        </p:nvSpPr>
        <p:spPr>
          <a:xfrm>
            <a:off x="319892" y="107816"/>
            <a:ext cx="11379200" cy="461659"/>
          </a:xfrm>
        </p:spPr>
        <p:txBody>
          <a:bodyPr>
            <a:noAutofit/>
          </a:bodyPr>
          <a:lstStyle/>
          <a:p>
            <a:r>
              <a:rPr lang="zh-TW" altLang="en-US" sz="2800" dirty="0"/>
              <a:t>密碼修改</a:t>
            </a:r>
            <a:r>
              <a:rPr lang="en-US" altLang="zh-TW" sz="2800" dirty="0"/>
              <a:t>(Change Password )</a:t>
            </a:r>
            <a:endParaRPr lang="zh-TW" altLang="en-US" sz="2800" dirty="0"/>
          </a:p>
        </p:txBody>
      </p:sp>
      <p:sp>
        <p:nvSpPr>
          <p:cNvPr id="53" name="標題 2">
            <a:extLst>
              <a:ext uri="{FF2B5EF4-FFF2-40B4-BE49-F238E27FC236}">
                <a16:creationId xmlns:a16="http://schemas.microsoft.com/office/drawing/2014/main" id="{223A83BF-FA63-8E7E-746A-499ECB7C30D2}"/>
              </a:ext>
            </a:extLst>
          </p:cNvPr>
          <p:cNvSpPr txBox="1">
            <a:spLocks/>
          </p:cNvSpPr>
          <p:nvPr/>
        </p:nvSpPr>
        <p:spPr>
          <a:xfrm>
            <a:off x="217952" y="490075"/>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 密碼修改</a:t>
            </a:r>
          </a:p>
        </p:txBody>
      </p:sp>
      <p:sp>
        <p:nvSpPr>
          <p:cNvPr id="22" name="標題 2">
            <a:extLst>
              <a:ext uri="{FF2B5EF4-FFF2-40B4-BE49-F238E27FC236}">
                <a16:creationId xmlns:a16="http://schemas.microsoft.com/office/drawing/2014/main" id="{4BDF6F7B-00EF-58E5-EE95-7B9488F6884C}"/>
              </a:ext>
            </a:extLst>
          </p:cNvPr>
          <p:cNvSpPr txBox="1">
            <a:spLocks/>
          </p:cNvSpPr>
          <p:nvPr/>
        </p:nvSpPr>
        <p:spPr>
          <a:xfrm>
            <a:off x="537039" y="951734"/>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Font typeface="+mj-lt"/>
              <a:buAutoNum type="arabicPeriod"/>
            </a:pPr>
            <a:r>
              <a:rPr lang="zh-TW" altLang="en-US" sz="1800" dirty="0">
                <a:solidFill>
                  <a:srgbClr val="002060"/>
                </a:solidFill>
              </a:rPr>
              <a:t>主畫面點擊設定，選擇變更個人密碼。</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依次輸入目前密碼、新密碼、再次確認新密碼後點選確認即可。</a:t>
            </a:r>
            <a:endParaRPr lang="en-US" altLang="zh-TW" sz="1800" dirty="0">
              <a:solidFill>
                <a:srgbClr val="002060"/>
              </a:solidFill>
            </a:endParaRPr>
          </a:p>
          <a:p>
            <a:pPr marL="342900" indent="-342900" algn="l">
              <a:buFont typeface="+mj-lt"/>
              <a:buAutoNum type="arabicPeriod"/>
            </a:pPr>
            <a:endParaRPr lang="en-US" altLang="zh-TW" sz="1800" dirty="0">
              <a:solidFill>
                <a:srgbClr val="002060"/>
              </a:solidFill>
            </a:endParaRPr>
          </a:p>
        </p:txBody>
      </p:sp>
      <p:pic>
        <p:nvPicPr>
          <p:cNvPr id="4" name="圖片 3">
            <a:extLst>
              <a:ext uri="{FF2B5EF4-FFF2-40B4-BE49-F238E27FC236}">
                <a16:creationId xmlns:a16="http://schemas.microsoft.com/office/drawing/2014/main" id="{BFE1171A-40E1-4743-A050-255555EFAFEA}"/>
              </a:ext>
            </a:extLst>
          </p:cNvPr>
          <p:cNvPicPr>
            <a:picLocks noChangeAspect="1"/>
          </p:cNvPicPr>
          <p:nvPr/>
        </p:nvPicPr>
        <p:blipFill>
          <a:blip r:embed="rId3"/>
          <a:stretch>
            <a:fillRect/>
          </a:stretch>
        </p:blipFill>
        <p:spPr>
          <a:xfrm>
            <a:off x="6048358" y="1852477"/>
            <a:ext cx="3533775" cy="3305175"/>
          </a:xfrm>
          <a:prstGeom prst="rect">
            <a:avLst/>
          </a:prstGeom>
        </p:spPr>
      </p:pic>
      <p:pic>
        <p:nvPicPr>
          <p:cNvPr id="5" name="圖片 4">
            <a:extLst>
              <a:ext uri="{FF2B5EF4-FFF2-40B4-BE49-F238E27FC236}">
                <a16:creationId xmlns:a16="http://schemas.microsoft.com/office/drawing/2014/main" id="{8CBE58D0-166E-4A35-B389-592285776A04}"/>
              </a:ext>
            </a:extLst>
          </p:cNvPr>
          <p:cNvPicPr>
            <a:picLocks noChangeAspect="1"/>
          </p:cNvPicPr>
          <p:nvPr/>
        </p:nvPicPr>
        <p:blipFill>
          <a:blip r:embed="rId4"/>
          <a:stretch>
            <a:fillRect/>
          </a:stretch>
        </p:blipFill>
        <p:spPr>
          <a:xfrm>
            <a:off x="9729787" y="1454629"/>
            <a:ext cx="2152650" cy="1352550"/>
          </a:xfrm>
          <a:prstGeom prst="rect">
            <a:avLst/>
          </a:prstGeom>
        </p:spPr>
      </p:pic>
    </p:spTree>
    <p:extLst>
      <p:ext uri="{BB962C8B-B14F-4D97-AF65-F5344CB8AC3E}">
        <p14:creationId xmlns:p14="http://schemas.microsoft.com/office/powerpoint/2010/main" val="3130894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C30A3-5E3C-9304-B464-F2E9D3B30F46}"/>
            </a:ext>
          </a:extLst>
        </p:cNvPr>
        <p:cNvGrpSpPr/>
        <p:nvPr/>
      </p:nvGrpSpPr>
      <p:grpSpPr>
        <a:xfrm>
          <a:off x="0" y="0"/>
          <a:ext cx="0" cy="0"/>
          <a:chOff x="0" y="0"/>
          <a:chExt cx="0" cy="0"/>
        </a:xfrm>
      </p:grpSpPr>
      <p:pic>
        <p:nvPicPr>
          <p:cNvPr id="5" name="圖片 4" descr="The image displays a user interface with a barcode scanning option, a product entry for a 4-inch chisel, and a confirmation prompt for the system's readiness.&#10;&#10;AI 產生的內容可能不正確。">
            <a:extLst>
              <a:ext uri="{FF2B5EF4-FFF2-40B4-BE49-F238E27FC236}">
                <a16:creationId xmlns:a16="http://schemas.microsoft.com/office/drawing/2014/main" id="{E2FF94B2-B420-DB54-D343-214F9BCB8A28}"/>
              </a:ext>
            </a:extLst>
          </p:cNvPr>
          <p:cNvPicPr>
            <a:picLocks noChangeAspect="1"/>
          </p:cNvPicPr>
          <p:nvPr/>
        </p:nvPicPr>
        <p:blipFill>
          <a:blip r:embed="rId3"/>
          <a:stretch>
            <a:fillRect/>
          </a:stretch>
        </p:blipFill>
        <p:spPr>
          <a:xfrm>
            <a:off x="5840346" y="1454629"/>
            <a:ext cx="6198930" cy="5184559"/>
          </a:xfrm>
          <a:prstGeom prst="rect">
            <a:avLst/>
          </a:prstGeom>
        </p:spPr>
      </p:pic>
      <p:sp>
        <p:nvSpPr>
          <p:cNvPr id="3" name="標題 2">
            <a:extLst>
              <a:ext uri="{FF2B5EF4-FFF2-40B4-BE49-F238E27FC236}">
                <a16:creationId xmlns:a16="http://schemas.microsoft.com/office/drawing/2014/main" id="{330AC778-A75E-4B3B-B7EE-64A0226D86B7}"/>
              </a:ext>
            </a:extLst>
          </p:cNvPr>
          <p:cNvSpPr>
            <a:spLocks noGrp="1"/>
          </p:cNvSpPr>
          <p:nvPr>
            <p:ph type="title"/>
          </p:nvPr>
        </p:nvSpPr>
        <p:spPr>
          <a:xfrm>
            <a:off x="319892" y="107816"/>
            <a:ext cx="11379200" cy="461659"/>
          </a:xfrm>
        </p:spPr>
        <p:txBody>
          <a:bodyPr>
            <a:noAutofit/>
          </a:bodyPr>
          <a:lstStyle/>
          <a:p>
            <a:r>
              <a:rPr lang="zh-TW" altLang="en-US" sz="2800" dirty="0"/>
              <a:t>領料作業</a:t>
            </a:r>
            <a:r>
              <a:rPr lang="en-US" altLang="zh-TW" sz="2800" dirty="0"/>
              <a:t>(Outbound)</a:t>
            </a:r>
            <a:endParaRPr lang="zh-TW" altLang="en-US" sz="2800" dirty="0"/>
          </a:p>
        </p:txBody>
      </p:sp>
      <p:sp>
        <p:nvSpPr>
          <p:cNvPr id="53" name="標題 2">
            <a:extLst>
              <a:ext uri="{FF2B5EF4-FFF2-40B4-BE49-F238E27FC236}">
                <a16:creationId xmlns:a16="http://schemas.microsoft.com/office/drawing/2014/main" id="{223A83BF-FA63-8E7E-746A-499ECB7C30D2}"/>
              </a:ext>
            </a:extLst>
          </p:cNvPr>
          <p:cNvSpPr txBox="1">
            <a:spLocks/>
          </p:cNvSpPr>
          <p:nvPr/>
        </p:nvSpPr>
        <p:spPr>
          <a:xfrm>
            <a:off x="217952" y="490075"/>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領料作業 </a:t>
            </a:r>
            <a:r>
              <a:rPr lang="en-US" altLang="zh-TW" sz="1800" dirty="0">
                <a:solidFill>
                  <a:srgbClr val="0000FF"/>
                </a:solidFill>
              </a:rPr>
              <a:t>(Outbound) - </a:t>
            </a:r>
            <a:r>
              <a:rPr lang="zh-TW" altLang="en-US" sz="1800" dirty="0">
                <a:solidFill>
                  <a:srgbClr val="0000FF"/>
                </a:solidFill>
              </a:rPr>
              <a:t>位於主畫面</a:t>
            </a:r>
          </a:p>
        </p:txBody>
      </p:sp>
      <p:sp>
        <p:nvSpPr>
          <p:cNvPr id="22" name="標題 2">
            <a:extLst>
              <a:ext uri="{FF2B5EF4-FFF2-40B4-BE49-F238E27FC236}">
                <a16:creationId xmlns:a16="http://schemas.microsoft.com/office/drawing/2014/main" id="{4BDF6F7B-00EF-58E5-EE95-7B9488F6884C}"/>
              </a:ext>
            </a:extLst>
          </p:cNvPr>
          <p:cNvSpPr txBox="1">
            <a:spLocks/>
          </p:cNvSpPr>
          <p:nvPr/>
        </p:nvSpPr>
        <p:spPr>
          <a:xfrm>
            <a:off x="537039" y="951734"/>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Font typeface="+mj-lt"/>
              <a:buAutoNum type="arabicPeriod"/>
            </a:pPr>
            <a:r>
              <a:rPr lang="zh-TW" altLang="en-US" sz="1800" dirty="0">
                <a:solidFill>
                  <a:srgbClr val="002060"/>
                </a:solidFill>
              </a:rPr>
              <a:t>確認倉庫：選擇目前的作業倉庫（如：</a:t>
            </a:r>
            <a:r>
              <a:rPr lang="en-US" altLang="zh-TW" sz="1800" dirty="0">
                <a:solidFill>
                  <a:srgbClr val="002060"/>
                </a:solidFill>
              </a:rPr>
              <a:t>Warehouse 01</a:t>
            </a:r>
            <a:r>
              <a:rPr lang="zh-TW" altLang="en-US" sz="1800" dirty="0">
                <a:solidFill>
                  <a:srgbClr val="002060"/>
                </a:solidFill>
              </a:rPr>
              <a:t>）。</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掃描條碼：掃描零件標籤，系統自動顯示品名與規格。</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輸入數量：輸入領取數量（限正整數，無小數點）。</a:t>
            </a:r>
          </a:p>
          <a:p>
            <a:pPr marL="342900" indent="-342900" algn="l">
              <a:buFont typeface="+mj-lt"/>
              <a:buAutoNum type="arabicPeriod"/>
            </a:pPr>
            <a:r>
              <a:rPr lang="zh-TW" altLang="en-US" sz="1800" dirty="0">
                <a:solidFill>
                  <a:srgbClr val="002060"/>
                </a:solidFill>
              </a:rPr>
              <a:t>過帳：點選「確認領料」。若庫存不足，</a:t>
            </a:r>
            <a:endParaRPr lang="en-US" altLang="zh-TW" sz="1800" dirty="0">
              <a:solidFill>
                <a:srgbClr val="002060"/>
              </a:solidFill>
            </a:endParaRPr>
          </a:p>
          <a:p>
            <a:pPr algn="l"/>
            <a:r>
              <a:rPr lang="zh-TW" altLang="en-US" sz="1800" dirty="0">
                <a:solidFill>
                  <a:srgbClr val="002060"/>
                </a:solidFill>
              </a:rPr>
              <a:t>系統會彈出紅色警告。</a:t>
            </a:r>
          </a:p>
          <a:p>
            <a:pPr marL="342900" indent="-342900" algn="l">
              <a:buFont typeface="+mj-lt"/>
              <a:buAutoNum type="arabicPeriod"/>
            </a:pPr>
            <a:endParaRPr lang="en-US" altLang="zh-TW" sz="1800" dirty="0">
              <a:solidFill>
                <a:srgbClr val="002060"/>
              </a:solidFill>
            </a:endParaRPr>
          </a:p>
        </p:txBody>
      </p:sp>
      <p:grpSp>
        <p:nvGrpSpPr>
          <p:cNvPr id="9" name="群組 8">
            <a:extLst>
              <a:ext uri="{FF2B5EF4-FFF2-40B4-BE49-F238E27FC236}">
                <a16:creationId xmlns:a16="http://schemas.microsoft.com/office/drawing/2014/main" id="{ED82624A-D240-6BA7-3DA2-E649A1EE39A9}"/>
              </a:ext>
            </a:extLst>
          </p:cNvPr>
          <p:cNvGrpSpPr/>
          <p:nvPr/>
        </p:nvGrpSpPr>
        <p:grpSpPr>
          <a:xfrm>
            <a:off x="6020450" y="4634163"/>
            <a:ext cx="2041726" cy="711122"/>
            <a:chOff x="7688062" y="4473437"/>
            <a:chExt cx="2041726" cy="711122"/>
          </a:xfrm>
        </p:grpSpPr>
        <p:sp>
          <p:nvSpPr>
            <p:cNvPr id="6" name="矩形 5">
              <a:extLst>
                <a:ext uri="{FF2B5EF4-FFF2-40B4-BE49-F238E27FC236}">
                  <a16:creationId xmlns:a16="http://schemas.microsoft.com/office/drawing/2014/main" id="{094853B3-4A0B-D1E9-4A9E-69268A099F75}"/>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8" name="文字方塊 7">
              <a:extLst>
                <a:ext uri="{FF2B5EF4-FFF2-40B4-BE49-F238E27FC236}">
                  <a16:creationId xmlns:a16="http://schemas.microsoft.com/office/drawing/2014/main" id="{E1B59EB3-AAB4-E599-98F0-4628ABD85063}"/>
                </a:ext>
              </a:extLst>
            </p:cNvPr>
            <p:cNvSpPr txBox="1"/>
            <p:nvPr/>
          </p:nvSpPr>
          <p:spPr>
            <a:xfrm>
              <a:off x="9416882" y="4473437"/>
              <a:ext cx="312906" cy="369332"/>
            </a:xfrm>
            <a:prstGeom prst="rect">
              <a:avLst/>
            </a:prstGeom>
            <a:noFill/>
          </p:spPr>
          <p:txBody>
            <a:bodyPr wrap="none" rtlCol="0">
              <a:spAutoFit/>
            </a:bodyPr>
            <a:lstStyle/>
            <a:p>
              <a:r>
                <a:rPr lang="en-US" altLang="zh-TW" b="1" dirty="0">
                  <a:solidFill>
                    <a:srgbClr val="FF0000"/>
                  </a:solidFill>
                </a:rPr>
                <a:t>1</a:t>
              </a:r>
              <a:endParaRPr lang="zh-TW" altLang="en-US" b="1" dirty="0">
                <a:solidFill>
                  <a:srgbClr val="FF0000"/>
                </a:solidFill>
              </a:endParaRPr>
            </a:p>
          </p:txBody>
        </p:sp>
      </p:grpSp>
      <p:grpSp>
        <p:nvGrpSpPr>
          <p:cNvPr id="10" name="群組 9">
            <a:extLst>
              <a:ext uri="{FF2B5EF4-FFF2-40B4-BE49-F238E27FC236}">
                <a16:creationId xmlns:a16="http://schemas.microsoft.com/office/drawing/2014/main" id="{BC8C01B9-4FF7-A92A-6943-80EDE9B6F5D5}"/>
              </a:ext>
            </a:extLst>
          </p:cNvPr>
          <p:cNvGrpSpPr/>
          <p:nvPr/>
        </p:nvGrpSpPr>
        <p:grpSpPr>
          <a:xfrm>
            <a:off x="6009492" y="2222642"/>
            <a:ext cx="3966899" cy="776798"/>
            <a:chOff x="7688062" y="4473437"/>
            <a:chExt cx="2041726" cy="711122"/>
          </a:xfrm>
        </p:grpSpPr>
        <p:sp>
          <p:nvSpPr>
            <p:cNvPr id="11" name="矩形 10">
              <a:extLst>
                <a:ext uri="{FF2B5EF4-FFF2-40B4-BE49-F238E27FC236}">
                  <a16:creationId xmlns:a16="http://schemas.microsoft.com/office/drawing/2014/main" id="{0D37D1D0-80AE-8C57-F056-9A519905FE70}"/>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12" name="文字方塊 11">
              <a:extLst>
                <a:ext uri="{FF2B5EF4-FFF2-40B4-BE49-F238E27FC236}">
                  <a16:creationId xmlns:a16="http://schemas.microsoft.com/office/drawing/2014/main" id="{42441240-24AB-27E4-47F9-43ED299FC395}"/>
                </a:ext>
              </a:extLst>
            </p:cNvPr>
            <p:cNvSpPr txBox="1"/>
            <p:nvPr/>
          </p:nvSpPr>
          <p:spPr>
            <a:xfrm>
              <a:off x="9416882" y="4473437"/>
              <a:ext cx="161050" cy="338106"/>
            </a:xfrm>
            <a:prstGeom prst="rect">
              <a:avLst/>
            </a:prstGeom>
            <a:noFill/>
          </p:spPr>
          <p:txBody>
            <a:bodyPr wrap="none" rtlCol="0">
              <a:spAutoFit/>
            </a:bodyPr>
            <a:lstStyle/>
            <a:p>
              <a:r>
                <a:rPr lang="en-US" altLang="zh-TW" b="1" dirty="0">
                  <a:solidFill>
                    <a:srgbClr val="FF0000"/>
                  </a:solidFill>
                </a:rPr>
                <a:t>2</a:t>
              </a:r>
              <a:endParaRPr lang="zh-TW" altLang="en-US" b="1" dirty="0">
                <a:solidFill>
                  <a:srgbClr val="FF0000"/>
                </a:solidFill>
              </a:endParaRPr>
            </a:p>
          </p:txBody>
        </p:sp>
      </p:grpSp>
      <p:grpSp>
        <p:nvGrpSpPr>
          <p:cNvPr id="13" name="群組 12">
            <a:extLst>
              <a:ext uri="{FF2B5EF4-FFF2-40B4-BE49-F238E27FC236}">
                <a16:creationId xmlns:a16="http://schemas.microsoft.com/office/drawing/2014/main" id="{6EA42510-212B-274F-755E-38FA79AE903D}"/>
              </a:ext>
            </a:extLst>
          </p:cNvPr>
          <p:cNvGrpSpPr/>
          <p:nvPr/>
        </p:nvGrpSpPr>
        <p:grpSpPr>
          <a:xfrm>
            <a:off x="5905062" y="5463547"/>
            <a:ext cx="1350980" cy="572059"/>
            <a:chOff x="7688062" y="4473437"/>
            <a:chExt cx="2157670" cy="711122"/>
          </a:xfrm>
        </p:grpSpPr>
        <p:sp>
          <p:nvSpPr>
            <p:cNvPr id="14" name="矩形 13">
              <a:extLst>
                <a:ext uri="{FF2B5EF4-FFF2-40B4-BE49-F238E27FC236}">
                  <a16:creationId xmlns:a16="http://schemas.microsoft.com/office/drawing/2014/main" id="{DA965560-C7C7-9585-7FBC-E06DE0AFB096}"/>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15" name="文字方塊 14">
              <a:extLst>
                <a:ext uri="{FF2B5EF4-FFF2-40B4-BE49-F238E27FC236}">
                  <a16:creationId xmlns:a16="http://schemas.microsoft.com/office/drawing/2014/main" id="{B78810F1-1CDD-F8DA-E710-C97593A0A459}"/>
                </a:ext>
              </a:extLst>
            </p:cNvPr>
            <p:cNvSpPr txBox="1"/>
            <p:nvPr/>
          </p:nvSpPr>
          <p:spPr>
            <a:xfrm>
              <a:off x="9345985" y="4473437"/>
              <a:ext cx="499747" cy="459114"/>
            </a:xfrm>
            <a:prstGeom prst="rect">
              <a:avLst/>
            </a:prstGeom>
            <a:noFill/>
          </p:spPr>
          <p:txBody>
            <a:bodyPr wrap="none" rtlCol="0">
              <a:spAutoFit/>
            </a:bodyPr>
            <a:lstStyle/>
            <a:p>
              <a:r>
                <a:rPr lang="en-US" altLang="zh-TW" b="1" dirty="0">
                  <a:solidFill>
                    <a:srgbClr val="FF0000"/>
                  </a:solidFill>
                </a:rPr>
                <a:t>3</a:t>
              </a:r>
              <a:endParaRPr lang="zh-TW" altLang="en-US" b="1" dirty="0">
                <a:solidFill>
                  <a:srgbClr val="FF0000"/>
                </a:solidFill>
              </a:endParaRPr>
            </a:p>
          </p:txBody>
        </p:sp>
      </p:grpSp>
      <p:grpSp>
        <p:nvGrpSpPr>
          <p:cNvPr id="16" name="群組 15">
            <a:extLst>
              <a:ext uri="{FF2B5EF4-FFF2-40B4-BE49-F238E27FC236}">
                <a16:creationId xmlns:a16="http://schemas.microsoft.com/office/drawing/2014/main" id="{FDCFE1A3-C1C8-5A13-9CAB-146981AE3BEC}"/>
              </a:ext>
            </a:extLst>
          </p:cNvPr>
          <p:cNvGrpSpPr/>
          <p:nvPr/>
        </p:nvGrpSpPr>
        <p:grpSpPr>
          <a:xfrm>
            <a:off x="7183446" y="5417867"/>
            <a:ext cx="2615920" cy="711122"/>
            <a:chOff x="7688062" y="4473437"/>
            <a:chExt cx="2041726" cy="711122"/>
          </a:xfrm>
        </p:grpSpPr>
        <p:sp>
          <p:nvSpPr>
            <p:cNvPr id="17" name="矩形 16">
              <a:extLst>
                <a:ext uri="{FF2B5EF4-FFF2-40B4-BE49-F238E27FC236}">
                  <a16:creationId xmlns:a16="http://schemas.microsoft.com/office/drawing/2014/main" id="{3E563ADC-55FF-6A88-D29F-4410330F44F0}"/>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18" name="文字方塊 17">
              <a:extLst>
                <a:ext uri="{FF2B5EF4-FFF2-40B4-BE49-F238E27FC236}">
                  <a16:creationId xmlns:a16="http://schemas.microsoft.com/office/drawing/2014/main" id="{34BBA4A6-ACB7-F2E8-2CE9-5B0BE5BE6260}"/>
                </a:ext>
              </a:extLst>
            </p:cNvPr>
            <p:cNvSpPr txBox="1"/>
            <p:nvPr/>
          </p:nvSpPr>
          <p:spPr>
            <a:xfrm>
              <a:off x="9416882" y="4473437"/>
              <a:ext cx="244223" cy="369332"/>
            </a:xfrm>
            <a:prstGeom prst="rect">
              <a:avLst/>
            </a:prstGeom>
            <a:noFill/>
          </p:spPr>
          <p:txBody>
            <a:bodyPr wrap="none" rtlCol="0">
              <a:spAutoFit/>
            </a:bodyPr>
            <a:lstStyle/>
            <a:p>
              <a:r>
                <a:rPr lang="en-US" altLang="zh-TW" b="1" dirty="0">
                  <a:solidFill>
                    <a:srgbClr val="FF0000"/>
                  </a:solidFill>
                </a:rPr>
                <a:t>4</a:t>
              </a:r>
              <a:endParaRPr lang="zh-TW" altLang="en-US" b="1" dirty="0">
                <a:solidFill>
                  <a:srgbClr val="FF0000"/>
                </a:solidFill>
              </a:endParaRPr>
            </a:p>
          </p:txBody>
        </p:sp>
      </p:grpSp>
    </p:spTree>
    <p:extLst>
      <p:ext uri="{BB962C8B-B14F-4D97-AF65-F5344CB8AC3E}">
        <p14:creationId xmlns:p14="http://schemas.microsoft.com/office/powerpoint/2010/main" val="373521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F9E4E-8665-E935-5914-5C446464545B}"/>
            </a:ext>
          </a:extLst>
        </p:cNvPr>
        <p:cNvGrpSpPr/>
        <p:nvPr/>
      </p:nvGrpSpPr>
      <p:grpSpPr>
        <a:xfrm>
          <a:off x="0" y="0"/>
          <a:ext cx="0" cy="0"/>
          <a:chOff x="0" y="0"/>
          <a:chExt cx="0" cy="0"/>
        </a:xfrm>
      </p:grpSpPr>
      <p:pic>
        <p:nvPicPr>
          <p:cNvPr id="5" name="圖片 4" descr="The image shows a barcode scanning system interface with fields for product code, name, quantity, size, and barcode label, confirming successful material identification.&#10;&#10;AI 產生的內容可能不正確。">
            <a:extLst>
              <a:ext uri="{FF2B5EF4-FFF2-40B4-BE49-F238E27FC236}">
                <a16:creationId xmlns:a16="http://schemas.microsoft.com/office/drawing/2014/main" id="{74D65F24-9D93-9E8B-82F3-7D3171903071}"/>
              </a:ext>
            </a:extLst>
          </p:cNvPr>
          <p:cNvPicPr>
            <a:picLocks noChangeAspect="1"/>
          </p:cNvPicPr>
          <p:nvPr/>
        </p:nvPicPr>
        <p:blipFill>
          <a:blip r:embed="rId3"/>
          <a:stretch>
            <a:fillRect/>
          </a:stretch>
        </p:blipFill>
        <p:spPr>
          <a:xfrm>
            <a:off x="5475092" y="1454629"/>
            <a:ext cx="6468854" cy="5009503"/>
          </a:xfrm>
          <a:prstGeom prst="rect">
            <a:avLst/>
          </a:prstGeom>
        </p:spPr>
      </p:pic>
      <p:sp>
        <p:nvSpPr>
          <p:cNvPr id="3" name="標題 2">
            <a:extLst>
              <a:ext uri="{FF2B5EF4-FFF2-40B4-BE49-F238E27FC236}">
                <a16:creationId xmlns:a16="http://schemas.microsoft.com/office/drawing/2014/main" id="{C7403BE8-0378-C966-AD1A-D947FE09FF3F}"/>
              </a:ext>
            </a:extLst>
          </p:cNvPr>
          <p:cNvSpPr>
            <a:spLocks noGrp="1"/>
          </p:cNvSpPr>
          <p:nvPr>
            <p:ph type="title"/>
          </p:nvPr>
        </p:nvSpPr>
        <p:spPr>
          <a:xfrm>
            <a:off x="319892" y="107816"/>
            <a:ext cx="11379200" cy="461659"/>
          </a:xfrm>
        </p:spPr>
        <p:txBody>
          <a:bodyPr>
            <a:noAutofit/>
          </a:bodyPr>
          <a:lstStyle/>
          <a:p>
            <a:r>
              <a:rPr lang="zh-TW" altLang="en-US" sz="2800" dirty="0"/>
              <a:t>入料作業</a:t>
            </a:r>
            <a:r>
              <a:rPr lang="en-US" altLang="zh-TW" sz="2800" dirty="0"/>
              <a:t>(Inbound)</a:t>
            </a:r>
            <a:endParaRPr lang="zh-TW" altLang="en-US" sz="2800" dirty="0"/>
          </a:p>
        </p:txBody>
      </p:sp>
      <p:sp>
        <p:nvSpPr>
          <p:cNvPr id="53" name="標題 2">
            <a:extLst>
              <a:ext uri="{FF2B5EF4-FFF2-40B4-BE49-F238E27FC236}">
                <a16:creationId xmlns:a16="http://schemas.microsoft.com/office/drawing/2014/main" id="{6F2CB7DD-FD50-D354-0D03-513947DCFED8}"/>
              </a:ext>
            </a:extLst>
          </p:cNvPr>
          <p:cNvSpPr txBox="1">
            <a:spLocks/>
          </p:cNvSpPr>
          <p:nvPr/>
        </p:nvSpPr>
        <p:spPr>
          <a:xfrm>
            <a:off x="217952" y="490075"/>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入料作業 </a:t>
            </a:r>
            <a:r>
              <a:rPr lang="en-US" altLang="zh-TW" sz="1800" dirty="0">
                <a:solidFill>
                  <a:srgbClr val="0000FF"/>
                </a:solidFill>
              </a:rPr>
              <a:t>(Inbound) - </a:t>
            </a:r>
            <a:r>
              <a:rPr lang="zh-TW" altLang="en-US" sz="1800" dirty="0">
                <a:solidFill>
                  <a:srgbClr val="0000FF"/>
                </a:solidFill>
              </a:rPr>
              <a:t>位於主畫面</a:t>
            </a:r>
          </a:p>
        </p:txBody>
      </p:sp>
      <p:sp>
        <p:nvSpPr>
          <p:cNvPr id="22" name="標題 2">
            <a:extLst>
              <a:ext uri="{FF2B5EF4-FFF2-40B4-BE49-F238E27FC236}">
                <a16:creationId xmlns:a16="http://schemas.microsoft.com/office/drawing/2014/main" id="{FC4F0A31-4D6A-7044-9CC5-5A6696DF6793}"/>
              </a:ext>
            </a:extLst>
          </p:cNvPr>
          <p:cNvSpPr txBox="1">
            <a:spLocks/>
          </p:cNvSpPr>
          <p:nvPr/>
        </p:nvSpPr>
        <p:spPr>
          <a:xfrm>
            <a:off x="537039" y="951734"/>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Font typeface="+mj-lt"/>
              <a:buAutoNum type="arabicPeriod"/>
            </a:pPr>
            <a:r>
              <a:rPr lang="zh-TW" altLang="en-US" sz="1800" dirty="0">
                <a:solidFill>
                  <a:srgbClr val="002060"/>
                </a:solidFill>
              </a:rPr>
              <a:t>識別物料：掃描條碼或點選「手動查詢」輸入料號。</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若料號存在則右側會顯示品名與規格</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數量與位置：輸入入庫數量並選擇存放倉庫。</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補印標籤 </a:t>
            </a:r>
            <a:r>
              <a:rPr lang="en-US" altLang="zh-TW" sz="1800" dirty="0">
                <a:solidFill>
                  <a:srgbClr val="002060"/>
                </a:solidFill>
              </a:rPr>
              <a:t>:</a:t>
            </a:r>
            <a:r>
              <a:rPr lang="zh-TW" altLang="en-US" sz="1800" dirty="0">
                <a:solidFill>
                  <a:srgbClr val="002060"/>
                </a:solidFill>
              </a:rPr>
              <a:t> 直接連接標籤機列印料號</a:t>
            </a:r>
            <a:endParaRPr lang="en-US" altLang="zh-TW" sz="1800" dirty="0">
              <a:solidFill>
                <a:srgbClr val="002060"/>
              </a:solidFill>
            </a:endParaRPr>
          </a:p>
          <a:p>
            <a:pPr algn="l"/>
            <a:r>
              <a:rPr lang="en-US" altLang="zh-TW" sz="1800" dirty="0">
                <a:solidFill>
                  <a:srgbClr val="002060"/>
                </a:solidFill>
              </a:rPr>
              <a:t>Barcode</a:t>
            </a:r>
            <a:r>
              <a:rPr lang="zh-TW" altLang="en-US" sz="1800" dirty="0">
                <a:solidFill>
                  <a:srgbClr val="002060"/>
                </a:solidFill>
              </a:rPr>
              <a:t>貼紙</a:t>
            </a:r>
          </a:p>
        </p:txBody>
      </p:sp>
      <p:grpSp>
        <p:nvGrpSpPr>
          <p:cNvPr id="6" name="群組 5">
            <a:extLst>
              <a:ext uri="{FF2B5EF4-FFF2-40B4-BE49-F238E27FC236}">
                <a16:creationId xmlns:a16="http://schemas.microsoft.com/office/drawing/2014/main" id="{18CCAED2-FC76-443A-940E-27B945065488}"/>
              </a:ext>
            </a:extLst>
          </p:cNvPr>
          <p:cNvGrpSpPr/>
          <p:nvPr/>
        </p:nvGrpSpPr>
        <p:grpSpPr>
          <a:xfrm>
            <a:off x="5565840" y="2094055"/>
            <a:ext cx="2493445" cy="765340"/>
            <a:chOff x="7688062" y="4473437"/>
            <a:chExt cx="2041726" cy="711122"/>
          </a:xfrm>
        </p:grpSpPr>
        <p:sp>
          <p:nvSpPr>
            <p:cNvPr id="7" name="矩形 6">
              <a:extLst>
                <a:ext uri="{FF2B5EF4-FFF2-40B4-BE49-F238E27FC236}">
                  <a16:creationId xmlns:a16="http://schemas.microsoft.com/office/drawing/2014/main" id="{B0C63CC1-0284-CB6D-84AB-CBB090B6BFFE}"/>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8" name="文字方塊 7">
              <a:extLst>
                <a:ext uri="{FF2B5EF4-FFF2-40B4-BE49-F238E27FC236}">
                  <a16:creationId xmlns:a16="http://schemas.microsoft.com/office/drawing/2014/main" id="{FBCFC81B-4125-5B00-AD69-963DF50334C8}"/>
                </a:ext>
              </a:extLst>
            </p:cNvPr>
            <p:cNvSpPr txBox="1"/>
            <p:nvPr/>
          </p:nvSpPr>
          <p:spPr>
            <a:xfrm>
              <a:off x="9416882" y="4473437"/>
              <a:ext cx="233271" cy="342014"/>
            </a:xfrm>
            <a:prstGeom prst="rect">
              <a:avLst/>
            </a:prstGeom>
            <a:noFill/>
          </p:spPr>
          <p:txBody>
            <a:bodyPr wrap="none" rtlCol="0">
              <a:spAutoFit/>
            </a:bodyPr>
            <a:lstStyle/>
            <a:p>
              <a:r>
                <a:rPr lang="en-US" altLang="zh-TW" b="1" dirty="0">
                  <a:solidFill>
                    <a:srgbClr val="FF0000"/>
                  </a:solidFill>
                </a:rPr>
                <a:t>1</a:t>
              </a:r>
              <a:endParaRPr lang="zh-TW" altLang="en-US" b="1" dirty="0">
                <a:solidFill>
                  <a:srgbClr val="FF0000"/>
                </a:solidFill>
              </a:endParaRPr>
            </a:p>
          </p:txBody>
        </p:sp>
      </p:grpSp>
      <p:grpSp>
        <p:nvGrpSpPr>
          <p:cNvPr id="9" name="群組 8">
            <a:extLst>
              <a:ext uri="{FF2B5EF4-FFF2-40B4-BE49-F238E27FC236}">
                <a16:creationId xmlns:a16="http://schemas.microsoft.com/office/drawing/2014/main" id="{54F530B8-F902-3C84-51A8-E343669AF4AD}"/>
              </a:ext>
            </a:extLst>
          </p:cNvPr>
          <p:cNvGrpSpPr/>
          <p:nvPr/>
        </p:nvGrpSpPr>
        <p:grpSpPr>
          <a:xfrm>
            <a:off x="9014622" y="1957523"/>
            <a:ext cx="2493445" cy="2428045"/>
            <a:chOff x="7688062" y="4473437"/>
            <a:chExt cx="2041726" cy="711122"/>
          </a:xfrm>
        </p:grpSpPr>
        <p:sp>
          <p:nvSpPr>
            <p:cNvPr id="10" name="矩形 9">
              <a:extLst>
                <a:ext uri="{FF2B5EF4-FFF2-40B4-BE49-F238E27FC236}">
                  <a16:creationId xmlns:a16="http://schemas.microsoft.com/office/drawing/2014/main" id="{147416EC-75B8-1728-3B0C-D04474887F28}"/>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11" name="文字方塊 10">
              <a:extLst>
                <a:ext uri="{FF2B5EF4-FFF2-40B4-BE49-F238E27FC236}">
                  <a16:creationId xmlns:a16="http://schemas.microsoft.com/office/drawing/2014/main" id="{2E88D29E-5159-46D1-3CE0-403F8B5DABA5}"/>
                </a:ext>
              </a:extLst>
            </p:cNvPr>
            <p:cNvSpPr txBox="1"/>
            <p:nvPr/>
          </p:nvSpPr>
          <p:spPr>
            <a:xfrm>
              <a:off x="9416882" y="4473437"/>
              <a:ext cx="161050" cy="338106"/>
            </a:xfrm>
            <a:prstGeom prst="rect">
              <a:avLst/>
            </a:prstGeom>
            <a:noFill/>
          </p:spPr>
          <p:txBody>
            <a:bodyPr wrap="none" rtlCol="0">
              <a:spAutoFit/>
            </a:bodyPr>
            <a:lstStyle/>
            <a:p>
              <a:r>
                <a:rPr lang="en-US" altLang="zh-TW" b="1" dirty="0">
                  <a:solidFill>
                    <a:srgbClr val="FF0000"/>
                  </a:solidFill>
                </a:rPr>
                <a:t>2</a:t>
              </a:r>
              <a:endParaRPr lang="zh-TW" altLang="en-US" b="1" dirty="0">
                <a:solidFill>
                  <a:srgbClr val="FF0000"/>
                </a:solidFill>
              </a:endParaRPr>
            </a:p>
          </p:txBody>
        </p:sp>
      </p:grpSp>
      <p:grpSp>
        <p:nvGrpSpPr>
          <p:cNvPr id="12" name="群組 11">
            <a:extLst>
              <a:ext uri="{FF2B5EF4-FFF2-40B4-BE49-F238E27FC236}">
                <a16:creationId xmlns:a16="http://schemas.microsoft.com/office/drawing/2014/main" id="{AAFE4B19-7D5C-23D6-CB6F-BD7D98CC17AF}"/>
              </a:ext>
            </a:extLst>
          </p:cNvPr>
          <p:cNvGrpSpPr/>
          <p:nvPr/>
        </p:nvGrpSpPr>
        <p:grpSpPr>
          <a:xfrm>
            <a:off x="5641051" y="3055754"/>
            <a:ext cx="3254374" cy="942852"/>
            <a:chOff x="7688062" y="4473437"/>
            <a:chExt cx="2041726" cy="711122"/>
          </a:xfrm>
        </p:grpSpPr>
        <p:sp>
          <p:nvSpPr>
            <p:cNvPr id="13" name="矩形 12">
              <a:extLst>
                <a:ext uri="{FF2B5EF4-FFF2-40B4-BE49-F238E27FC236}">
                  <a16:creationId xmlns:a16="http://schemas.microsoft.com/office/drawing/2014/main" id="{1829718A-B5BD-AE3D-5E93-AF8B1025F04C}"/>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14" name="文字方塊 13">
              <a:extLst>
                <a:ext uri="{FF2B5EF4-FFF2-40B4-BE49-F238E27FC236}">
                  <a16:creationId xmlns:a16="http://schemas.microsoft.com/office/drawing/2014/main" id="{35067886-8CB5-5ECD-DCFD-FC2D746DE721}"/>
                </a:ext>
              </a:extLst>
            </p:cNvPr>
            <p:cNvSpPr txBox="1"/>
            <p:nvPr/>
          </p:nvSpPr>
          <p:spPr>
            <a:xfrm>
              <a:off x="9416882" y="4473437"/>
              <a:ext cx="224379" cy="278559"/>
            </a:xfrm>
            <a:prstGeom prst="rect">
              <a:avLst/>
            </a:prstGeom>
            <a:noFill/>
          </p:spPr>
          <p:txBody>
            <a:bodyPr wrap="none" rtlCol="0">
              <a:spAutoFit/>
            </a:bodyPr>
            <a:lstStyle/>
            <a:p>
              <a:r>
                <a:rPr lang="en-US" altLang="zh-TW" b="1" dirty="0">
                  <a:solidFill>
                    <a:srgbClr val="FF0000"/>
                  </a:solidFill>
                </a:rPr>
                <a:t>3</a:t>
              </a:r>
              <a:endParaRPr lang="zh-TW" altLang="en-US" b="1" dirty="0">
                <a:solidFill>
                  <a:srgbClr val="FF0000"/>
                </a:solidFill>
              </a:endParaRPr>
            </a:p>
          </p:txBody>
        </p:sp>
      </p:grpSp>
      <p:grpSp>
        <p:nvGrpSpPr>
          <p:cNvPr id="15" name="群組 14">
            <a:extLst>
              <a:ext uri="{FF2B5EF4-FFF2-40B4-BE49-F238E27FC236}">
                <a16:creationId xmlns:a16="http://schemas.microsoft.com/office/drawing/2014/main" id="{D6411214-4C3F-F8F3-9BEA-6F20AA17D250}"/>
              </a:ext>
            </a:extLst>
          </p:cNvPr>
          <p:cNvGrpSpPr/>
          <p:nvPr/>
        </p:nvGrpSpPr>
        <p:grpSpPr>
          <a:xfrm>
            <a:off x="5673850" y="4847619"/>
            <a:ext cx="3254374" cy="555752"/>
            <a:chOff x="7688062" y="4473437"/>
            <a:chExt cx="2041726" cy="711122"/>
          </a:xfrm>
        </p:grpSpPr>
        <p:sp>
          <p:nvSpPr>
            <p:cNvPr id="16" name="矩形 15">
              <a:extLst>
                <a:ext uri="{FF2B5EF4-FFF2-40B4-BE49-F238E27FC236}">
                  <a16:creationId xmlns:a16="http://schemas.microsoft.com/office/drawing/2014/main" id="{A4A83CFA-3CDD-5B7E-F323-79A283330890}"/>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17" name="文字方塊 16">
              <a:extLst>
                <a:ext uri="{FF2B5EF4-FFF2-40B4-BE49-F238E27FC236}">
                  <a16:creationId xmlns:a16="http://schemas.microsoft.com/office/drawing/2014/main" id="{EC8F74AE-4FB8-76AB-6A65-9BBB77CB289F}"/>
                </a:ext>
              </a:extLst>
            </p:cNvPr>
            <p:cNvSpPr txBox="1"/>
            <p:nvPr/>
          </p:nvSpPr>
          <p:spPr>
            <a:xfrm>
              <a:off x="9416882" y="4473437"/>
              <a:ext cx="196311" cy="472585"/>
            </a:xfrm>
            <a:prstGeom prst="rect">
              <a:avLst/>
            </a:prstGeom>
            <a:noFill/>
          </p:spPr>
          <p:txBody>
            <a:bodyPr wrap="none" rtlCol="0">
              <a:spAutoFit/>
            </a:bodyPr>
            <a:lstStyle/>
            <a:p>
              <a:r>
                <a:rPr lang="en-US" altLang="zh-TW" b="1" dirty="0">
                  <a:solidFill>
                    <a:srgbClr val="FF0000"/>
                  </a:solidFill>
                </a:rPr>
                <a:t>4</a:t>
              </a:r>
              <a:endParaRPr lang="zh-TW" altLang="en-US" b="1" dirty="0">
                <a:solidFill>
                  <a:srgbClr val="FF0000"/>
                </a:solidFill>
              </a:endParaRPr>
            </a:p>
          </p:txBody>
        </p:sp>
      </p:grpSp>
    </p:spTree>
    <p:extLst>
      <p:ext uri="{BB962C8B-B14F-4D97-AF65-F5344CB8AC3E}">
        <p14:creationId xmlns:p14="http://schemas.microsoft.com/office/powerpoint/2010/main" val="2504131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EA7A4-2857-4910-60DC-71FFCF254614}"/>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976339C5-D99E-08DF-3810-CA3EB37AECF8}"/>
              </a:ext>
            </a:extLst>
          </p:cNvPr>
          <p:cNvSpPr>
            <a:spLocks noGrp="1"/>
          </p:cNvSpPr>
          <p:nvPr>
            <p:ph type="title"/>
          </p:nvPr>
        </p:nvSpPr>
        <p:spPr>
          <a:xfrm>
            <a:off x="319892" y="107816"/>
            <a:ext cx="11379200" cy="461659"/>
          </a:xfrm>
        </p:spPr>
        <p:txBody>
          <a:bodyPr>
            <a:noAutofit/>
          </a:bodyPr>
          <a:lstStyle/>
          <a:p>
            <a:r>
              <a:rPr lang="zh-TW" altLang="en-US" sz="2800" dirty="0"/>
              <a:t>物料主檔管理 </a:t>
            </a:r>
            <a:r>
              <a:rPr lang="en-US" altLang="zh-TW" sz="2800" dirty="0"/>
              <a:t>(Material Master) - </a:t>
            </a:r>
            <a:r>
              <a:rPr lang="zh-TW" altLang="en-US" sz="2800" dirty="0"/>
              <a:t>限 </a:t>
            </a:r>
            <a:r>
              <a:rPr lang="en-US" altLang="zh-TW" sz="2800" dirty="0"/>
              <a:t>Level 1 &amp; 2</a:t>
            </a:r>
          </a:p>
        </p:txBody>
      </p:sp>
      <p:sp>
        <p:nvSpPr>
          <p:cNvPr id="53" name="標題 2">
            <a:extLst>
              <a:ext uri="{FF2B5EF4-FFF2-40B4-BE49-F238E27FC236}">
                <a16:creationId xmlns:a16="http://schemas.microsoft.com/office/drawing/2014/main" id="{3F01CF3D-1164-4DD6-5DDD-C58157A2489D}"/>
              </a:ext>
            </a:extLst>
          </p:cNvPr>
          <p:cNvSpPr txBox="1">
            <a:spLocks/>
          </p:cNvSpPr>
          <p:nvPr/>
        </p:nvSpPr>
        <p:spPr>
          <a:xfrm>
            <a:off x="217952" y="1200293"/>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新增物料</a:t>
            </a:r>
          </a:p>
        </p:txBody>
      </p:sp>
      <p:sp>
        <p:nvSpPr>
          <p:cNvPr id="22" name="標題 2">
            <a:extLst>
              <a:ext uri="{FF2B5EF4-FFF2-40B4-BE49-F238E27FC236}">
                <a16:creationId xmlns:a16="http://schemas.microsoft.com/office/drawing/2014/main" id="{AFFAF49F-BF33-DAB5-0915-0F735E864608}"/>
              </a:ext>
            </a:extLst>
          </p:cNvPr>
          <p:cNvSpPr txBox="1">
            <a:spLocks/>
          </p:cNvSpPr>
          <p:nvPr/>
        </p:nvSpPr>
        <p:spPr>
          <a:xfrm>
            <a:off x="537039" y="1661951"/>
            <a:ext cx="5703505" cy="2269026"/>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Font typeface="+mj-lt"/>
              <a:buAutoNum type="arabicPeriod"/>
            </a:pPr>
            <a:r>
              <a:rPr lang="zh-TW" altLang="en-US" sz="1800" dirty="0">
                <a:solidFill>
                  <a:srgbClr val="002060"/>
                </a:solidFill>
              </a:rPr>
              <a:t>料號：唯一的識別碼，儲存後不可更改，點選產生臨時料號系統可自動生成。</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品名 </a:t>
            </a:r>
            <a:r>
              <a:rPr lang="en-US" altLang="zh-TW" sz="1800" dirty="0">
                <a:solidFill>
                  <a:srgbClr val="002060"/>
                </a:solidFill>
              </a:rPr>
              <a:t>: </a:t>
            </a:r>
            <a:r>
              <a:rPr lang="zh-TW" altLang="en-US" sz="1800" dirty="0">
                <a:solidFill>
                  <a:srgbClr val="002060"/>
                </a:solidFill>
              </a:rPr>
              <a:t>自定義名稱。</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規格</a:t>
            </a:r>
            <a:r>
              <a:rPr lang="en-US" altLang="zh-TW" sz="1800" dirty="0">
                <a:solidFill>
                  <a:srgbClr val="002060"/>
                </a:solidFill>
              </a:rPr>
              <a:t>/</a:t>
            </a:r>
            <a:r>
              <a:rPr lang="zh-TW" altLang="en-US" sz="1800" dirty="0">
                <a:solidFill>
                  <a:srgbClr val="002060"/>
                </a:solidFill>
              </a:rPr>
              <a:t>型號 </a:t>
            </a:r>
            <a:r>
              <a:rPr lang="en-US" altLang="zh-TW" sz="1800" dirty="0">
                <a:solidFill>
                  <a:srgbClr val="002060"/>
                </a:solidFill>
              </a:rPr>
              <a:t>: </a:t>
            </a:r>
            <a:r>
              <a:rPr lang="zh-TW" altLang="en-US" sz="1800" dirty="0">
                <a:solidFill>
                  <a:srgbClr val="002060"/>
                </a:solidFill>
              </a:rPr>
              <a:t>自定義敘述。</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安全庫存：設定此零件的最低安全總量。</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採購交期：設定補貨所需天數。</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儲位</a:t>
            </a:r>
            <a:r>
              <a:rPr lang="en-US" altLang="zh-TW" sz="1800" dirty="0">
                <a:solidFill>
                  <a:srgbClr val="002060"/>
                </a:solidFill>
              </a:rPr>
              <a:t>:</a:t>
            </a:r>
            <a:r>
              <a:rPr lang="zh-TW" altLang="en-US" sz="1800" dirty="0">
                <a:solidFill>
                  <a:srgbClr val="002060"/>
                </a:solidFill>
              </a:rPr>
              <a:t> 儲存的位置編號</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機台 </a:t>
            </a:r>
            <a:r>
              <a:rPr lang="en-US" altLang="zh-TW" sz="1800" dirty="0">
                <a:solidFill>
                  <a:srgbClr val="002060"/>
                </a:solidFill>
              </a:rPr>
              <a:t>:</a:t>
            </a:r>
            <a:r>
              <a:rPr lang="zh-TW" altLang="en-US" sz="1800" dirty="0">
                <a:solidFill>
                  <a:srgbClr val="002060"/>
                </a:solidFill>
              </a:rPr>
              <a:t> 這個零件使用的機台。</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金額 </a:t>
            </a:r>
            <a:r>
              <a:rPr lang="en-US" altLang="zh-TW" sz="1800" dirty="0">
                <a:solidFill>
                  <a:srgbClr val="002060"/>
                </a:solidFill>
              </a:rPr>
              <a:t>:</a:t>
            </a:r>
            <a:r>
              <a:rPr lang="zh-TW" altLang="en-US" sz="1800" dirty="0">
                <a:solidFill>
                  <a:srgbClr val="002060"/>
                </a:solidFill>
              </a:rPr>
              <a:t> 每單位金額</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期初在庫數量 </a:t>
            </a:r>
            <a:r>
              <a:rPr lang="en-US" altLang="zh-TW" sz="1800" dirty="0">
                <a:solidFill>
                  <a:srgbClr val="002060"/>
                </a:solidFill>
              </a:rPr>
              <a:t>: </a:t>
            </a:r>
            <a:r>
              <a:rPr lang="zh-TW" altLang="en-US" sz="1800" dirty="0">
                <a:solidFill>
                  <a:srgbClr val="002060"/>
                </a:solidFill>
              </a:rPr>
              <a:t>新建當下目前庫存</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附件 </a:t>
            </a:r>
            <a:r>
              <a:rPr lang="en-US" altLang="zh-TW" sz="1800" dirty="0">
                <a:solidFill>
                  <a:srgbClr val="002060"/>
                </a:solidFill>
              </a:rPr>
              <a:t>:</a:t>
            </a:r>
            <a:r>
              <a:rPr lang="zh-TW" altLang="en-US" sz="1800" dirty="0">
                <a:solidFill>
                  <a:srgbClr val="002060"/>
                </a:solidFill>
              </a:rPr>
              <a:t> 僅支援</a:t>
            </a:r>
            <a:r>
              <a:rPr lang="en-US" altLang="zh-TW" sz="1800" dirty="0">
                <a:solidFill>
                  <a:srgbClr val="002060"/>
                </a:solidFill>
              </a:rPr>
              <a:t>PDF</a:t>
            </a:r>
            <a:r>
              <a:rPr lang="zh-TW" altLang="en-US" sz="1800" dirty="0">
                <a:solidFill>
                  <a:srgbClr val="002060"/>
                </a:solidFill>
              </a:rPr>
              <a:t>檔，一個料號最多兩個附件，單個檔案最大</a:t>
            </a:r>
            <a:r>
              <a:rPr lang="en-US" altLang="zh-TW" sz="1800" dirty="0">
                <a:solidFill>
                  <a:srgbClr val="002060"/>
                </a:solidFill>
              </a:rPr>
              <a:t>2MB</a:t>
            </a:r>
          </a:p>
          <a:p>
            <a:pPr marL="342900" indent="-342900" algn="l">
              <a:buFont typeface="+mj-lt"/>
              <a:buAutoNum type="arabicPeriod"/>
            </a:pPr>
            <a:r>
              <a:rPr lang="zh-TW" altLang="en-US" sz="1800" dirty="0">
                <a:solidFill>
                  <a:srgbClr val="002060"/>
                </a:solidFill>
              </a:rPr>
              <a:t>新增成功後可選擇是否要連接標</a:t>
            </a:r>
            <a:endParaRPr lang="en-US" altLang="zh-TW" sz="1800" dirty="0">
              <a:solidFill>
                <a:srgbClr val="002060"/>
              </a:solidFill>
            </a:endParaRPr>
          </a:p>
          <a:p>
            <a:pPr algn="l"/>
            <a:r>
              <a:rPr lang="zh-TW" altLang="en-US" sz="1800" dirty="0">
                <a:solidFill>
                  <a:srgbClr val="002060"/>
                </a:solidFill>
              </a:rPr>
              <a:t>籤機直接印出料號</a:t>
            </a:r>
            <a:r>
              <a:rPr lang="en-US" altLang="zh-TW" sz="1800" dirty="0">
                <a:solidFill>
                  <a:srgbClr val="002060"/>
                </a:solidFill>
              </a:rPr>
              <a:t>Barcode</a:t>
            </a:r>
            <a:r>
              <a:rPr lang="zh-TW" altLang="en-US" sz="1800" dirty="0">
                <a:solidFill>
                  <a:srgbClr val="002060"/>
                </a:solidFill>
              </a:rPr>
              <a:t>貼紙</a:t>
            </a:r>
          </a:p>
        </p:txBody>
      </p:sp>
      <p:sp>
        <p:nvSpPr>
          <p:cNvPr id="2" name="標題 2">
            <a:extLst>
              <a:ext uri="{FF2B5EF4-FFF2-40B4-BE49-F238E27FC236}">
                <a16:creationId xmlns:a16="http://schemas.microsoft.com/office/drawing/2014/main" id="{88BDEFE0-8625-702B-A709-E4CC6D5C1BDF}"/>
              </a:ext>
            </a:extLst>
          </p:cNvPr>
          <p:cNvSpPr txBox="1">
            <a:spLocks/>
          </p:cNvSpPr>
          <p:nvPr/>
        </p:nvSpPr>
        <p:spPr>
          <a:xfrm>
            <a:off x="537039" y="546476"/>
            <a:ext cx="11162053"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建立零件的基礎資訊。</a:t>
            </a:r>
          </a:p>
        </p:txBody>
      </p:sp>
      <p:pic>
        <p:nvPicPr>
          <p:cNvPr id="8" name="圖片 7" descr="The image displays a document with a list of items including a material number, product name, specification, purchase quantity, and an option to attach and upload a PDF file.&#10;&#10;AI 產生的內容可能不正確。">
            <a:extLst>
              <a:ext uri="{FF2B5EF4-FFF2-40B4-BE49-F238E27FC236}">
                <a16:creationId xmlns:a16="http://schemas.microsoft.com/office/drawing/2014/main" id="{2471B3B6-47B5-3D8F-8850-30D1877BCF5F}"/>
              </a:ext>
            </a:extLst>
          </p:cNvPr>
          <p:cNvPicPr>
            <a:picLocks noChangeAspect="1"/>
          </p:cNvPicPr>
          <p:nvPr/>
        </p:nvPicPr>
        <p:blipFill>
          <a:blip r:embed="rId3"/>
          <a:stretch>
            <a:fillRect/>
          </a:stretch>
        </p:blipFill>
        <p:spPr>
          <a:xfrm>
            <a:off x="7490089" y="479395"/>
            <a:ext cx="4209003" cy="6270789"/>
          </a:xfrm>
          <a:prstGeom prst="rect">
            <a:avLst/>
          </a:prstGeom>
        </p:spPr>
      </p:pic>
      <p:pic>
        <p:nvPicPr>
          <p:cNvPr id="12" name="圖片 11" descr="The image shows a print dialogue box in a language with an option to print a mirror image and a checkbox to choose yes or no.&#10;&#10;AI 產生的內容可能不正確。">
            <a:extLst>
              <a:ext uri="{FF2B5EF4-FFF2-40B4-BE49-F238E27FC236}">
                <a16:creationId xmlns:a16="http://schemas.microsoft.com/office/drawing/2014/main" id="{6F9133F3-FAFB-3289-337A-6B9D679B5803}"/>
              </a:ext>
            </a:extLst>
          </p:cNvPr>
          <p:cNvPicPr>
            <a:picLocks noChangeAspect="1"/>
          </p:cNvPicPr>
          <p:nvPr/>
        </p:nvPicPr>
        <p:blipFill>
          <a:blip r:embed="rId4"/>
          <a:stretch>
            <a:fillRect/>
          </a:stretch>
        </p:blipFill>
        <p:spPr>
          <a:xfrm>
            <a:off x="4138322" y="4650561"/>
            <a:ext cx="3181897" cy="2014291"/>
          </a:xfrm>
          <a:prstGeom prst="rect">
            <a:avLst/>
          </a:prstGeom>
        </p:spPr>
      </p:pic>
    </p:spTree>
    <p:extLst>
      <p:ext uri="{BB962C8B-B14F-4D97-AF65-F5344CB8AC3E}">
        <p14:creationId xmlns:p14="http://schemas.microsoft.com/office/powerpoint/2010/main" val="2253769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4A490-AFC0-0EA3-F444-4F34D190A031}"/>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470860C4-560A-7D3C-B577-198DA450D664}"/>
              </a:ext>
            </a:extLst>
          </p:cNvPr>
          <p:cNvSpPr>
            <a:spLocks noGrp="1"/>
          </p:cNvSpPr>
          <p:nvPr>
            <p:ph type="title"/>
          </p:nvPr>
        </p:nvSpPr>
        <p:spPr>
          <a:xfrm>
            <a:off x="319892" y="107816"/>
            <a:ext cx="11379200" cy="461659"/>
          </a:xfrm>
        </p:spPr>
        <p:txBody>
          <a:bodyPr>
            <a:noAutofit/>
          </a:bodyPr>
          <a:lstStyle/>
          <a:p>
            <a:r>
              <a:rPr lang="zh-TW" altLang="en-US" sz="2800" dirty="0"/>
              <a:t>物料主檔管理 </a:t>
            </a:r>
            <a:r>
              <a:rPr lang="en-US" altLang="zh-TW" sz="2800" dirty="0"/>
              <a:t>(Material Master) - </a:t>
            </a:r>
            <a:r>
              <a:rPr lang="zh-TW" altLang="en-US" sz="2800" dirty="0"/>
              <a:t>限 </a:t>
            </a:r>
            <a:r>
              <a:rPr lang="en-US" altLang="zh-TW" sz="2800" dirty="0"/>
              <a:t>Level 1 &amp; 2</a:t>
            </a:r>
          </a:p>
        </p:txBody>
      </p:sp>
      <p:sp>
        <p:nvSpPr>
          <p:cNvPr id="53" name="標題 2">
            <a:extLst>
              <a:ext uri="{FF2B5EF4-FFF2-40B4-BE49-F238E27FC236}">
                <a16:creationId xmlns:a16="http://schemas.microsoft.com/office/drawing/2014/main" id="{9FF7B84F-902C-20F5-F348-2781EDB663A7}"/>
              </a:ext>
            </a:extLst>
          </p:cNvPr>
          <p:cNvSpPr txBox="1">
            <a:spLocks/>
          </p:cNvSpPr>
          <p:nvPr/>
        </p:nvSpPr>
        <p:spPr>
          <a:xfrm>
            <a:off x="217952" y="1200293"/>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批次新增物料</a:t>
            </a:r>
          </a:p>
        </p:txBody>
      </p:sp>
      <p:sp>
        <p:nvSpPr>
          <p:cNvPr id="22" name="標題 2">
            <a:extLst>
              <a:ext uri="{FF2B5EF4-FFF2-40B4-BE49-F238E27FC236}">
                <a16:creationId xmlns:a16="http://schemas.microsoft.com/office/drawing/2014/main" id="{BEA47B21-B138-F05A-89BF-DB492F5ACE61}"/>
              </a:ext>
            </a:extLst>
          </p:cNvPr>
          <p:cNvSpPr txBox="1">
            <a:spLocks/>
          </p:cNvSpPr>
          <p:nvPr/>
        </p:nvSpPr>
        <p:spPr>
          <a:xfrm>
            <a:off x="537040" y="1661951"/>
            <a:ext cx="5192232" cy="2269026"/>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Font typeface="+mj-lt"/>
              <a:buAutoNum type="arabicPeriod"/>
            </a:pPr>
            <a:r>
              <a:rPr lang="zh-TW" altLang="en-US" sz="1800" dirty="0">
                <a:solidFill>
                  <a:srgbClr val="002060"/>
                </a:solidFill>
              </a:rPr>
              <a:t>產生匯入格式 </a:t>
            </a:r>
            <a:r>
              <a:rPr lang="en-US" altLang="zh-TW" sz="1800" dirty="0">
                <a:solidFill>
                  <a:srgbClr val="002060"/>
                </a:solidFill>
              </a:rPr>
              <a:t>:</a:t>
            </a:r>
            <a:r>
              <a:rPr lang="zh-TW" altLang="en-US" sz="1800" dirty="0">
                <a:solidFill>
                  <a:srgbClr val="002060"/>
                </a:solidFill>
              </a:rPr>
              <a:t> 下載一個批次匯入的</a:t>
            </a:r>
            <a:r>
              <a:rPr lang="en-US" altLang="zh-TW" sz="1800" dirty="0">
                <a:solidFill>
                  <a:srgbClr val="002060"/>
                </a:solidFill>
              </a:rPr>
              <a:t>Excel</a:t>
            </a:r>
            <a:r>
              <a:rPr lang="zh-TW" altLang="en-US" sz="1800" dirty="0">
                <a:solidFill>
                  <a:srgbClr val="002060"/>
                </a:solidFill>
              </a:rPr>
              <a:t>表格。</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匯入物料檔案 </a:t>
            </a:r>
            <a:r>
              <a:rPr lang="en-US" altLang="zh-TW" sz="1800" dirty="0">
                <a:solidFill>
                  <a:srgbClr val="002060"/>
                </a:solidFill>
              </a:rPr>
              <a:t>:</a:t>
            </a:r>
            <a:r>
              <a:rPr lang="zh-TW" altLang="en-US" sz="1800" dirty="0">
                <a:solidFill>
                  <a:srgbClr val="002060"/>
                </a:solidFill>
              </a:rPr>
              <a:t> 匯入</a:t>
            </a:r>
            <a:r>
              <a:rPr lang="en-US" altLang="zh-TW" sz="1800" dirty="0">
                <a:solidFill>
                  <a:srgbClr val="002060"/>
                </a:solidFill>
              </a:rPr>
              <a:t>Excel</a:t>
            </a:r>
            <a:r>
              <a:rPr lang="zh-TW" altLang="en-US" sz="1800" dirty="0">
                <a:solidFill>
                  <a:srgbClr val="002060"/>
                </a:solidFill>
              </a:rPr>
              <a:t>表格，若料號已存在或缺少資料會跳過該筆資料。</a:t>
            </a:r>
            <a:endParaRPr lang="en-US" altLang="zh-TW" sz="1800" dirty="0">
              <a:solidFill>
                <a:srgbClr val="002060"/>
              </a:solidFill>
            </a:endParaRPr>
          </a:p>
        </p:txBody>
      </p:sp>
      <p:sp>
        <p:nvSpPr>
          <p:cNvPr id="2" name="標題 2">
            <a:extLst>
              <a:ext uri="{FF2B5EF4-FFF2-40B4-BE49-F238E27FC236}">
                <a16:creationId xmlns:a16="http://schemas.microsoft.com/office/drawing/2014/main" id="{8767E269-9CFF-5A14-052F-328B4EEFC91C}"/>
              </a:ext>
            </a:extLst>
          </p:cNvPr>
          <p:cNvSpPr txBox="1">
            <a:spLocks/>
          </p:cNvSpPr>
          <p:nvPr/>
        </p:nvSpPr>
        <p:spPr>
          <a:xfrm>
            <a:off x="537039" y="546476"/>
            <a:ext cx="11162053"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批次建立零件的基礎資訊。</a:t>
            </a:r>
          </a:p>
        </p:txBody>
      </p:sp>
      <p:pic>
        <p:nvPicPr>
          <p:cNvPr id="6" name="圖片 5" descr="The image shows a computer interface displaying a list of successfully imported materials, each entry showing a timestamp and a unique identifier.&#10;&#10;AI 產生的內容可能不正確。">
            <a:extLst>
              <a:ext uri="{FF2B5EF4-FFF2-40B4-BE49-F238E27FC236}">
                <a16:creationId xmlns:a16="http://schemas.microsoft.com/office/drawing/2014/main" id="{E42C0942-9C94-1F8B-F48D-BF32640ABC1C}"/>
              </a:ext>
            </a:extLst>
          </p:cNvPr>
          <p:cNvPicPr>
            <a:picLocks noChangeAspect="1"/>
          </p:cNvPicPr>
          <p:nvPr/>
        </p:nvPicPr>
        <p:blipFill>
          <a:blip r:embed="rId3"/>
          <a:stretch>
            <a:fillRect/>
          </a:stretch>
        </p:blipFill>
        <p:spPr>
          <a:xfrm>
            <a:off x="5729271" y="2102177"/>
            <a:ext cx="6363034" cy="3824194"/>
          </a:xfrm>
          <a:prstGeom prst="rect">
            <a:avLst/>
          </a:prstGeom>
        </p:spPr>
      </p:pic>
      <p:grpSp>
        <p:nvGrpSpPr>
          <p:cNvPr id="7" name="群組 6">
            <a:extLst>
              <a:ext uri="{FF2B5EF4-FFF2-40B4-BE49-F238E27FC236}">
                <a16:creationId xmlns:a16="http://schemas.microsoft.com/office/drawing/2014/main" id="{1212DD35-BEC5-17C6-9ED9-A43E26D98FC6}"/>
              </a:ext>
            </a:extLst>
          </p:cNvPr>
          <p:cNvGrpSpPr/>
          <p:nvPr/>
        </p:nvGrpSpPr>
        <p:grpSpPr>
          <a:xfrm>
            <a:off x="5886827" y="2352562"/>
            <a:ext cx="1620613" cy="664015"/>
            <a:chOff x="7688062" y="4473437"/>
            <a:chExt cx="2041726" cy="711122"/>
          </a:xfrm>
        </p:grpSpPr>
        <p:sp>
          <p:nvSpPr>
            <p:cNvPr id="8" name="矩形 7">
              <a:extLst>
                <a:ext uri="{FF2B5EF4-FFF2-40B4-BE49-F238E27FC236}">
                  <a16:creationId xmlns:a16="http://schemas.microsoft.com/office/drawing/2014/main" id="{7320A1F7-923D-29C5-14A3-E831F05F4582}"/>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9" name="文字方塊 8">
              <a:extLst>
                <a:ext uri="{FF2B5EF4-FFF2-40B4-BE49-F238E27FC236}">
                  <a16:creationId xmlns:a16="http://schemas.microsoft.com/office/drawing/2014/main" id="{7CEBD8D0-98C0-8011-C44F-2E3DB56614C4}"/>
                </a:ext>
              </a:extLst>
            </p:cNvPr>
            <p:cNvSpPr txBox="1"/>
            <p:nvPr/>
          </p:nvSpPr>
          <p:spPr>
            <a:xfrm>
              <a:off x="9416882" y="4473437"/>
              <a:ext cx="233271" cy="342014"/>
            </a:xfrm>
            <a:prstGeom prst="rect">
              <a:avLst/>
            </a:prstGeom>
            <a:noFill/>
          </p:spPr>
          <p:txBody>
            <a:bodyPr wrap="none" rtlCol="0">
              <a:spAutoFit/>
            </a:bodyPr>
            <a:lstStyle/>
            <a:p>
              <a:r>
                <a:rPr lang="en-US" altLang="zh-TW" b="1" dirty="0">
                  <a:solidFill>
                    <a:srgbClr val="FF0000"/>
                  </a:solidFill>
                </a:rPr>
                <a:t>1</a:t>
              </a:r>
              <a:endParaRPr lang="zh-TW" altLang="en-US" b="1" dirty="0">
                <a:solidFill>
                  <a:srgbClr val="FF0000"/>
                </a:solidFill>
              </a:endParaRPr>
            </a:p>
          </p:txBody>
        </p:sp>
      </p:grpSp>
      <p:grpSp>
        <p:nvGrpSpPr>
          <p:cNvPr id="10" name="群組 9">
            <a:extLst>
              <a:ext uri="{FF2B5EF4-FFF2-40B4-BE49-F238E27FC236}">
                <a16:creationId xmlns:a16="http://schemas.microsoft.com/office/drawing/2014/main" id="{87EE98CB-6FE5-0138-BAF7-D2DD37F16ADE}"/>
              </a:ext>
            </a:extLst>
          </p:cNvPr>
          <p:cNvGrpSpPr/>
          <p:nvPr/>
        </p:nvGrpSpPr>
        <p:grpSpPr>
          <a:xfrm>
            <a:off x="7519644" y="2352562"/>
            <a:ext cx="1685151" cy="664015"/>
            <a:chOff x="7688062" y="4473437"/>
            <a:chExt cx="2123034" cy="711122"/>
          </a:xfrm>
        </p:grpSpPr>
        <p:sp>
          <p:nvSpPr>
            <p:cNvPr id="11" name="矩形 10">
              <a:extLst>
                <a:ext uri="{FF2B5EF4-FFF2-40B4-BE49-F238E27FC236}">
                  <a16:creationId xmlns:a16="http://schemas.microsoft.com/office/drawing/2014/main" id="{B0CB904D-92EE-6E74-2063-80B4A0BA5703}"/>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12" name="文字方塊 11">
              <a:extLst>
                <a:ext uri="{FF2B5EF4-FFF2-40B4-BE49-F238E27FC236}">
                  <a16:creationId xmlns:a16="http://schemas.microsoft.com/office/drawing/2014/main" id="{8EC89D72-D5F4-2366-E2C3-77F01BB3F798}"/>
                </a:ext>
              </a:extLst>
            </p:cNvPr>
            <p:cNvSpPr txBox="1"/>
            <p:nvPr/>
          </p:nvSpPr>
          <p:spPr>
            <a:xfrm>
              <a:off x="9416882" y="4473437"/>
              <a:ext cx="394214" cy="395533"/>
            </a:xfrm>
            <a:prstGeom prst="rect">
              <a:avLst/>
            </a:prstGeom>
            <a:noFill/>
          </p:spPr>
          <p:txBody>
            <a:bodyPr wrap="none" rtlCol="0">
              <a:spAutoFit/>
            </a:bodyPr>
            <a:lstStyle/>
            <a:p>
              <a:r>
                <a:rPr lang="en-US" altLang="zh-TW" b="1" dirty="0">
                  <a:solidFill>
                    <a:srgbClr val="FF0000"/>
                  </a:solidFill>
                </a:rPr>
                <a:t>2</a:t>
              </a:r>
              <a:endParaRPr lang="zh-TW" altLang="en-US" b="1" dirty="0">
                <a:solidFill>
                  <a:srgbClr val="FF0000"/>
                </a:solidFill>
              </a:endParaRPr>
            </a:p>
          </p:txBody>
        </p:sp>
      </p:grpSp>
    </p:spTree>
    <p:extLst>
      <p:ext uri="{BB962C8B-B14F-4D97-AF65-F5344CB8AC3E}">
        <p14:creationId xmlns:p14="http://schemas.microsoft.com/office/powerpoint/2010/main" val="2960327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CCBA7-0506-C670-1535-B08FD3DB7191}"/>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28074E02-8E7D-C833-0BFF-C2993072FFA4}"/>
              </a:ext>
            </a:extLst>
          </p:cNvPr>
          <p:cNvSpPr>
            <a:spLocks noGrp="1"/>
          </p:cNvSpPr>
          <p:nvPr>
            <p:ph type="title"/>
          </p:nvPr>
        </p:nvSpPr>
        <p:spPr>
          <a:xfrm>
            <a:off x="319892" y="107816"/>
            <a:ext cx="11379200" cy="461659"/>
          </a:xfrm>
        </p:spPr>
        <p:txBody>
          <a:bodyPr>
            <a:noAutofit/>
          </a:bodyPr>
          <a:lstStyle/>
          <a:p>
            <a:r>
              <a:rPr lang="zh-TW" altLang="en-US" sz="2800" dirty="0"/>
              <a:t>物料主檔管理 </a:t>
            </a:r>
            <a:r>
              <a:rPr lang="en-US" altLang="zh-TW" sz="2800" dirty="0"/>
              <a:t>(Material Master) - </a:t>
            </a:r>
            <a:r>
              <a:rPr lang="zh-TW" altLang="en-US" sz="2800" dirty="0"/>
              <a:t>限 </a:t>
            </a:r>
            <a:r>
              <a:rPr lang="en-US" altLang="zh-TW" sz="2800" dirty="0"/>
              <a:t>Level 1 &amp; 2</a:t>
            </a:r>
          </a:p>
        </p:txBody>
      </p:sp>
      <p:sp>
        <p:nvSpPr>
          <p:cNvPr id="53" name="標題 2">
            <a:extLst>
              <a:ext uri="{FF2B5EF4-FFF2-40B4-BE49-F238E27FC236}">
                <a16:creationId xmlns:a16="http://schemas.microsoft.com/office/drawing/2014/main" id="{DD32D693-B9CD-C627-7DB5-BC71BD85CCD9}"/>
              </a:ext>
            </a:extLst>
          </p:cNvPr>
          <p:cNvSpPr txBox="1">
            <a:spLocks/>
          </p:cNvSpPr>
          <p:nvPr/>
        </p:nvSpPr>
        <p:spPr>
          <a:xfrm>
            <a:off x="217952" y="1200293"/>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編輯</a:t>
            </a:r>
            <a:r>
              <a:rPr lang="en-US" altLang="zh-TW" sz="1800" dirty="0">
                <a:solidFill>
                  <a:srgbClr val="0000FF"/>
                </a:solidFill>
              </a:rPr>
              <a:t>/</a:t>
            </a:r>
            <a:r>
              <a:rPr lang="zh-TW" altLang="en-US" sz="1800" dirty="0">
                <a:solidFill>
                  <a:srgbClr val="0000FF"/>
                </a:solidFill>
              </a:rPr>
              <a:t>刪除物料</a:t>
            </a:r>
          </a:p>
        </p:txBody>
      </p:sp>
      <p:sp>
        <p:nvSpPr>
          <p:cNvPr id="22" name="標題 2">
            <a:extLst>
              <a:ext uri="{FF2B5EF4-FFF2-40B4-BE49-F238E27FC236}">
                <a16:creationId xmlns:a16="http://schemas.microsoft.com/office/drawing/2014/main" id="{537198B6-A9EA-3949-A249-B7B54A2D2385}"/>
              </a:ext>
            </a:extLst>
          </p:cNvPr>
          <p:cNvSpPr txBox="1">
            <a:spLocks/>
          </p:cNvSpPr>
          <p:nvPr/>
        </p:nvSpPr>
        <p:spPr>
          <a:xfrm>
            <a:off x="537039" y="1661952"/>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Font typeface="+mj-lt"/>
              <a:buAutoNum type="arabicPeriod"/>
            </a:pPr>
            <a:r>
              <a:rPr lang="zh-TW" altLang="en-US" sz="1800" dirty="0">
                <a:solidFill>
                  <a:srgbClr val="002060"/>
                </a:solidFill>
              </a:rPr>
              <a:t>料號：不可更改。</a:t>
            </a:r>
            <a:endParaRPr lang="en-US" altLang="zh-TW" sz="1800" dirty="0">
              <a:solidFill>
                <a:srgbClr val="002060"/>
              </a:solidFill>
            </a:endParaRPr>
          </a:p>
          <a:p>
            <a:pPr marL="342900" indent="-342900" algn="l">
              <a:buFont typeface="+mj-lt"/>
              <a:buAutoNum type="arabicPeriod"/>
            </a:pPr>
            <a:r>
              <a:rPr lang="zh-TW" altLang="en-US" sz="1800" dirty="0">
                <a:solidFill>
                  <a:srgbClr val="002060"/>
                </a:solidFill>
              </a:rPr>
              <a:t>品名 </a:t>
            </a:r>
            <a:r>
              <a:rPr lang="en-US" altLang="zh-TW" sz="1800" dirty="0">
                <a:solidFill>
                  <a:srgbClr val="002060"/>
                </a:solidFill>
              </a:rPr>
              <a:t>: </a:t>
            </a:r>
            <a:r>
              <a:rPr lang="zh-TW" altLang="en-US" sz="1800" dirty="0">
                <a:solidFill>
                  <a:srgbClr val="002060"/>
                </a:solidFill>
              </a:rPr>
              <a:t>自定義名稱。</a:t>
            </a:r>
          </a:p>
          <a:p>
            <a:pPr marL="342900" indent="-342900" algn="l">
              <a:buFont typeface="+mj-lt"/>
              <a:buAutoNum type="arabicPeriod"/>
            </a:pPr>
            <a:r>
              <a:rPr lang="zh-TW" altLang="en-US" sz="1800" dirty="0">
                <a:solidFill>
                  <a:srgbClr val="002060"/>
                </a:solidFill>
              </a:rPr>
              <a:t>規格</a:t>
            </a:r>
            <a:r>
              <a:rPr lang="en-US" altLang="zh-TW" sz="1800" dirty="0">
                <a:solidFill>
                  <a:srgbClr val="002060"/>
                </a:solidFill>
              </a:rPr>
              <a:t>/</a:t>
            </a:r>
            <a:r>
              <a:rPr lang="zh-TW" altLang="en-US" sz="1800" dirty="0">
                <a:solidFill>
                  <a:srgbClr val="002060"/>
                </a:solidFill>
              </a:rPr>
              <a:t>型號 </a:t>
            </a:r>
            <a:r>
              <a:rPr lang="en-US" altLang="zh-TW" sz="1800" dirty="0">
                <a:solidFill>
                  <a:srgbClr val="002060"/>
                </a:solidFill>
              </a:rPr>
              <a:t>: </a:t>
            </a:r>
            <a:r>
              <a:rPr lang="zh-TW" altLang="en-US" sz="1800" dirty="0">
                <a:solidFill>
                  <a:srgbClr val="002060"/>
                </a:solidFill>
              </a:rPr>
              <a:t>自定義敘述。</a:t>
            </a:r>
          </a:p>
          <a:p>
            <a:pPr marL="342900" indent="-342900" algn="l">
              <a:buFont typeface="+mj-lt"/>
              <a:buAutoNum type="arabicPeriod"/>
            </a:pPr>
            <a:r>
              <a:rPr lang="zh-TW" altLang="en-US" sz="1800" dirty="0">
                <a:solidFill>
                  <a:srgbClr val="002060"/>
                </a:solidFill>
              </a:rPr>
              <a:t>安全庫存：設定此零件的最低安全總量。</a:t>
            </a:r>
          </a:p>
          <a:p>
            <a:pPr marL="342900" indent="-342900" algn="l">
              <a:buFont typeface="+mj-lt"/>
              <a:buAutoNum type="arabicPeriod"/>
            </a:pPr>
            <a:r>
              <a:rPr lang="zh-TW" altLang="en-US" sz="1800" dirty="0">
                <a:solidFill>
                  <a:srgbClr val="002060"/>
                </a:solidFill>
              </a:rPr>
              <a:t>採購交期：設定補貨所需天數。</a:t>
            </a:r>
          </a:p>
          <a:p>
            <a:pPr marL="342900" indent="-342900" algn="l">
              <a:buFont typeface="+mj-lt"/>
              <a:buAutoNum type="arabicPeriod"/>
            </a:pPr>
            <a:r>
              <a:rPr lang="zh-TW" altLang="en-US" sz="1800" dirty="0">
                <a:solidFill>
                  <a:srgbClr val="002060"/>
                </a:solidFill>
              </a:rPr>
              <a:t>儲位</a:t>
            </a:r>
            <a:r>
              <a:rPr lang="en-US" altLang="zh-TW" sz="1800" dirty="0">
                <a:solidFill>
                  <a:srgbClr val="002060"/>
                </a:solidFill>
              </a:rPr>
              <a:t>: </a:t>
            </a:r>
            <a:r>
              <a:rPr lang="zh-TW" altLang="en-US" sz="1800" dirty="0">
                <a:solidFill>
                  <a:srgbClr val="002060"/>
                </a:solidFill>
              </a:rPr>
              <a:t>儲存的位置編號</a:t>
            </a:r>
          </a:p>
          <a:p>
            <a:pPr marL="342900" indent="-342900" algn="l">
              <a:buFont typeface="+mj-lt"/>
              <a:buAutoNum type="arabicPeriod"/>
            </a:pPr>
            <a:r>
              <a:rPr lang="zh-TW" altLang="en-US" sz="1800" dirty="0">
                <a:solidFill>
                  <a:srgbClr val="002060"/>
                </a:solidFill>
              </a:rPr>
              <a:t>機台 </a:t>
            </a:r>
            <a:r>
              <a:rPr lang="en-US" altLang="zh-TW" sz="1800" dirty="0">
                <a:solidFill>
                  <a:srgbClr val="002060"/>
                </a:solidFill>
              </a:rPr>
              <a:t>: </a:t>
            </a:r>
            <a:r>
              <a:rPr lang="zh-TW" altLang="en-US" sz="1800" dirty="0">
                <a:solidFill>
                  <a:srgbClr val="002060"/>
                </a:solidFill>
              </a:rPr>
              <a:t>這個零件使用的機台。</a:t>
            </a:r>
          </a:p>
          <a:p>
            <a:pPr marL="342900" indent="-342900" algn="l">
              <a:buFont typeface="+mj-lt"/>
              <a:buAutoNum type="arabicPeriod"/>
            </a:pPr>
            <a:r>
              <a:rPr lang="zh-TW" altLang="en-US" sz="1800" dirty="0">
                <a:solidFill>
                  <a:srgbClr val="002060"/>
                </a:solidFill>
              </a:rPr>
              <a:t>金額 </a:t>
            </a:r>
            <a:r>
              <a:rPr lang="en-US" altLang="zh-TW" sz="1800" dirty="0">
                <a:solidFill>
                  <a:srgbClr val="002060"/>
                </a:solidFill>
              </a:rPr>
              <a:t>: </a:t>
            </a:r>
            <a:r>
              <a:rPr lang="zh-TW" altLang="en-US" sz="1800" dirty="0">
                <a:solidFill>
                  <a:srgbClr val="002060"/>
                </a:solidFill>
              </a:rPr>
              <a:t>每單位金額</a:t>
            </a:r>
          </a:p>
          <a:p>
            <a:pPr marL="342900" indent="-342900" algn="l">
              <a:buFont typeface="+mj-lt"/>
              <a:buAutoNum type="arabicPeriod"/>
            </a:pPr>
            <a:r>
              <a:rPr lang="zh-TW" altLang="en-US" sz="1800" dirty="0">
                <a:solidFill>
                  <a:srgbClr val="002060"/>
                </a:solidFill>
              </a:rPr>
              <a:t>目前庫存數量 </a:t>
            </a:r>
            <a:r>
              <a:rPr lang="en-US" altLang="zh-TW" sz="1800" dirty="0">
                <a:solidFill>
                  <a:srgbClr val="002060"/>
                </a:solidFill>
              </a:rPr>
              <a:t>: </a:t>
            </a:r>
            <a:r>
              <a:rPr lang="zh-TW" altLang="en-US" sz="1800" dirty="0">
                <a:solidFill>
                  <a:srgbClr val="002060"/>
                </a:solidFill>
              </a:rPr>
              <a:t>目前庫存</a:t>
            </a:r>
          </a:p>
          <a:p>
            <a:pPr marL="342900" indent="-342900" algn="l">
              <a:buFont typeface="+mj-lt"/>
              <a:buAutoNum type="arabicPeriod"/>
            </a:pPr>
            <a:r>
              <a:rPr lang="zh-TW" altLang="en-US" sz="1800" dirty="0">
                <a:solidFill>
                  <a:srgbClr val="002060"/>
                </a:solidFill>
              </a:rPr>
              <a:t>附件 </a:t>
            </a:r>
            <a:r>
              <a:rPr lang="en-US" altLang="zh-TW" sz="1800" dirty="0">
                <a:solidFill>
                  <a:srgbClr val="002060"/>
                </a:solidFill>
              </a:rPr>
              <a:t>: </a:t>
            </a:r>
            <a:r>
              <a:rPr lang="zh-TW" altLang="en-US" sz="1800" dirty="0">
                <a:solidFill>
                  <a:srgbClr val="002060"/>
                </a:solidFill>
              </a:rPr>
              <a:t>僅支援</a:t>
            </a:r>
            <a:r>
              <a:rPr lang="en-US" altLang="zh-TW" sz="1800" dirty="0">
                <a:solidFill>
                  <a:srgbClr val="002060"/>
                </a:solidFill>
              </a:rPr>
              <a:t>PDF</a:t>
            </a:r>
            <a:r>
              <a:rPr lang="zh-TW" altLang="en-US" sz="1800" dirty="0">
                <a:solidFill>
                  <a:srgbClr val="002060"/>
                </a:solidFill>
              </a:rPr>
              <a:t>檔，一個料號最多兩個附件，單個檔案最大</a:t>
            </a:r>
            <a:r>
              <a:rPr lang="en-US" altLang="zh-TW" sz="1800" dirty="0">
                <a:solidFill>
                  <a:srgbClr val="002060"/>
                </a:solidFill>
              </a:rPr>
              <a:t>2MB</a:t>
            </a:r>
          </a:p>
        </p:txBody>
      </p:sp>
      <p:sp>
        <p:nvSpPr>
          <p:cNvPr id="2" name="標題 2">
            <a:extLst>
              <a:ext uri="{FF2B5EF4-FFF2-40B4-BE49-F238E27FC236}">
                <a16:creationId xmlns:a16="http://schemas.microsoft.com/office/drawing/2014/main" id="{1E1055AF-5024-F161-5AF8-BD0BD30461A0}"/>
              </a:ext>
            </a:extLst>
          </p:cNvPr>
          <p:cNvSpPr txBox="1">
            <a:spLocks/>
          </p:cNvSpPr>
          <p:nvPr/>
        </p:nvSpPr>
        <p:spPr>
          <a:xfrm>
            <a:off x="537039" y="546476"/>
            <a:ext cx="11162053"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編輯或刪除零件的基礎資訊，在庫存查詢中對要編輯或刪除的物料點右鍵即可出現選單。</a:t>
            </a:r>
          </a:p>
        </p:txBody>
      </p:sp>
      <p:pic>
        <p:nvPicPr>
          <p:cNvPr id="5" name="圖片 4" descr="TES&#10;&#10;AI 產生的內容可能不正確。">
            <a:extLst>
              <a:ext uri="{FF2B5EF4-FFF2-40B4-BE49-F238E27FC236}">
                <a16:creationId xmlns:a16="http://schemas.microsoft.com/office/drawing/2014/main" id="{2815E343-2EDF-B1A2-25BB-25D5C0BEC1BB}"/>
              </a:ext>
            </a:extLst>
          </p:cNvPr>
          <p:cNvPicPr>
            <a:picLocks noChangeAspect="1"/>
          </p:cNvPicPr>
          <p:nvPr/>
        </p:nvPicPr>
        <p:blipFill>
          <a:blip r:embed="rId3"/>
          <a:stretch>
            <a:fillRect/>
          </a:stretch>
        </p:blipFill>
        <p:spPr>
          <a:xfrm>
            <a:off x="5376541" y="4183529"/>
            <a:ext cx="2507084" cy="2379497"/>
          </a:xfrm>
          <a:prstGeom prst="rect">
            <a:avLst/>
          </a:prstGeom>
        </p:spPr>
      </p:pic>
      <p:sp>
        <p:nvSpPr>
          <p:cNvPr id="9" name="標題 2">
            <a:extLst>
              <a:ext uri="{FF2B5EF4-FFF2-40B4-BE49-F238E27FC236}">
                <a16:creationId xmlns:a16="http://schemas.microsoft.com/office/drawing/2014/main" id="{5B29FD1B-F5FB-0EC9-D33C-F7F83BA4F595}"/>
              </a:ext>
            </a:extLst>
          </p:cNvPr>
          <p:cNvSpPr txBox="1">
            <a:spLocks/>
          </p:cNvSpPr>
          <p:nvPr/>
        </p:nvSpPr>
        <p:spPr>
          <a:xfrm>
            <a:off x="217952" y="4148812"/>
            <a:ext cx="5511319" cy="1224466"/>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2.</a:t>
            </a:r>
            <a:r>
              <a:rPr lang="zh-TW" altLang="en-US" sz="1800" dirty="0">
                <a:solidFill>
                  <a:srgbClr val="0000FF"/>
                </a:solidFill>
              </a:rPr>
              <a:t>領料</a:t>
            </a:r>
          </a:p>
        </p:txBody>
      </p:sp>
      <p:sp>
        <p:nvSpPr>
          <p:cNvPr id="11" name="標題 2">
            <a:extLst>
              <a:ext uri="{FF2B5EF4-FFF2-40B4-BE49-F238E27FC236}">
                <a16:creationId xmlns:a16="http://schemas.microsoft.com/office/drawing/2014/main" id="{F180A0E3-15B1-4F5E-274B-6D1D616FA348}"/>
              </a:ext>
            </a:extLst>
          </p:cNvPr>
          <p:cNvSpPr txBox="1">
            <a:spLocks/>
          </p:cNvSpPr>
          <p:nvPr/>
        </p:nvSpPr>
        <p:spPr>
          <a:xfrm>
            <a:off x="537039" y="4610471"/>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Font typeface="+mj-lt"/>
              <a:buAutoNum type="arabicPeriod"/>
            </a:pPr>
            <a:r>
              <a:rPr lang="zh-TW" altLang="en-US" sz="1800" dirty="0">
                <a:solidFill>
                  <a:srgbClr val="002060"/>
                </a:solidFill>
              </a:rPr>
              <a:t>點擊領料會自動將料號帶入領料視窗。</a:t>
            </a:r>
            <a:endParaRPr lang="en-US" altLang="zh-TW" sz="1800" dirty="0">
              <a:solidFill>
                <a:srgbClr val="002060"/>
              </a:solidFill>
            </a:endParaRPr>
          </a:p>
        </p:txBody>
      </p:sp>
      <p:pic>
        <p:nvPicPr>
          <p:cNvPr id="12" name="圖片 11" descr="The image shows a form in a software application for inputting and editing a batch order, with fields for product name, specification, purchase quantity, and additional PDF attachments.&#10;&#10;AI 產生的內容可能不正確。">
            <a:extLst>
              <a:ext uri="{FF2B5EF4-FFF2-40B4-BE49-F238E27FC236}">
                <a16:creationId xmlns:a16="http://schemas.microsoft.com/office/drawing/2014/main" id="{6B33997B-9A36-D19C-449B-9E9499CD0B11}"/>
              </a:ext>
            </a:extLst>
          </p:cNvPr>
          <p:cNvPicPr>
            <a:picLocks noChangeAspect="1"/>
          </p:cNvPicPr>
          <p:nvPr/>
        </p:nvPicPr>
        <p:blipFill>
          <a:blip r:embed="rId4"/>
          <a:stretch>
            <a:fillRect/>
          </a:stretch>
        </p:blipFill>
        <p:spPr>
          <a:xfrm>
            <a:off x="8043168" y="938401"/>
            <a:ext cx="3930879" cy="5811783"/>
          </a:xfrm>
          <a:prstGeom prst="rect">
            <a:avLst/>
          </a:prstGeom>
        </p:spPr>
      </p:pic>
    </p:spTree>
    <p:extLst>
      <p:ext uri="{BB962C8B-B14F-4D97-AF65-F5344CB8AC3E}">
        <p14:creationId xmlns:p14="http://schemas.microsoft.com/office/powerpoint/2010/main" val="319827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7C49E-ACCC-CC16-7516-4D97DD300EFB}"/>
            </a:ext>
          </a:extLst>
        </p:cNvPr>
        <p:cNvGrpSpPr/>
        <p:nvPr/>
      </p:nvGrpSpPr>
      <p:grpSpPr>
        <a:xfrm>
          <a:off x="0" y="0"/>
          <a:ext cx="0" cy="0"/>
          <a:chOff x="0" y="0"/>
          <a:chExt cx="0" cy="0"/>
        </a:xfrm>
      </p:grpSpPr>
      <p:pic>
        <p:nvPicPr>
          <p:cNvPr id="5" name="圖片 4" descr="The image displays an Excel sheet with columns for Warehouse, Item Code, Quantity, and various attributes like Material Name, Part Number, and Quantity, detailing inventory levels for different parts and tools.&#10;&#10;AI 產生的內容可能不正確。">
            <a:extLst>
              <a:ext uri="{FF2B5EF4-FFF2-40B4-BE49-F238E27FC236}">
                <a16:creationId xmlns:a16="http://schemas.microsoft.com/office/drawing/2014/main" id="{A59BFF6E-75C8-0154-43C2-4E82A03530EB}"/>
              </a:ext>
            </a:extLst>
          </p:cNvPr>
          <p:cNvPicPr>
            <a:picLocks noChangeAspect="1"/>
          </p:cNvPicPr>
          <p:nvPr/>
        </p:nvPicPr>
        <p:blipFill>
          <a:blip r:embed="rId3"/>
          <a:stretch>
            <a:fillRect/>
          </a:stretch>
        </p:blipFill>
        <p:spPr>
          <a:xfrm>
            <a:off x="1216241" y="2432022"/>
            <a:ext cx="9493188" cy="4076052"/>
          </a:xfrm>
          <a:prstGeom prst="rect">
            <a:avLst/>
          </a:prstGeom>
        </p:spPr>
      </p:pic>
      <p:sp>
        <p:nvSpPr>
          <p:cNvPr id="3" name="標題 2">
            <a:extLst>
              <a:ext uri="{FF2B5EF4-FFF2-40B4-BE49-F238E27FC236}">
                <a16:creationId xmlns:a16="http://schemas.microsoft.com/office/drawing/2014/main" id="{B7F30EA8-14CA-0337-626E-936AC979D801}"/>
              </a:ext>
            </a:extLst>
          </p:cNvPr>
          <p:cNvSpPr>
            <a:spLocks noGrp="1"/>
          </p:cNvSpPr>
          <p:nvPr>
            <p:ph type="title"/>
          </p:nvPr>
        </p:nvSpPr>
        <p:spPr>
          <a:xfrm>
            <a:off x="319892" y="107816"/>
            <a:ext cx="11379200" cy="461659"/>
          </a:xfrm>
        </p:spPr>
        <p:txBody>
          <a:bodyPr>
            <a:noAutofit/>
          </a:bodyPr>
          <a:lstStyle/>
          <a:p>
            <a:r>
              <a:rPr lang="zh-TW" altLang="en-US" sz="2800" dirty="0"/>
              <a:t>庫存查詢看板 </a:t>
            </a:r>
            <a:r>
              <a:rPr lang="en-US" altLang="zh-TW" sz="2800" dirty="0"/>
              <a:t>(Inventory Monitoring)</a:t>
            </a:r>
          </a:p>
        </p:txBody>
      </p:sp>
      <p:sp>
        <p:nvSpPr>
          <p:cNvPr id="53" name="標題 2">
            <a:extLst>
              <a:ext uri="{FF2B5EF4-FFF2-40B4-BE49-F238E27FC236}">
                <a16:creationId xmlns:a16="http://schemas.microsoft.com/office/drawing/2014/main" id="{B596482B-6D93-EDE6-9CE4-8F0026113B93}"/>
              </a:ext>
            </a:extLst>
          </p:cNvPr>
          <p:cNvSpPr txBox="1">
            <a:spLocks/>
          </p:cNvSpPr>
          <p:nvPr/>
        </p:nvSpPr>
        <p:spPr>
          <a:xfrm>
            <a:off x="217952" y="1200293"/>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庫存查詢</a:t>
            </a:r>
          </a:p>
        </p:txBody>
      </p:sp>
      <p:sp>
        <p:nvSpPr>
          <p:cNvPr id="22" name="標題 2">
            <a:extLst>
              <a:ext uri="{FF2B5EF4-FFF2-40B4-BE49-F238E27FC236}">
                <a16:creationId xmlns:a16="http://schemas.microsoft.com/office/drawing/2014/main" id="{F4FEE48A-F7EC-3CCD-4683-59A177514EE8}"/>
              </a:ext>
            </a:extLst>
          </p:cNvPr>
          <p:cNvSpPr txBox="1">
            <a:spLocks/>
          </p:cNvSpPr>
          <p:nvPr/>
        </p:nvSpPr>
        <p:spPr>
          <a:xfrm>
            <a:off x="537039" y="1661952"/>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AutoNum type="arabicPeriod"/>
            </a:pPr>
            <a:r>
              <a:rPr lang="zh-TW" altLang="en-US" sz="1800" dirty="0">
                <a:solidFill>
                  <a:srgbClr val="002060"/>
                </a:solidFill>
              </a:rPr>
              <a:t>輸入關鍵字按查詢可搜尋物料名稱、規格</a:t>
            </a:r>
            <a:r>
              <a:rPr lang="en-US" altLang="zh-TW" sz="1800" dirty="0">
                <a:solidFill>
                  <a:srgbClr val="002060"/>
                </a:solidFill>
              </a:rPr>
              <a:t>/</a:t>
            </a:r>
            <a:r>
              <a:rPr lang="zh-TW" altLang="en-US" sz="1800" dirty="0">
                <a:solidFill>
                  <a:srgbClr val="002060"/>
                </a:solidFill>
              </a:rPr>
              <a:t>型號、料號。</a:t>
            </a:r>
            <a:endParaRPr lang="en-US" altLang="zh-TW" sz="1800" dirty="0">
              <a:solidFill>
                <a:srgbClr val="002060"/>
              </a:solidFill>
            </a:endParaRPr>
          </a:p>
          <a:p>
            <a:pPr marL="342900" indent="-342900" algn="l">
              <a:buAutoNum type="arabicPeriod"/>
            </a:pPr>
            <a:r>
              <a:rPr lang="zh-TW" altLang="en-US" sz="1800" dirty="0">
                <a:solidFill>
                  <a:srgbClr val="002060"/>
                </a:solidFill>
              </a:rPr>
              <a:t>按顯示全部可以顯示所有庫存</a:t>
            </a:r>
            <a:endParaRPr lang="en-US" altLang="zh-TW" sz="1800" dirty="0">
              <a:solidFill>
                <a:srgbClr val="002060"/>
              </a:solidFill>
            </a:endParaRPr>
          </a:p>
          <a:p>
            <a:pPr marL="342900" indent="-342900" algn="l">
              <a:buAutoNum type="arabicPeriod"/>
            </a:pPr>
            <a:r>
              <a:rPr lang="zh-TW" altLang="en-US" sz="1800" dirty="0">
                <a:solidFill>
                  <a:srgbClr val="002060"/>
                </a:solidFill>
              </a:rPr>
              <a:t>將目前顯示的結果匯出成</a:t>
            </a:r>
            <a:r>
              <a:rPr lang="en-US" altLang="zh-TW" sz="1800" dirty="0">
                <a:solidFill>
                  <a:srgbClr val="002060"/>
                </a:solidFill>
              </a:rPr>
              <a:t>EXCEL</a:t>
            </a:r>
          </a:p>
        </p:txBody>
      </p:sp>
      <p:sp>
        <p:nvSpPr>
          <p:cNvPr id="2" name="標題 2">
            <a:extLst>
              <a:ext uri="{FF2B5EF4-FFF2-40B4-BE49-F238E27FC236}">
                <a16:creationId xmlns:a16="http://schemas.microsoft.com/office/drawing/2014/main" id="{4289CD50-EC92-01C2-856A-A0B1D73CC3CA}"/>
              </a:ext>
            </a:extLst>
          </p:cNvPr>
          <p:cNvSpPr txBox="1">
            <a:spLocks/>
          </p:cNvSpPr>
          <p:nvPr/>
        </p:nvSpPr>
        <p:spPr>
          <a:xfrm>
            <a:off x="537039" y="546476"/>
            <a:ext cx="11162053"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用來查詢庫存清單。</a:t>
            </a:r>
            <a:endParaRPr lang="en-US" altLang="zh-TW" sz="1800" dirty="0">
              <a:solidFill>
                <a:srgbClr val="002060"/>
              </a:solidFill>
            </a:endParaRPr>
          </a:p>
        </p:txBody>
      </p:sp>
      <p:grpSp>
        <p:nvGrpSpPr>
          <p:cNvPr id="13" name="群組 12">
            <a:extLst>
              <a:ext uri="{FF2B5EF4-FFF2-40B4-BE49-F238E27FC236}">
                <a16:creationId xmlns:a16="http://schemas.microsoft.com/office/drawing/2014/main" id="{CA39850A-CCFF-5C11-2F94-0CC24B6799A3}"/>
              </a:ext>
            </a:extLst>
          </p:cNvPr>
          <p:cNvGrpSpPr/>
          <p:nvPr/>
        </p:nvGrpSpPr>
        <p:grpSpPr>
          <a:xfrm>
            <a:off x="1242876" y="2442791"/>
            <a:ext cx="3504063" cy="726537"/>
            <a:chOff x="1242876" y="2442791"/>
            <a:chExt cx="3504063" cy="726537"/>
          </a:xfrm>
        </p:grpSpPr>
        <p:sp>
          <p:nvSpPr>
            <p:cNvPr id="8" name="矩形 7">
              <a:extLst>
                <a:ext uri="{FF2B5EF4-FFF2-40B4-BE49-F238E27FC236}">
                  <a16:creationId xmlns:a16="http://schemas.microsoft.com/office/drawing/2014/main" id="{77569B9B-F6B6-65C1-8F27-66905B080C28}"/>
                </a:ext>
              </a:extLst>
            </p:cNvPr>
            <p:cNvSpPr/>
            <p:nvPr/>
          </p:nvSpPr>
          <p:spPr>
            <a:xfrm>
              <a:off x="1242876" y="2744015"/>
              <a:ext cx="3433806" cy="4253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9" name="文字方塊 8">
              <a:extLst>
                <a:ext uri="{FF2B5EF4-FFF2-40B4-BE49-F238E27FC236}">
                  <a16:creationId xmlns:a16="http://schemas.microsoft.com/office/drawing/2014/main" id="{682DB426-07CB-8C72-8DED-A2A98203AF8C}"/>
                </a:ext>
              </a:extLst>
            </p:cNvPr>
            <p:cNvSpPr txBox="1"/>
            <p:nvPr/>
          </p:nvSpPr>
          <p:spPr>
            <a:xfrm>
              <a:off x="4354620" y="2442791"/>
              <a:ext cx="392319" cy="212796"/>
            </a:xfrm>
            <a:prstGeom prst="rect">
              <a:avLst/>
            </a:prstGeom>
            <a:noFill/>
          </p:spPr>
          <p:txBody>
            <a:bodyPr wrap="none" rtlCol="0">
              <a:spAutoFit/>
            </a:bodyPr>
            <a:lstStyle/>
            <a:p>
              <a:r>
                <a:rPr lang="en-US" altLang="zh-TW" b="1" dirty="0">
                  <a:solidFill>
                    <a:srgbClr val="FF0000"/>
                  </a:solidFill>
                </a:rPr>
                <a:t>1</a:t>
              </a:r>
              <a:endParaRPr lang="zh-TW" altLang="en-US" b="1" dirty="0">
                <a:solidFill>
                  <a:srgbClr val="FF0000"/>
                </a:solidFill>
              </a:endParaRPr>
            </a:p>
          </p:txBody>
        </p:sp>
      </p:grpSp>
      <p:grpSp>
        <p:nvGrpSpPr>
          <p:cNvPr id="10" name="群組 9">
            <a:extLst>
              <a:ext uri="{FF2B5EF4-FFF2-40B4-BE49-F238E27FC236}">
                <a16:creationId xmlns:a16="http://schemas.microsoft.com/office/drawing/2014/main" id="{32F369C7-05F9-7B5B-C9B5-94215FE304DB}"/>
              </a:ext>
            </a:extLst>
          </p:cNvPr>
          <p:cNvGrpSpPr/>
          <p:nvPr/>
        </p:nvGrpSpPr>
        <p:grpSpPr>
          <a:xfrm>
            <a:off x="4746939" y="2734605"/>
            <a:ext cx="1227733" cy="434724"/>
            <a:chOff x="7688062" y="4473437"/>
            <a:chExt cx="2108579" cy="711122"/>
          </a:xfrm>
        </p:grpSpPr>
        <p:sp>
          <p:nvSpPr>
            <p:cNvPr id="11" name="矩形 10">
              <a:extLst>
                <a:ext uri="{FF2B5EF4-FFF2-40B4-BE49-F238E27FC236}">
                  <a16:creationId xmlns:a16="http://schemas.microsoft.com/office/drawing/2014/main" id="{1DCEEAA0-3D59-C6F2-544B-468C29669FDD}"/>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12" name="文字方塊 11">
              <a:extLst>
                <a:ext uri="{FF2B5EF4-FFF2-40B4-BE49-F238E27FC236}">
                  <a16:creationId xmlns:a16="http://schemas.microsoft.com/office/drawing/2014/main" id="{11951813-B9EF-D7FD-B2C3-510394065010}"/>
                </a:ext>
              </a:extLst>
            </p:cNvPr>
            <p:cNvSpPr txBox="1"/>
            <p:nvPr/>
          </p:nvSpPr>
          <p:spPr>
            <a:xfrm>
              <a:off x="9416882" y="4473437"/>
              <a:ext cx="379759" cy="342014"/>
            </a:xfrm>
            <a:prstGeom prst="rect">
              <a:avLst/>
            </a:prstGeom>
            <a:noFill/>
          </p:spPr>
          <p:txBody>
            <a:bodyPr wrap="none" rtlCol="0">
              <a:spAutoFit/>
            </a:bodyPr>
            <a:lstStyle/>
            <a:p>
              <a:r>
                <a:rPr lang="en-US" altLang="zh-TW" b="1" dirty="0">
                  <a:solidFill>
                    <a:srgbClr val="FF0000"/>
                  </a:solidFill>
                </a:rPr>
                <a:t>2</a:t>
              </a:r>
              <a:endParaRPr lang="zh-TW" altLang="en-US" b="1" dirty="0">
                <a:solidFill>
                  <a:srgbClr val="FF0000"/>
                </a:solidFill>
              </a:endParaRPr>
            </a:p>
          </p:txBody>
        </p:sp>
      </p:grpSp>
      <p:grpSp>
        <p:nvGrpSpPr>
          <p:cNvPr id="14" name="群組 13">
            <a:extLst>
              <a:ext uri="{FF2B5EF4-FFF2-40B4-BE49-F238E27FC236}">
                <a16:creationId xmlns:a16="http://schemas.microsoft.com/office/drawing/2014/main" id="{419E174B-B1E3-B848-6CEB-38FAE71CE378}"/>
              </a:ext>
            </a:extLst>
          </p:cNvPr>
          <p:cNvGrpSpPr/>
          <p:nvPr/>
        </p:nvGrpSpPr>
        <p:grpSpPr>
          <a:xfrm>
            <a:off x="6001080" y="2726323"/>
            <a:ext cx="1319522" cy="434724"/>
            <a:chOff x="7688062" y="4473437"/>
            <a:chExt cx="2266223" cy="711122"/>
          </a:xfrm>
        </p:grpSpPr>
        <p:sp>
          <p:nvSpPr>
            <p:cNvPr id="15" name="矩形 14">
              <a:extLst>
                <a:ext uri="{FF2B5EF4-FFF2-40B4-BE49-F238E27FC236}">
                  <a16:creationId xmlns:a16="http://schemas.microsoft.com/office/drawing/2014/main" id="{5E47320B-B027-CBD0-FAAF-8FA53A01916D}"/>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16" name="文字方塊 15">
              <a:extLst>
                <a:ext uri="{FF2B5EF4-FFF2-40B4-BE49-F238E27FC236}">
                  <a16:creationId xmlns:a16="http://schemas.microsoft.com/office/drawing/2014/main" id="{94840CC8-B795-D694-C635-2086A8594F13}"/>
                </a:ext>
              </a:extLst>
            </p:cNvPr>
            <p:cNvSpPr txBox="1"/>
            <p:nvPr/>
          </p:nvSpPr>
          <p:spPr>
            <a:xfrm>
              <a:off x="9416882" y="4473437"/>
              <a:ext cx="537403" cy="604154"/>
            </a:xfrm>
            <a:prstGeom prst="rect">
              <a:avLst/>
            </a:prstGeom>
            <a:noFill/>
          </p:spPr>
          <p:txBody>
            <a:bodyPr wrap="none" rtlCol="0">
              <a:spAutoFit/>
            </a:bodyPr>
            <a:lstStyle/>
            <a:p>
              <a:r>
                <a:rPr lang="en-US" altLang="zh-TW" b="1" dirty="0">
                  <a:solidFill>
                    <a:srgbClr val="FF0000"/>
                  </a:solidFill>
                </a:rPr>
                <a:t>3</a:t>
              </a:r>
              <a:endParaRPr lang="zh-TW" altLang="en-US" b="1" dirty="0">
                <a:solidFill>
                  <a:srgbClr val="FF0000"/>
                </a:solidFill>
              </a:endParaRPr>
            </a:p>
          </p:txBody>
        </p:sp>
      </p:grpSp>
    </p:spTree>
    <p:extLst>
      <p:ext uri="{BB962C8B-B14F-4D97-AF65-F5344CB8AC3E}">
        <p14:creationId xmlns:p14="http://schemas.microsoft.com/office/powerpoint/2010/main" val="3848321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86F2D-441E-C8CF-D2BA-4F7D8A537029}"/>
            </a:ext>
          </a:extLst>
        </p:cNvPr>
        <p:cNvGrpSpPr/>
        <p:nvPr/>
      </p:nvGrpSpPr>
      <p:grpSpPr>
        <a:xfrm>
          <a:off x="0" y="0"/>
          <a:ext cx="0" cy="0"/>
          <a:chOff x="0" y="0"/>
          <a:chExt cx="0" cy="0"/>
        </a:xfrm>
      </p:grpSpPr>
      <p:pic>
        <p:nvPicPr>
          <p:cNvPr id="17" name="圖片 16" descr="The image displays a data table or spreadsheet with various entries including dates, types, quantities, and stock codes, detailing transactions or inventory changes.&#10;&#10;AI 產生的內容可能不正確。">
            <a:extLst>
              <a:ext uri="{FF2B5EF4-FFF2-40B4-BE49-F238E27FC236}">
                <a16:creationId xmlns:a16="http://schemas.microsoft.com/office/drawing/2014/main" id="{8CCDDC38-4D85-2E58-2F05-18BE098FFEB6}"/>
              </a:ext>
            </a:extLst>
          </p:cNvPr>
          <p:cNvPicPr>
            <a:picLocks noChangeAspect="1"/>
          </p:cNvPicPr>
          <p:nvPr/>
        </p:nvPicPr>
        <p:blipFill>
          <a:blip r:embed="rId3"/>
          <a:stretch>
            <a:fillRect/>
          </a:stretch>
        </p:blipFill>
        <p:spPr>
          <a:xfrm>
            <a:off x="943222" y="2549189"/>
            <a:ext cx="10349686" cy="4040593"/>
          </a:xfrm>
          <a:prstGeom prst="rect">
            <a:avLst/>
          </a:prstGeom>
        </p:spPr>
      </p:pic>
      <p:sp>
        <p:nvSpPr>
          <p:cNvPr id="3" name="標題 2">
            <a:extLst>
              <a:ext uri="{FF2B5EF4-FFF2-40B4-BE49-F238E27FC236}">
                <a16:creationId xmlns:a16="http://schemas.microsoft.com/office/drawing/2014/main" id="{C270DE86-9A70-56E8-2281-6F5F0FF774E9}"/>
              </a:ext>
            </a:extLst>
          </p:cNvPr>
          <p:cNvSpPr>
            <a:spLocks noGrp="1"/>
          </p:cNvSpPr>
          <p:nvPr>
            <p:ph type="title"/>
          </p:nvPr>
        </p:nvSpPr>
        <p:spPr>
          <a:xfrm>
            <a:off x="319892" y="107816"/>
            <a:ext cx="11379200" cy="461659"/>
          </a:xfrm>
        </p:spPr>
        <p:txBody>
          <a:bodyPr>
            <a:noAutofit/>
          </a:bodyPr>
          <a:lstStyle/>
          <a:p>
            <a:r>
              <a:rPr lang="zh-TW" altLang="en-US" sz="2800" dirty="0"/>
              <a:t>交易紀錄看板 </a:t>
            </a:r>
            <a:r>
              <a:rPr lang="en-US" altLang="zh-TW" sz="2800" dirty="0"/>
              <a:t>(Transactions Monitoring)</a:t>
            </a:r>
          </a:p>
        </p:txBody>
      </p:sp>
      <p:sp>
        <p:nvSpPr>
          <p:cNvPr id="53" name="標題 2">
            <a:extLst>
              <a:ext uri="{FF2B5EF4-FFF2-40B4-BE49-F238E27FC236}">
                <a16:creationId xmlns:a16="http://schemas.microsoft.com/office/drawing/2014/main" id="{4D6CF398-790B-5557-5B54-5FA210EDCE9F}"/>
              </a:ext>
            </a:extLst>
          </p:cNvPr>
          <p:cNvSpPr txBox="1">
            <a:spLocks/>
          </p:cNvSpPr>
          <p:nvPr/>
        </p:nvSpPr>
        <p:spPr>
          <a:xfrm>
            <a:off x="217952" y="1200293"/>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交易查詢</a:t>
            </a:r>
          </a:p>
        </p:txBody>
      </p:sp>
      <p:sp>
        <p:nvSpPr>
          <p:cNvPr id="22" name="標題 2">
            <a:extLst>
              <a:ext uri="{FF2B5EF4-FFF2-40B4-BE49-F238E27FC236}">
                <a16:creationId xmlns:a16="http://schemas.microsoft.com/office/drawing/2014/main" id="{54EA35B4-86A7-AAA0-3F99-6EEF28C17C93}"/>
              </a:ext>
            </a:extLst>
          </p:cNvPr>
          <p:cNvSpPr txBox="1">
            <a:spLocks/>
          </p:cNvSpPr>
          <p:nvPr/>
        </p:nvSpPr>
        <p:spPr>
          <a:xfrm>
            <a:off x="537039" y="1661952"/>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AutoNum type="arabicPeriod"/>
            </a:pPr>
            <a:r>
              <a:rPr lang="zh-TW" altLang="en-US" sz="1800" dirty="0">
                <a:solidFill>
                  <a:srgbClr val="002060"/>
                </a:solidFill>
              </a:rPr>
              <a:t>輸入日期可設定查詢區間。</a:t>
            </a:r>
            <a:endParaRPr lang="en-US" altLang="zh-TW" sz="1800" dirty="0">
              <a:solidFill>
                <a:srgbClr val="002060"/>
              </a:solidFill>
            </a:endParaRPr>
          </a:p>
          <a:p>
            <a:pPr marL="342900" indent="-342900" algn="l">
              <a:buAutoNum type="arabicPeriod"/>
            </a:pPr>
            <a:r>
              <a:rPr lang="zh-TW" altLang="en-US" sz="1800" dirty="0">
                <a:solidFill>
                  <a:srgbClr val="002060"/>
                </a:solidFill>
              </a:rPr>
              <a:t>顯示區間內所有交易紀錄</a:t>
            </a:r>
            <a:r>
              <a:rPr lang="en-US" altLang="zh-TW" sz="1800" dirty="0">
                <a:solidFill>
                  <a:srgbClr val="002060"/>
                </a:solidFill>
              </a:rPr>
              <a:t>(</a:t>
            </a:r>
            <a:r>
              <a:rPr lang="zh-TW" altLang="en-US" sz="1800" dirty="0">
                <a:solidFill>
                  <a:srgbClr val="002060"/>
                </a:solidFill>
              </a:rPr>
              <a:t>新建、編輯、入庫、領料、刪除</a:t>
            </a:r>
            <a:r>
              <a:rPr lang="en-US" altLang="zh-TW" sz="1800" dirty="0">
                <a:solidFill>
                  <a:srgbClr val="002060"/>
                </a:solidFill>
              </a:rPr>
              <a:t>)</a:t>
            </a:r>
          </a:p>
          <a:p>
            <a:pPr marL="342900" indent="-342900" algn="l">
              <a:buAutoNum type="arabicPeriod"/>
            </a:pPr>
            <a:r>
              <a:rPr lang="zh-TW" altLang="en-US" sz="1800" dirty="0">
                <a:solidFill>
                  <a:srgbClr val="002060"/>
                </a:solidFill>
              </a:rPr>
              <a:t>將目前顯示的結果匯出成</a:t>
            </a:r>
            <a:r>
              <a:rPr lang="en-US" altLang="zh-TW" sz="1800" dirty="0">
                <a:solidFill>
                  <a:srgbClr val="002060"/>
                </a:solidFill>
              </a:rPr>
              <a:t>EXCEL</a:t>
            </a:r>
          </a:p>
        </p:txBody>
      </p:sp>
      <p:sp>
        <p:nvSpPr>
          <p:cNvPr id="2" name="標題 2">
            <a:extLst>
              <a:ext uri="{FF2B5EF4-FFF2-40B4-BE49-F238E27FC236}">
                <a16:creationId xmlns:a16="http://schemas.microsoft.com/office/drawing/2014/main" id="{9C153126-B03D-B38B-C9C3-023D7D3FB5CC}"/>
              </a:ext>
            </a:extLst>
          </p:cNvPr>
          <p:cNvSpPr txBox="1">
            <a:spLocks/>
          </p:cNvSpPr>
          <p:nvPr/>
        </p:nvSpPr>
        <p:spPr>
          <a:xfrm>
            <a:off x="537039" y="546476"/>
            <a:ext cx="11162053"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用來查詢所有交易紀錄。</a:t>
            </a:r>
            <a:endParaRPr lang="en-US" altLang="zh-TW" sz="1800" dirty="0">
              <a:solidFill>
                <a:srgbClr val="002060"/>
              </a:solidFill>
            </a:endParaRPr>
          </a:p>
        </p:txBody>
      </p:sp>
      <p:grpSp>
        <p:nvGrpSpPr>
          <p:cNvPr id="13" name="群組 12">
            <a:extLst>
              <a:ext uri="{FF2B5EF4-FFF2-40B4-BE49-F238E27FC236}">
                <a16:creationId xmlns:a16="http://schemas.microsoft.com/office/drawing/2014/main" id="{D3B27F33-12A4-0F8E-31C0-7AAE1C3C527D}"/>
              </a:ext>
            </a:extLst>
          </p:cNvPr>
          <p:cNvGrpSpPr/>
          <p:nvPr/>
        </p:nvGrpSpPr>
        <p:grpSpPr>
          <a:xfrm>
            <a:off x="1039784" y="2597116"/>
            <a:ext cx="5328553" cy="723133"/>
            <a:chOff x="1242876" y="2442791"/>
            <a:chExt cx="3504063" cy="726537"/>
          </a:xfrm>
        </p:grpSpPr>
        <p:sp>
          <p:nvSpPr>
            <p:cNvPr id="8" name="矩形 7">
              <a:extLst>
                <a:ext uri="{FF2B5EF4-FFF2-40B4-BE49-F238E27FC236}">
                  <a16:creationId xmlns:a16="http://schemas.microsoft.com/office/drawing/2014/main" id="{063AAEE8-C349-D56D-2E96-A85998D99CE2}"/>
                </a:ext>
              </a:extLst>
            </p:cNvPr>
            <p:cNvSpPr/>
            <p:nvPr/>
          </p:nvSpPr>
          <p:spPr>
            <a:xfrm>
              <a:off x="1242876" y="2744015"/>
              <a:ext cx="3433806" cy="4253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9" name="文字方塊 8">
              <a:extLst>
                <a:ext uri="{FF2B5EF4-FFF2-40B4-BE49-F238E27FC236}">
                  <a16:creationId xmlns:a16="http://schemas.microsoft.com/office/drawing/2014/main" id="{91508901-DD21-4656-2DF6-03CE3CC4F3C2}"/>
                </a:ext>
              </a:extLst>
            </p:cNvPr>
            <p:cNvSpPr txBox="1"/>
            <p:nvPr/>
          </p:nvSpPr>
          <p:spPr>
            <a:xfrm>
              <a:off x="4354620" y="2442791"/>
              <a:ext cx="392319" cy="212796"/>
            </a:xfrm>
            <a:prstGeom prst="rect">
              <a:avLst/>
            </a:prstGeom>
            <a:noFill/>
          </p:spPr>
          <p:txBody>
            <a:bodyPr wrap="none" rtlCol="0">
              <a:spAutoFit/>
            </a:bodyPr>
            <a:lstStyle/>
            <a:p>
              <a:r>
                <a:rPr lang="en-US" altLang="zh-TW" b="1" dirty="0">
                  <a:solidFill>
                    <a:srgbClr val="FF0000"/>
                  </a:solidFill>
                </a:rPr>
                <a:t>1</a:t>
              </a:r>
              <a:endParaRPr lang="zh-TW" altLang="en-US" b="1" dirty="0">
                <a:solidFill>
                  <a:srgbClr val="FF0000"/>
                </a:solidFill>
              </a:endParaRPr>
            </a:p>
          </p:txBody>
        </p:sp>
      </p:grpSp>
      <p:grpSp>
        <p:nvGrpSpPr>
          <p:cNvPr id="10" name="群組 9">
            <a:extLst>
              <a:ext uri="{FF2B5EF4-FFF2-40B4-BE49-F238E27FC236}">
                <a16:creationId xmlns:a16="http://schemas.microsoft.com/office/drawing/2014/main" id="{EAB286DD-3230-B329-90E2-B71D172F98EE}"/>
              </a:ext>
            </a:extLst>
          </p:cNvPr>
          <p:cNvGrpSpPr/>
          <p:nvPr/>
        </p:nvGrpSpPr>
        <p:grpSpPr>
          <a:xfrm>
            <a:off x="6486311" y="2854984"/>
            <a:ext cx="1370427" cy="574015"/>
            <a:chOff x="7688062" y="4473437"/>
            <a:chExt cx="2108579" cy="711122"/>
          </a:xfrm>
        </p:grpSpPr>
        <p:sp>
          <p:nvSpPr>
            <p:cNvPr id="11" name="矩形 10">
              <a:extLst>
                <a:ext uri="{FF2B5EF4-FFF2-40B4-BE49-F238E27FC236}">
                  <a16:creationId xmlns:a16="http://schemas.microsoft.com/office/drawing/2014/main" id="{6466F523-62B6-79D5-2965-146409766C3D}"/>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12" name="文字方塊 11">
              <a:extLst>
                <a:ext uri="{FF2B5EF4-FFF2-40B4-BE49-F238E27FC236}">
                  <a16:creationId xmlns:a16="http://schemas.microsoft.com/office/drawing/2014/main" id="{7C5709DB-5419-915A-C670-D2C2CD8BD920}"/>
                </a:ext>
              </a:extLst>
            </p:cNvPr>
            <p:cNvSpPr txBox="1"/>
            <p:nvPr/>
          </p:nvSpPr>
          <p:spPr>
            <a:xfrm>
              <a:off x="9416882" y="4473437"/>
              <a:ext cx="379759" cy="342014"/>
            </a:xfrm>
            <a:prstGeom prst="rect">
              <a:avLst/>
            </a:prstGeom>
            <a:noFill/>
          </p:spPr>
          <p:txBody>
            <a:bodyPr wrap="none" rtlCol="0">
              <a:spAutoFit/>
            </a:bodyPr>
            <a:lstStyle/>
            <a:p>
              <a:r>
                <a:rPr lang="en-US" altLang="zh-TW" b="1" dirty="0">
                  <a:solidFill>
                    <a:srgbClr val="FF0000"/>
                  </a:solidFill>
                </a:rPr>
                <a:t>2</a:t>
              </a:r>
              <a:endParaRPr lang="zh-TW" altLang="en-US" b="1" dirty="0">
                <a:solidFill>
                  <a:srgbClr val="FF0000"/>
                </a:solidFill>
              </a:endParaRPr>
            </a:p>
          </p:txBody>
        </p:sp>
      </p:grpSp>
      <p:grpSp>
        <p:nvGrpSpPr>
          <p:cNvPr id="14" name="群組 13">
            <a:extLst>
              <a:ext uri="{FF2B5EF4-FFF2-40B4-BE49-F238E27FC236}">
                <a16:creationId xmlns:a16="http://schemas.microsoft.com/office/drawing/2014/main" id="{60D86332-E286-CEFF-DD48-A5CA11A0E601}"/>
              </a:ext>
            </a:extLst>
          </p:cNvPr>
          <p:cNvGrpSpPr/>
          <p:nvPr/>
        </p:nvGrpSpPr>
        <p:grpSpPr>
          <a:xfrm>
            <a:off x="7856738" y="2854983"/>
            <a:ext cx="1544714" cy="551783"/>
            <a:chOff x="7688062" y="4473437"/>
            <a:chExt cx="2266223" cy="711122"/>
          </a:xfrm>
        </p:grpSpPr>
        <p:sp>
          <p:nvSpPr>
            <p:cNvPr id="15" name="矩形 14">
              <a:extLst>
                <a:ext uri="{FF2B5EF4-FFF2-40B4-BE49-F238E27FC236}">
                  <a16:creationId xmlns:a16="http://schemas.microsoft.com/office/drawing/2014/main" id="{40CD1250-E10C-6629-CDA0-E85DCCCC0F4D}"/>
                </a:ext>
              </a:extLst>
            </p:cNvPr>
            <p:cNvSpPr/>
            <p:nvPr/>
          </p:nvSpPr>
          <p:spPr>
            <a:xfrm>
              <a:off x="7688062" y="4500979"/>
              <a:ext cx="2041726" cy="683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b="1" dirty="0"/>
            </a:p>
          </p:txBody>
        </p:sp>
        <p:sp>
          <p:nvSpPr>
            <p:cNvPr id="16" name="文字方塊 15">
              <a:extLst>
                <a:ext uri="{FF2B5EF4-FFF2-40B4-BE49-F238E27FC236}">
                  <a16:creationId xmlns:a16="http://schemas.microsoft.com/office/drawing/2014/main" id="{F28F7F73-72DC-9FF0-9A10-3FACF00C3CD3}"/>
                </a:ext>
              </a:extLst>
            </p:cNvPr>
            <p:cNvSpPr txBox="1"/>
            <p:nvPr/>
          </p:nvSpPr>
          <p:spPr>
            <a:xfrm>
              <a:off x="9416882" y="4473437"/>
              <a:ext cx="537403" cy="604154"/>
            </a:xfrm>
            <a:prstGeom prst="rect">
              <a:avLst/>
            </a:prstGeom>
            <a:noFill/>
          </p:spPr>
          <p:txBody>
            <a:bodyPr wrap="none" rtlCol="0">
              <a:spAutoFit/>
            </a:bodyPr>
            <a:lstStyle/>
            <a:p>
              <a:r>
                <a:rPr lang="en-US" altLang="zh-TW" b="1" dirty="0">
                  <a:solidFill>
                    <a:srgbClr val="FF0000"/>
                  </a:solidFill>
                </a:rPr>
                <a:t>3</a:t>
              </a:r>
              <a:endParaRPr lang="zh-TW" altLang="en-US" b="1" dirty="0">
                <a:solidFill>
                  <a:srgbClr val="FF0000"/>
                </a:solidFill>
              </a:endParaRPr>
            </a:p>
          </p:txBody>
        </p:sp>
      </p:grpSp>
    </p:spTree>
    <p:extLst>
      <p:ext uri="{BB962C8B-B14F-4D97-AF65-F5344CB8AC3E}">
        <p14:creationId xmlns:p14="http://schemas.microsoft.com/office/powerpoint/2010/main" val="2291478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970F0-6B8E-ED06-A5FA-0E6CB160897B}"/>
            </a:ext>
          </a:extLst>
        </p:cNvPr>
        <p:cNvGrpSpPr/>
        <p:nvPr/>
      </p:nvGrpSpPr>
      <p:grpSpPr>
        <a:xfrm>
          <a:off x="0" y="0"/>
          <a:ext cx="0" cy="0"/>
          <a:chOff x="0" y="0"/>
          <a:chExt cx="0" cy="0"/>
        </a:xfrm>
      </p:grpSpPr>
      <p:pic>
        <p:nvPicPr>
          <p:cNvPr id="5" name="圖片 4" descr="The image shows a product list on a scanner interface with details such as barcode, item number, description, quantity, and inventory status.&#10;&#10;AI 產生的內容可能不正確。">
            <a:extLst>
              <a:ext uri="{FF2B5EF4-FFF2-40B4-BE49-F238E27FC236}">
                <a16:creationId xmlns:a16="http://schemas.microsoft.com/office/drawing/2014/main" id="{609B7BBE-458B-5269-6D29-D1FC1368DB57}"/>
              </a:ext>
            </a:extLst>
          </p:cNvPr>
          <p:cNvPicPr>
            <a:picLocks noChangeAspect="1"/>
          </p:cNvPicPr>
          <p:nvPr/>
        </p:nvPicPr>
        <p:blipFill>
          <a:blip r:embed="rId3"/>
          <a:stretch>
            <a:fillRect/>
          </a:stretch>
        </p:blipFill>
        <p:spPr>
          <a:xfrm>
            <a:off x="4820574" y="1802426"/>
            <a:ext cx="7028929" cy="4775665"/>
          </a:xfrm>
          <a:prstGeom prst="rect">
            <a:avLst/>
          </a:prstGeom>
        </p:spPr>
      </p:pic>
      <p:sp>
        <p:nvSpPr>
          <p:cNvPr id="3" name="標題 2">
            <a:extLst>
              <a:ext uri="{FF2B5EF4-FFF2-40B4-BE49-F238E27FC236}">
                <a16:creationId xmlns:a16="http://schemas.microsoft.com/office/drawing/2014/main" id="{B57DCFEF-3B38-8B68-0418-10DB98B8F2D1}"/>
              </a:ext>
            </a:extLst>
          </p:cNvPr>
          <p:cNvSpPr>
            <a:spLocks noGrp="1"/>
          </p:cNvSpPr>
          <p:nvPr>
            <p:ph type="title"/>
          </p:nvPr>
        </p:nvSpPr>
        <p:spPr>
          <a:xfrm>
            <a:off x="319892" y="107816"/>
            <a:ext cx="11379200" cy="461659"/>
          </a:xfrm>
        </p:spPr>
        <p:txBody>
          <a:bodyPr>
            <a:noAutofit/>
          </a:bodyPr>
          <a:lstStyle/>
          <a:p>
            <a:r>
              <a:rPr lang="zh-TW" altLang="en-US" sz="2800" dirty="0"/>
              <a:t>庫存盤點</a:t>
            </a:r>
            <a:r>
              <a:rPr lang="en-US" altLang="zh-TW" sz="2800" dirty="0"/>
              <a:t>(Inventory Count)</a:t>
            </a:r>
          </a:p>
        </p:txBody>
      </p:sp>
      <p:sp>
        <p:nvSpPr>
          <p:cNvPr id="53" name="標題 2">
            <a:extLst>
              <a:ext uri="{FF2B5EF4-FFF2-40B4-BE49-F238E27FC236}">
                <a16:creationId xmlns:a16="http://schemas.microsoft.com/office/drawing/2014/main" id="{1FC9917D-7098-CBBA-658B-587034759C06}"/>
              </a:ext>
            </a:extLst>
          </p:cNvPr>
          <p:cNvSpPr txBox="1">
            <a:spLocks/>
          </p:cNvSpPr>
          <p:nvPr/>
        </p:nvSpPr>
        <p:spPr>
          <a:xfrm>
            <a:off x="217952" y="1200293"/>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盤點</a:t>
            </a:r>
          </a:p>
        </p:txBody>
      </p:sp>
      <p:sp>
        <p:nvSpPr>
          <p:cNvPr id="22" name="標題 2">
            <a:extLst>
              <a:ext uri="{FF2B5EF4-FFF2-40B4-BE49-F238E27FC236}">
                <a16:creationId xmlns:a16="http://schemas.microsoft.com/office/drawing/2014/main" id="{1D3A16B1-3B02-80AA-C006-4627840DBF8B}"/>
              </a:ext>
            </a:extLst>
          </p:cNvPr>
          <p:cNvSpPr txBox="1">
            <a:spLocks/>
          </p:cNvSpPr>
          <p:nvPr/>
        </p:nvSpPr>
        <p:spPr>
          <a:xfrm>
            <a:off x="537039" y="1661952"/>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342900" indent="-342900" algn="l">
              <a:buAutoNum type="arabicPeriod"/>
            </a:pPr>
            <a:r>
              <a:rPr lang="zh-TW" altLang="en-US" sz="1800" dirty="0">
                <a:solidFill>
                  <a:srgbClr val="002060"/>
                </a:solidFill>
              </a:rPr>
              <a:t>掃描每個零件的</a:t>
            </a:r>
            <a:r>
              <a:rPr lang="en-US" altLang="zh-TW" sz="1800" dirty="0">
                <a:solidFill>
                  <a:srgbClr val="002060"/>
                </a:solidFill>
              </a:rPr>
              <a:t>Barcode</a:t>
            </a:r>
            <a:r>
              <a:rPr lang="zh-TW" altLang="en-US" sz="1800" dirty="0">
                <a:solidFill>
                  <a:srgbClr val="002060"/>
                </a:solidFill>
              </a:rPr>
              <a:t>並輸入數量。</a:t>
            </a:r>
            <a:endParaRPr lang="en-US" altLang="zh-TW" sz="1800" dirty="0">
              <a:solidFill>
                <a:srgbClr val="002060"/>
              </a:solidFill>
            </a:endParaRPr>
          </a:p>
          <a:p>
            <a:pPr marL="342900" indent="-342900" algn="l">
              <a:buAutoNum type="arabicPeriod"/>
            </a:pPr>
            <a:r>
              <a:rPr lang="zh-TW" altLang="en-US" sz="1800" dirty="0">
                <a:solidFill>
                  <a:srgbClr val="002060"/>
                </a:solidFill>
              </a:rPr>
              <a:t>完成後點擊產出差異報告，會輸出</a:t>
            </a:r>
            <a:endParaRPr lang="en-US" altLang="zh-TW" sz="1800" dirty="0">
              <a:solidFill>
                <a:srgbClr val="002060"/>
              </a:solidFill>
            </a:endParaRPr>
          </a:p>
          <a:p>
            <a:pPr algn="l"/>
            <a:r>
              <a:rPr lang="en-US" altLang="zh-TW" sz="1800" dirty="0">
                <a:solidFill>
                  <a:srgbClr val="002060"/>
                </a:solidFill>
              </a:rPr>
              <a:t>EXCEL</a:t>
            </a:r>
            <a:r>
              <a:rPr lang="zh-TW" altLang="en-US" sz="1800" dirty="0">
                <a:solidFill>
                  <a:srgbClr val="002060"/>
                </a:solidFill>
              </a:rPr>
              <a:t>統計與資料庫庫存有差異的部分</a:t>
            </a:r>
            <a:endParaRPr lang="en-US" altLang="zh-TW" sz="1800" dirty="0">
              <a:solidFill>
                <a:srgbClr val="002060"/>
              </a:solidFill>
            </a:endParaRPr>
          </a:p>
        </p:txBody>
      </p:sp>
      <p:sp>
        <p:nvSpPr>
          <p:cNvPr id="2" name="標題 2">
            <a:extLst>
              <a:ext uri="{FF2B5EF4-FFF2-40B4-BE49-F238E27FC236}">
                <a16:creationId xmlns:a16="http://schemas.microsoft.com/office/drawing/2014/main" id="{A97A1A0C-D644-1092-09B0-23348CC852CA}"/>
              </a:ext>
            </a:extLst>
          </p:cNvPr>
          <p:cNvSpPr txBox="1">
            <a:spLocks/>
          </p:cNvSpPr>
          <p:nvPr/>
        </p:nvSpPr>
        <p:spPr>
          <a:xfrm>
            <a:off x="537039" y="546476"/>
            <a:ext cx="11162053"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用來盤點庫存。</a:t>
            </a:r>
            <a:endParaRPr lang="en-US" altLang="zh-TW" sz="1800" dirty="0">
              <a:solidFill>
                <a:srgbClr val="002060"/>
              </a:solidFill>
            </a:endParaRPr>
          </a:p>
        </p:txBody>
      </p:sp>
    </p:spTree>
    <p:extLst>
      <p:ext uri="{BB962C8B-B14F-4D97-AF65-F5344CB8AC3E}">
        <p14:creationId xmlns:p14="http://schemas.microsoft.com/office/powerpoint/2010/main" val="1667983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51442-6BD6-C6F0-1F69-EC6F14626D62}"/>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F0EA1FF4-D808-25AD-DB91-0D15317D4E6F}"/>
              </a:ext>
            </a:extLst>
          </p:cNvPr>
          <p:cNvSpPr>
            <a:spLocks noGrp="1"/>
          </p:cNvSpPr>
          <p:nvPr>
            <p:ph type="title"/>
          </p:nvPr>
        </p:nvSpPr>
        <p:spPr>
          <a:xfrm>
            <a:off x="319892" y="107816"/>
            <a:ext cx="11379200" cy="461659"/>
          </a:xfrm>
        </p:spPr>
        <p:txBody>
          <a:bodyPr>
            <a:noAutofit/>
          </a:bodyPr>
          <a:lstStyle/>
          <a:p>
            <a:r>
              <a:rPr lang="zh-TW" altLang="en-US" sz="2800" dirty="0"/>
              <a:t>低安全庫存監控 </a:t>
            </a:r>
            <a:r>
              <a:rPr lang="en-US" altLang="zh-TW" sz="2800" dirty="0"/>
              <a:t>(Low Safety Stock Monitoring)</a:t>
            </a:r>
          </a:p>
        </p:txBody>
      </p:sp>
      <p:sp>
        <p:nvSpPr>
          <p:cNvPr id="53" name="標題 2">
            <a:extLst>
              <a:ext uri="{FF2B5EF4-FFF2-40B4-BE49-F238E27FC236}">
                <a16:creationId xmlns:a16="http://schemas.microsoft.com/office/drawing/2014/main" id="{69CA39BF-1A32-AAD9-66FB-E7B28B423FD4}"/>
              </a:ext>
            </a:extLst>
          </p:cNvPr>
          <p:cNvSpPr txBox="1">
            <a:spLocks/>
          </p:cNvSpPr>
          <p:nvPr/>
        </p:nvSpPr>
        <p:spPr>
          <a:xfrm>
            <a:off x="217952" y="1200293"/>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1.</a:t>
            </a:r>
            <a:r>
              <a:rPr lang="zh-TW" altLang="en-US" sz="1800" dirty="0">
                <a:solidFill>
                  <a:srgbClr val="0000FF"/>
                </a:solidFill>
              </a:rPr>
              <a:t>低安全庫存警報</a:t>
            </a:r>
          </a:p>
        </p:txBody>
      </p:sp>
      <p:sp>
        <p:nvSpPr>
          <p:cNvPr id="22" name="標題 2">
            <a:extLst>
              <a:ext uri="{FF2B5EF4-FFF2-40B4-BE49-F238E27FC236}">
                <a16:creationId xmlns:a16="http://schemas.microsoft.com/office/drawing/2014/main" id="{883D75F4-F8CB-CCBB-9215-C21AF251BD35}"/>
              </a:ext>
            </a:extLst>
          </p:cNvPr>
          <p:cNvSpPr txBox="1">
            <a:spLocks/>
          </p:cNvSpPr>
          <p:nvPr/>
        </p:nvSpPr>
        <p:spPr>
          <a:xfrm>
            <a:off x="537039" y="1661952"/>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領料後若剩餘庫存低於安全庫存則會發出警報。</a:t>
            </a:r>
            <a:endParaRPr lang="en-US" altLang="zh-TW" sz="1800" dirty="0">
              <a:solidFill>
                <a:srgbClr val="002060"/>
              </a:solidFill>
            </a:endParaRPr>
          </a:p>
        </p:txBody>
      </p:sp>
      <p:sp>
        <p:nvSpPr>
          <p:cNvPr id="35" name="標題 2">
            <a:extLst>
              <a:ext uri="{FF2B5EF4-FFF2-40B4-BE49-F238E27FC236}">
                <a16:creationId xmlns:a16="http://schemas.microsoft.com/office/drawing/2014/main" id="{414A5CC3-D0FF-379E-B150-99D2AAA1AA1B}"/>
              </a:ext>
            </a:extLst>
          </p:cNvPr>
          <p:cNvSpPr txBox="1">
            <a:spLocks/>
          </p:cNvSpPr>
          <p:nvPr/>
        </p:nvSpPr>
        <p:spPr>
          <a:xfrm>
            <a:off x="217952" y="2799753"/>
            <a:ext cx="5511319" cy="461659"/>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algn="l"/>
            <a:r>
              <a:rPr lang="en-US" altLang="zh-TW" sz="1800" dirty="0">
                <a:solidFill>
                  <a:srgbClr val="0000FF"/>
                </a:solidFill>
              </a:rPr>
              <a:t>2.</a:t>
            </a:r>
            <a:r>
              <a:rPr lang="zh-TW" altLang="en-US" sz="1800" dirty="0">
                <a:solidFill>
                  <a:srgbClr val="0000FF"/>
                </a:solidFill>
              </a:rPr>
              <a:t>全廠低安全庫存看板</a:t>
            </a:r>
          </a:p>
        </p:txBody>
      </p:sp>
      <p:sp>
        <p:nvSpPr>
          <p:cNvPr id="43" name="標題 2">
            <a:extLst>
              <a:ext uri="{FF2B5EF4-FFF2-40B4-BE49-F238E27FC236}">
                <a16:creationId xmlns:a16="http://schemas.microsoft.com/office/drawing/2014/main" id="{BE249722-073E-AC22-8A27-BD6475EB42BE}"/>
              </a:ext>
            </a:extLst>
          </p:cNvPr>
          <p:cNvSpPr txBox="1">
            <a:spLocks/>
          </p:cNvSpPr>
          <p:nvPr/>
        </p:nvSpPr>
        <p:spPr>
          <a:xfrm>
            <a:off x="537039" y="3261412"/>
            <a:ext cx="9192749"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打開可看到所有目前庫存低於安全庫存的物料。</a:t>
            </a:r>
            <a:endParaRPr lang="en-US" altLang="zh-TW" sz="1800" dirty="0">
              <a:solidFill>
                <a:srgbClr val="002060"/>
              </a:solidFill>
            </a:endParaRPr>
          </a:p>
        </p:txBody>
      </p:sp>
      <p:sp>
        <p:nvSpPr>
          <p:cNvPr id="2" name="標題 2">
            <a:extLst>
              <a:ext uri="{FF2B5EF4-FFF2-40B4-BE49-F238E27FC236}">
                <a16:creationId xmlns:a16="http://schemas.microsoft.com/office/drawing/2014/main" id="{95F584EF-6D8A-328D-8364-D6A254D4972F}"/>
              </a:ext>
            </a:extLst>
          </p:cNvPr>
          <p:cNvSpPr txBox="1">
            <a:spLocks/>
          </p:cNvSpPr>
          <p:nvPr/>
        </p:nvSpPr>
        <p:spPr>
          <a:xfrm>
            <a:off x="537039" y="546476"/>
            <a:ext cx="11162053" cy="1005790"/>
          </a:xfrm>
          <a:prstGeom prst="rect">
            <a:avLst/>
          </a:prstGeom>
        </p:spPr>
        <p:txBody>
          <a:bodyPr vert="horz" lIns="0" tIns="45720" rIns="0" bIns="45720" rtlCol="0" anchor="t">
            <a:noAutofit/>
          </a:bodyPr>
          <a:lstStyle>
            <a:lvl1pPr algn="ctr" defTabSz="685783" rtl="0" eaLnBrk="1" latinLnBrk="0" hangingPunct="1">
              <a:lnSpc>
                <a:spcPct val="90000"/>
              </a:lnSpc>
              <a:spcBef>
                <a:spcPct val="0"/>
              </a:spcBef>
              <a:buNone/>
              <a:defRPr sz="2400" b="1" kern="1200">
                <a:solidFill>
                  <a:schemeClr val="tx2"/>
                </a:solidFill>
                <a:latin typeface="+mj-lt"/>
                <a:ea typeface="+mj-ea"/>
                <a:cs typeface="+mj-cs"/>
              </a:defRPr>
            </a:lvl1pPr>
          </a:lstStyle>
          <a:p>
            <a:pPr marL="285750" indent="-285750" algn="l">
              <a:buFont typeface="Wingdings" panose="05000000000000000000" pitchFamily="2" charset="2"/>
              <a:buChar char="u"/>
            </a:pPr>
            <a:r>
              <a:rPr lang="zh-TW" altLang="en-US" sz="1800" dirty="0">
                <a:solidFill>
                  <a:srgbClr val="002060"/>
                </a:solidFill>
              </a:rPr>
              <a:t>用以監控低於安全庫存的物料。</a:t>
            </a:r>
            <a:endParaRPr lang="en-US" altLang="zh-TW" sz="1800" dirty="0">
              <a:solidFill>
                <a:srgbClr val="002060"/>
              </a:solidFill>
            </a:endParaRPr>
          </a:p>
        </p:txBody>
      </p:sp>
      <p:pic>
        <p:nvPicPr>
          <p:cNvPr id="9" name="圖片 8" descr="The image shows a factory's low safety stock status table, listing item numbers, descriptions, specifications, and current and safe stock levels.&#10;&#10;AI 產生的內容可能不正確。">
            <a:extLst>
              <a:ext uri="{FF2B5EF4-FFF2-40B4-BE49-F238E27FC236}">
                <a16:creationId xmlns:a16="http://schemas.microsoft.com/office/drawing/2014/main" id="{EA2A33F6-98E9-8069-3FE3-ACF655920218}"/>
              </a:ext>
            </a:extLst>
          </p:cNvPr>
          <p:cNvPicPr>
            <a:picLocks noChangeAspect="1"/>
          </p:cNvPicPr>
          <p:nvPr/>
        </p:nvPicPr>
        <p:blipFill>
          <a:blip r:embed="rId3"/>
          <a:stretch>
            <a:fillRect/>
          </a:stretch>
        </p:blipFill>
        <p:spPr>
          <a:xfrm>
            <a:off x="319892" y="3958849"/>
            <a:ext cx="11391900" cy="2352675"/>
          </a:xfrm>
          <a:prstGeom prst="rect">
            <a:avLst/>
          </a:prstGeom>
        </p:spPr>
      </p:pic>
      <p:pic>
        <p:nvPicPr>
          <p:cNvPr id="11" name="圖片 10" descr="The image shows a red background with Chinese text indicating a factory's total stock has only 3 units left and reaching safe water levels, followed by an acknowledgment message.&#10;&#10;AI 產生的內容可能不正確。">
            <a:extLst>
              <a:ext uri="{FF2B5EF4-FFF2-40B4-BE49-F238E27FC236}">
                <a16:creationId xmlns:a16="http://schemas.microsoft.com/office/drawing/2014/main" id="{678C1D68-5705-E580-7E50-C78B3FDF7E18}"/>
              </a:ext>
            </a:extLst>
          </p:cNvPr>
          <p:cNvPicPr>
            <a:picLocks noChangeAspect="1"/>
          </p:cNvPicPr>
          <p:nvPr/>
        </p:nvPicPr>
        <p:blipFill>
          <a:blip r:embed="rId4"/>
          <a:stretch>
            <a:fillRect/>
          </a:stretch>
        </p:blipFill>
        <p:spPr>
          <a:xfrm>
            <a:off x="6711519" y="1008135"/>
            <a:ext cx="3785494" cy="2520852"/>
          </a:xfrm>
          <a:prstGeom prst="rect">
            <a:avLst/>
          </a:prstGeom>
        </p:spPr>
      </p:pic>
    </p:spTree>
    <p:extLst>
      <p:ext uri="{BB962C8B-B14F-4D97-AF65-F5344CB8AC3E}">
        <p14:creationId xmlns:p14="http://schemas.microsoft.com/office/powerpoint/2010/main" val="3320506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11D1C4D8-6F7D-765A-E97E-3A41CFF0E207}"/>
              </a:ext>
            </a:extLst>
          </p:cNvPr>
          <p:cNvSpPr>
            <a:spLocks noGrp="1"/>
          </p:cNvSpPr>
          <p:nvPr>
            <p:ph type="ctrTitle"/>
          </p:nvPr>
        </p:nvSpPr>
        <p:spPr/>
        <p:txBody>
          <a:bodyPr/>
          <a:lstStyle/>
          <a:p>
            <a:r>
              <a:rPr lang="en-US" altLang="zh-TW" dirty="0"/>
              <a:t>Making Things Smaller and Smarter</a:t>
            </a:r>
            <a:br>
              <a:rPr lang="en-US" altLang="zh-TW" dirty="0"/>
            </a:br>
            <a:r>
              <a:rPr lang="en-US" altLang="zh-TW" sz="3200" dirty="0">
                <a:solidFill>
                  <a:srgbClr val="0087DC"/>
                </a:solidFill>
              </a:rPr>
              <a:t>www.cyntec.com</a:t>
            </a:r>
            <a:r>
              <a:rPr lang="en-US" altLang="zh-TW" sz="3200" dirty="0"/>
              <a:t> </a:t>
            </a:r>
            <a:endParaRPr lang="zh-TW" altLang="en-US" dirty="0"/>
          </a:p>
        </p:txBody>
      </p:sp>
    </p:spTree>
    <p:extLst>
      <p:ext uri="{BB962C8B-B14F-4D97-AF65-F5344CB8AC3E}">
        <p14:creationId xmlns:p14="http://schemas.microsoft.com/office/powerpoint/2010/main" val="3210666819"/>
      </p:ext>
    </p:extLst>
  </p:cSld>
  <p:clrMapOvr>
    <a:masterClrMapping/>
  </p:clrMapOvr>
</p:sld>
</file>

<file path=ppt/theme/theme1.xml><?xml version="1.0" encoding="utf-8"?>
<a:theme xmlns:a="http://schemas.openxmlformats.org/drawingml/2006/main" name="1_Delta_PPTtemplate_16x9">
  <a:themeElements>
    <a:clrScheme name="自訂 2">
      <a:dk1>
        <a:sysClr val="windowText" lastClr="000000"/>
      </a:dk1>
      <a:lt1>
        <a:sysClr val="window" lastClr="FFFFFF"/>
      </a:lt1>
      <a:dk2>
        <a:srgbClr val="0087DC"/>
      </a:dk2>
      <a:lt2>
        <a:srgbClr val="FFFFFF"/>
      </a:lt2>
      <a:accent1>
        <a:srgbClr val="0087DC"/>
      </a:accent1>
      <a:accent2>
        <a:srgbClr val="64D7D7"/>
      </a:accent2>
      <a:accent3>
        <a:srgbClr val="B9EB5F"/>
      </a:accent3>
      <a:accent4>
        <a:srgbClr val="1E50C8"/>
      </a:accent4>
      <a:accent5>
        <a:srgbClr val="96E6BE"/>
      </a:accent5>
      <a:accent6>
        <a:srgbClr val="00BE50"/>
      </a:accent6>
      <a:hlink>
        <a:srgbClr val="0563C1"/>
      </a:hlink>
      <a:folHlink>
        <a:srgbClr val="BFBFBF"/>
      </a:folHlink>
    </a:clrScheme>
    <a:fontScheme name="自訂 3">
      <a:majorFont>
        <a:latin typeface="Arial"/>
        <a:ea typeface="Microsoft JhengHei"/>
        <a:cs typeface=""/>
      </a:majorFont>
      <a:minorFont>
        <a:latin typeface="Arial"/>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1400" b="1"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lta_PPTtemplate_16x9_EN" id="{AB7E8207-7EFD-42D6-915B-94A9E5ABAC21}" vid="{115B2ECF-35DF-4A82-A0C0-9889D580E896}"/>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4153</TotalTime>
  <Words>1491</Words>
  <Application>Microsoft Office PowerPoint</Application>
  <PresentationFormat>寬螢幕</PresentationFormat>
  <Paragraphs>189</Paragraphs>
  <Slides>18</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18</vt:i4>
      </vt:variant>
    </vt:vector>
  </HeadingPairs>
  <TitlesOfParts>
    <vt:vector size="23" baseType="lpstr">
      <vt:lpstr>微軟正黑體</vt:lpstr>
      <vt:lpstr>Arial</vt:lpstr>
      <vt:lpstr>Calibri</vt:lpstr>
      <vt:lpstr>Wingdings</vt:lpstr>
      <vt:lpstr>1_Delta_PPTtemplate_16x9</vt:lpstr>
      <vt:lpstr>備品管理系統</vt:lpstr>
      <vt:lpstr>系統架構與自動啟動 (System Start-up)</vt:lpstr>
      <vt:lpstr>系統設定(System Setting)</vt:lpstr>
      <vt:lpstr>系統設定(System Setting)</vt:lpstr>
      <vt:lpstr>使用者權限等級 (User Access Levels)</vt:lpstr>
      <vt:lpstr>系統登入(System Login)</vt:lpstr>
      <vt:lpstr>權限管理(User Manager)</vt:lpstr>
      <vt:lpstr>密碼修改(Change Password )</vt:lpstr>
      <vt:lpstr>領料作業(Outbound)</vt:lpstr>
      <vt:lpstr>入料作業(Inbound)</vt:lpstr>
      <vt:lpstr>物料主檔管理 (Material Master) - 限 Level 1 &amp; 2</vt:lpstr>
      <vt:lpstr>物料主檔管理 (Material Master) - 限 Level 1 &amp; 2</vt:lpstr>
      <vt:lpstr>物料主檔管理 (Material Master) - 限 Level 1 &amp; 2</vt:lpstr>
      <vt:lpstr>庫存查詢看板 (Inventory Monitoring)</vt:lpstr>
      <vt:lpstr>交易紀錄看板 (Transactions Monitoring)</vt:lpstr>
      <vt:lpstr>庫存盤點(Inventory Count)</vt:lpstr>
      <vt:lpstr>低安全庫存監控 (Low Safety Stock Monitoring)</vt:lpstr>
      <vt:lpstr>Making Things Smaller and Smarter www.cyntec.com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熱壓機熱煤油外洩</dc:title>
  <dc:creator>HANK.HH.HSIEH 謝坤翰</dc:creator>
  <cp:lastModifiedBy>一軒 邱</cp:lastModifiedBy>
  <cp:revision>235</cp:revision>
  <dcterms:created xsi:type="dcterms:W3CDTF">2024-06-19T08:01:53Z</dcterms:created>
  <dcterms:modified xsi:type="dcterms:W3CDTF">2026-04-17T02:43:53Z</dcterms:modified>
</cp:coreProperties>
</file>