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</p:sldMasterIdLst>
  <p:notesMasterIdLst>
    <p:notesMasterId r:id="rId12"/>
  </p:notesMasterIdLst>
  <p:sldIdLst>
    <p:sldId id="320" r:id="rId2"/>
    <p:sldId id="2147375043" r:id="rId3"/>
    <p:sldId id="2147375044" r:id="rId4"/>
    <p:sldId id="2147375045" r:id="rId5"/>
    <p:sldId id="2147375047" r:id="rId6"/>
    <p:sldId id="2147375046" r:id="rId7"/>
    <p:sldId id="2147375054" r:id="rId8"/>
    <p:sldId id="2147375048" r:id="rId9"/>
    <p:sldId id="2147375055" r:id="rId10"/>
    <p:sldId id="3019" r:id="rId11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SON.CM.CHEN 陳嘉民" initials="M陳" lastIdx="0" clrIdx="0">
    <p:extLst>
      <p:ext uri="{19B8F6BF-5375-455C-9EA6-DF929625EA0E}">
        <p15:presenceInfo xmlns:p15="http://schemas.microsoft.com/office/powerpoint/2012/main" userId="S-1-5-21-706670597-753717926-1206375605-40631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FFFF"/>
    <a:srgbClr val="00FF00"/>
    <a:srgbClr val="8E594E"/>
    <a:srgbClr val="FCB88E"/>
    <a:srgbClr val="FFC301"/>
    <a:srgbClr val="F9FF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228" autoAdjust="0"/>
    <p:restoredTop sz="94660"/>
  </p:normalViewPr>
  <p:slideViewPr>
    <p:cSldViewPr snapToGrid="0">
      <p:cViewPr varScale="1">
        <p:scale>
          <a:sx n="72" d="100"/>
          <a:sy n="72" d="100"/>
        </p:scale>
        <p:origin x="448" y="2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97D84D-3581-4C3F-BAAF-6FA71816E76E}" type="datetimeFigureOut">
              <a:rPr lang="zh-TW" altLang="en-US" smtClean="0"/>
              <a:t>2026/3/12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E84CAE-DE11-4542-A7AE-B5ECD1E6AC3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519453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30</a:t>
            </a:r>
            <a:r>
              <a:rPr lang="zh-TW" altLang="en-US" dirty="0"/>
              <a:t>項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FF380C3-7D2B-43B9-A2FF-0551F6D200C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799468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0DD8A-A157-2F29-AD37-FC2C671B5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>
            <a:extLst>
              <a:ext uri="{FF2B5EF4-FFF2-40B4-BE49-F238E27FC236}">
                <a16:creationId xmlns:a16="http://schemas.microsoft.com/office/drawing/2014/main" id="{41B284B5-EE8F-9562-B9DF-D7E919E931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5F12D33-87EE-109F-AD67-06F36289D3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30</a:t>
            </a:r>
            <a:r>
              <a:rPr lang="zh-TW" altLang="en-US" dirty="0"/>
              <a:t>項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978C527-4365-865D-BBFE-F6C266FC1E7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FF380C3-7D2B-43B9-A2FF-0551F6D200C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82096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D55CA7-3455-9AE1-6AE7-41FE5270C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>
            <a:extLst>
              <a:ext uri="{FF2B5EF4-FFF2-40B4-BE49-F238E27FC236}">
                <a16:creationId xmlns:a16="http://schemas.microsoft.com/office/drawing/2014/main" id="{C810AFCB-4455-8F22-2F71-75BAE44A50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80FBE48-D675-29B0-2DD2-0EE1067DA4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30</a:t>
            </a:r>
            <a:r>
              <a:rPr lang="zh-TW" altLang="en-US" dirty="0"/>
              <a:t>項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B03317E-1132-73E3-6206-5B1898A2CF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FF380C3-7D2B-43B9-A2FF-0551F6D200C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234964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D6C2D-62D9-D607-C823-CBD0315893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>
            <a:extLst>
              <a:ext uri="{FF2B5EF4-FFF2-40B4-BE49-F238E27FC236}">
                <a16:creationId xmlns:a16="http://schemas.microsoft.com/office/drawing/2014/main" id="{07F06C8A-975D-4542-5DE6-6A5537294D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569B2ED-B1A6-2928-A6DD-AD95937D0C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30</a:t>
            </a:r>
            <a:r>
              <a:rPr lang="zh-TW" altLang="en-US" dirty="0"/>
              <a:t>項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F3F1A97-D13B-C9B0-4FCB-4C09525DF3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FF380C3-7D2B-43B9-A2FF-0551F6D200C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950867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57E18-B3FA-981A-81E4-99885B19A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>
            <a:extLst>
              <a:ext uri="{FF2B5EF4-FFF2-40B4-BE49-F238E27FC236}">
                <a16:creationId xmlns:a16="http://schemas.microsoft.com/office/drawing/2014/main" id="{F4458DAF-E07E-2D96-96FA-D42617BE20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A6AA76F-988F-7291-6183-CA9D39DC33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30</a:t>
            </a:r>
            <a:r>
              <a:rPr lang="zh-TW" altLang="en-US" dirty="0"/>
              <a:t>項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CA3FEF7-5272-4090-3E34-A6191B5A647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FF380C3-7D2B-43B9-A2FF-0551F6D200C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731604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9FEC42-A439-9A2D-2D9C-4F7D5CE1AE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>
            <a:extLst>
              <a:ext uri="{FF2B5EF4-FFF2-40B4-BE49-F238E27FC236}">
                <a16:creationId xmlns:a16="http://schemas.microsoft.com/office/drawing/2014/main" id="{6219A6F2-8275-5CD7-1007-81B9BBBC90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3573EE5-9226-F213-6C2A-F65E6B86DB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30</a:t>
            </a:r>
            <a:r>
              <a:rPr lang="zh-TW" altLang="en-US" dirty="0"/>
              <a:t>項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3A10352-19C5-FA30-8E24-26AF38D6313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FF380C3-7D2B-43B9-A2FF-0551F6D200C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6823028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11B0E2-9DAD-B6EE-90DC-405AE9E42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>
            <a:extLst>
              <a:ext uri="{FF2B5EF4-FFF2-40B4-BE49-F238E27FC236}">
                <a16:creationId xmlns:a16="http://schemas.microsoft.com/office/drawing/2014/main" id="{9B198BAC-021C-C0B8-F7CE-57CC31AD20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D6B908B-EB18-6544-A5D3-A637663E43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30</a:t>
            </a:r>
            <a:r>
              <a:rPr lang="zh-TW" altLang="en-US" dirty="0"/>
              <a:t>項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22293A4-C3DA-4124-0C26-385BD6ED7EC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FF380C3-7D2B-43B9-A2FF-0551F6D200C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4465759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8BE4CF-676B-A695-B6E5-994869753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>
            <a:extLst>
              <a:ext uri="{FF2B5EF4-FFF2-40B4-BE49-F238E27FC236}">
                <a16:creationId xmlns:a16="http://schemas.microsoft.com/office/drawing/2014/main" id="{4A148959-A56A-B121-9AAC-8FE302D1F8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3944723-52DC-7FD4-7D5D-68A52C4E51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30</a:t>
            </a:r>
            <a:r>
              <a:rPr lang="zh-TW" altLang="en-US" dirty="0"/>
              <a:t>項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A68918A-705E-C659-ED2E-9591C670921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FF380C3-7D2B-43B9-A2FF-0551F6D200C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382006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Page_White">
    <p:bg>
      <p:bgPr>
        <a:blipFill dpi="0" rotWithShape="1">
          <a:blip r:embed="rId2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41E9EBA-B88C-4731-B44A-419865607F1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6647" y="1118617"/>
            <a:ext cx="9144000" cy="1864899"/>
          </a:xfrm>
        </p:spPr>
        <p:txBody>
          <a:bodyPr anchor="t">
            <a:normAutofit/>
          </a:bodyPr>
          <a:lstStyle>
            <a:lvl1pPr algn="l">
              <a:lnSpc>
                <a:spcPct val="110000"/>
              </a:lnSpc>
              <a:defRPr sz="3450" b="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en-US" altLang="zh-TW" dirty="0"/>
              <a:t>Presentation Title Goes Here</a:t>
            </a:r>
            <a:br>
              <a:rPr lang="en-US" altLang="zh-TW" dirty="0"/>
            </a:br>
            <a:r>
              <a:rPr lang="en-US" altLang="zh-TW" dirty="0"/>
              <a:t>Maximum 2 Lines (32-46pt)</a:t>
            </a:r>
            <a:endParaRPr lang="en-US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6C9BD8EC-F37F-4F94-8712-797CC1161E9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96647" y="3015629"/>
            <a:ext cx="9144000" cy="1370104"/>
          </a:xfrm>
        </p:spPr>
        <p:txBody>
          <a:bodyPr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250">
                <a:solidFill>
                  <a:schemeClr val="tx2"/>
                </a:solidFill>
                <a:latin typeface="+mj-lt"/>
                <a:ea typeface="+mj-ea"/>
              </a:defRPr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en-US" altLang="zh-TW" sz="2250" dirty="0"/>
              <a:t>Presentation Subtitle Goes Here</a:t>
            </a:r>
            <a:br>
              <a:rPr lang="en-US" altLang="zh-TW" sz="2250" dirty="0"/>
            </a:br>
            <a:r>
              <a:rPr lang="en-US" altLang="zh-TW" sz="2250" dirty="0"/>
              <a:t>Maximum 2 Lines (24-32pt)</a:t>
            </a:r>
          </a:p>
        </p:txBody>
      </p:sp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38A83012-CC3B-47DF-9FCA-A1115F39D3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18613" y="5739683"/>
            <a:ext cx="5707316" cy="218356"/>
          </a:xfr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微軟正黑體"/>
                <a:cs typeface="Arial" panose="020B0604020202020204" pitchFamily="34" charset="0"/>
              </a:rPr>
              <a:t>Presenter</a:t>
            </a:r>
            <a:r>
              <a:rPr kumimoji="0" lang="zh-TW" altLang="en-US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微軟正黑體"/>
                <a:cs typeface="Arial" panose="020B0604020202020204" pitchFamily="34" charset="0"/>
              </a:rPr>
              <a:t> </a:t>
            </a:r>
            <a:r>
              <a:rPr kumimoji="0" lang="en-US" altLang="zh-TW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微軟正黑體"/>
                <a:cs typeface="Arial" panose="020B0604020202020204" pitchFamily="34" charset="0"/>
              </a:rPr>
              <a:t>Name</a:t>
            </a:r>
            <a:r>
              <a:rPr kumimoji="0" lang="zh-TW" altLang="en-US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微軟正黑體"/>
                <a:cs typeface="Arial" panose="020B0604020202020204" pitchFamily="34" charset="0"/>
              </a:rPr>
              <a:t>｜</a:t>
            </a:r>
            <a:r>
              <a:rPr kumimoji="0" lang="en-US" altLang="zh-TW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微軟正黑體"/>
                <a:cs typeface="Arial" panose="020B0604020202020204" pitchFamily="34" charset="0"/>
              </a:rPr>
              <a:t>Department</a:t>
            </a:r>
            <a:r>
              <a:rPr kumimoji="0" lang="zh-TW" altLang="en-US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微軟正黑體"/>
                <a:cs typeface="Arial" panose="020B0604020202020204" pitchFamily="34" charset="0"/>
              </a:rPr>
              <a:t>｜</a:t>
            </a:r>
            <a:r>
              <a:rPr kumimoji="0" lang="en-US" altLang="zh-TW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微軟正黑體"/>
                <a:cs typeface="Arial" panose="020B0604020202020204" pitchFamily="34" charset="0"/>
              </a:rPr>
              <a:t>MM/DD/YYYY</a:t>
            </a:r>
          </a:p>
        </p:txBody>
      </p:sp>
      <p:sp>
        <p:nvSpPr>
          <p:cNvPr id="9" name="文字版面配置區 4">
            <a:extLst>
              <a:ext uri="{FF2B5EF4-FFF2-40B4-BE49-F238E27FC236}">
                <a16:creationId xmlns:a16="http://schemas.microsoft.com/office/drawing/2014/main" id="{C5F15596-5511-4524-8143-5414A6D0A46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34219" y="738191"/>
            <a:ext cx="2133447" cy="380427"/>
          </a:xfrm>
        </p:spPr>
        <p:txBody>
          <a:bodyPr>
            <a:normAutofit/>
          </a:bodyPr>
          <a:lstStyle>
            <a:lvl1pPr marL="0" indent="0">
              <a:buNone/>
              <a:defRPr sz="1350">
                <a:solidFill>
                  <a:srgbClr val="0070C0"/>
                </a:solidFill>
              </a:defRPr>
            </a:lvl1pPr>
          </a:lstStyle>
          <a:p>
            <a:pPr lvl="0"/>
            <a:r>
              <a:rPr lang="en-US" altLang="zh-TW" dirty="0"/>
              <a:t>Cover </a:t>
            </a:r>
            <a:r>
              <a:rPr lang="en-US" altLang="zh-TW" dirty="0" err="1"/>
              <a:t>Page_White</a:t>
            </a:r>
            <a:endParaRPr lang="zh-TW" altLang="en-US" dirty="0"/>
          </a:p>
        </p:txBody>
      </p:sp>
      <p:pic>
        <p:nvPicPr>
          <p:cNvPr id="4" name="圖片 3"/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375007" y="5234195"/>
            <a:ext cx="1934679" cy="810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743245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ver Page_White">
    <p:bg>
      <p:bgPr>
        <a:blipFill dpi="0" rotWithShape="1">
          <a:blip r:embed="rId2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/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716013" y="5920122"/>
            <a:ext cx="847920" cy="355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550598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訂版面配置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軟正黑體"/>
                <a:cs typeface="+mn-cs"/>
              </a:rPr>
              <a:t>MM/DD/YYYY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微軟正黑體"/>
              <a:cs typeface="+mn-cs"/>
            </a:endParaRPr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軟正黑體"/>
                <a:cs typeface="+mn-cs"/>
              </a:rPr>
              <a:t>Presenter Name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微軟正黑體"/>
              <a:cs typeface="+mn-cs"/>
            </a:endParaRPr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1BD21A8-5E88-4AE4-993C-2D76760CAD3D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軟正黑體"/>
                <a:cs typeface="+mn-cs"/>
              </a:rPr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微軟正黑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281226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age_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2702107E-0279-495A-BF89-DD786730CC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TW" dirty="0"/>
              <a:t>Page Title Goes Here (28-32pt)</a:t>
            </a:r>
            <a:endParaRPr lang="en-US" dirty="0"/>
          </a:p>
        </p:txBody>
      </p:sp>
      <p:grpSp>
        <p:nvGrpSpPr>
          <p:cNvPr id="49" name="群組 48">
            <a:extLst>
              <a:ext uri="{FF2B5EF4-FFF2-40B4-BE49-F238E27FC236}">
                <a16:creationId xmlns:a16="http://schemas.microsoft.com/office/drawing/2014/main" id="{8AEA3F42-8ED3-4628-89CC-CE9DC5D371F1}"/>
              </a:ext>
            </a:extLst>
          </p:cNvPr>
          <p:cNvGrpSpPr/>
          <p:nvPr userDrawn="1"/>
        </p:nvGrpSpPr>
        <p:grpSpPr>
          <a:xfrm>
            <a:off x="0" y="7008897"/>
            <a:ext cx="10358581" cy="423333"/>
            <a:chOff x="0" y="5256671"/>
            <a:chExt cx="7768936" cy="317500"/>
          </a:xfrm>
        </p:grpSpPr>
        <p:grpSp>
          <p:nvGrpSpPr>
            <p:cNvPr id="50" name="群組 49">
              <a:extLst>
                <a:ext uri="{FF2B5EF4-FFF2-40B4-BE49-F238E27FC236}">
                  <a16:creationId xmlns:a16="http://schemas.microsoft.com/office/drawing/2014/main" id="{BDCAFD82-B8CA-4738-843C-0FC6D7C6C5F5}"/>
                </a:ext>
              </a:extLst>
            </p:cNvPr>
            <p:cNvGrpSpPr/>
            <p:nvPr userDrawn="1"/>
          </p:nvGrpSpPr>
          <p:grpSpPr>
            <a:xfrm>
              <a:off x="0" y="5256671"/>
              <a:ext cx="1321058" cy="317500"/>
              <a:chOff x="0" y="5256671"/>
              <a:chExt cx="1321058" cy="317500"/>
            </a:xfrm>
          </p:grpSpPr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3C299B04-932C-4519-8E76-017FBD3A569A}"/>
                  </a:ext>
                </a:extLst>
              </p:cNvPr>
              <p:cNvSpPr/>
              <p:nvPr/>
            </p:nvSpPr>
            <p:spPr>
              <a:xfrm>
                <a:off x="0" y="5256671"/>
                <a:ext cx="317500" cy="317500"/>
              </a:xfrm>
              <a:prstGeom prst="rect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4" name="矩形 63">
                <a:extLst>
                  <a:ext uri="{FF2B5EF4-FFF2-40B4-BE49-F238E27FC236}">
                    <a16:creationId xmlns:a16="http://schemas.microsoft.com/office/drawing/2014/main" id="{0B20FB35-F562-4362-B563-165B24074653}"/>
                  </a:ext>
                </a:extLst>
              </p:cNvPr>
              <p:cNvSpPr/>
              <p:nvPr userDrawn="1"/>
            </p:nvSpPr>
            <p:spPr>
              <a:xfrm>
                <a:off x="501779" y="5256671"/>
                <a:ext cx="317500" cy="3175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0DE5232E-7B0E-4AEF-9D43-2E173D30F319}"/>
                  </a:ext>
                </a:extLst>
              </p:cNvPr>
              <p:cNvSpPr/>
              <p:nvPr userDrawn="1"/>
            </p:nvSpPr>
            <p:spPr>
              <a:xfrm>
                <a:off x="1003558" y="5256671"/>
                <a:ext cx="317500" cy="3175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</p:grpSp>
        <p:grpSp>
          <p:nvGrpSpPr>
            <p:cNvPr id="51" name="群組 50">
              <a:extLst>
                <a:ext uri="{FF2B5EF4-FFF2-40B4-BE49-F238E27FC236}">
                  <a16:creationId xmlns:a16="http://schemas.microsoft.com/office/drawing/2014/main" id="{9D8FD8BE-B575-4450-95FD-B132F2FBF30C}"/>
                </a:ext>
              </a:extLst>
            </p:cNvPr>
            <p:cNvGrpSpPr/>
            <p:nvPr userDrawn="1"/>
          </p:nvGrpSpPr>
          <p:grpSpPr>
            <a:xfrm>
              <a:off x="2441313" y="5256671"/>
              <a:ext cx="5327623" cy="317500"/>
              <a:chOff x="2441313" y="5256671"/>
              <a:chExt cx="5327623" cy="317500"/>
            </a:xfrm>
          </p:grpSpPr>
          <p:sp>
            <p:nvSpPr>
              <p:cNvPr id="52" name="矩形 51">
                <a:extLst>
                  <a:ext uri="{FF2B5EF4-FFF2-40B4-BE49-F238E27FC236}">
                    <a16:creationId xmlns:a16="http://schemas.microsoft.com/office/drawing/2014/main" id="{FA6D470B-49E6-460D-A2F7-3AA3A3B20021}"/>
                  </a:ext>
                </a:extLst>
              </p:cNvPr>
              <p:cNvSpPr/>
              <p:nvPr/>
            </p:nvSpPr>
            <p:spPr>
              <a:xfrm>
                <a:off x="3944349" y="5256671"/>
                <a:ext cx="317500" cy="317500"/>
              </a:xfrm>
              <a:prstGeom prst="rect">
                <a:avLst/>
              </a:prstGeom>
              <a:solidFill>
                <a:srgbClr val="96E6B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53" name="矩形 52">
                <a:extLst>
                  <a:ext uri="{FF2B5EF4-FFF2-40B4-BE49-F238E27FC236}">
                    <a16:creationId xmlns:a16="http://schemas.microsoft.com/office/drawing/2014/main" id="{184DC0D2-E428-4F38-B04F-7DC781667A34}"/>
                  </a:ext>
                </a:extLst>
              </p:cNvPr>
              <p:cNvSpPr/>
              <p:nvPr/>
            </p:nvSpPr>
            <p:spPr>
              <a:xfrm>
                <a:off x="4946373" y="5256671"/>
                <a:ext cx="317500" cy="317500"/>
              </a:xfrm>
              <a:prstGeom prst="rect">
                <a:avLst/>
              </a:prstGeom>
              <a:solidFill>
                <a:srgbClr val="E6F00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54" name="矩形 53">
                <a:extLst>
                  <a:ext uri="{FF2B5EF4-FFF2-40B4-BE49-F238E27FC236}">
                    <a16:creationId xmlns:a16="http://schemas.microsoft.com/office/drawing/2014/main" id="{681D0C29-FC7B-4F3F-BD32-E40206A62370}"/>
                  </a:ext>
                </a:extLst>
              </p:cNvPr>
              <p:cNvSpPr/>
              <p:nvPr/>
            </p:nvSpPr>
            <p:spPr>
              <a:xfrm>
                <a:off x="6449409" y="5256671"/>
                <a:ext cx="317500" cy="317500"/>
              </a:xfrm>
              <a:prstGeom prst="rect">
                <a:avLst/>
              </a:prstGeom>
              <a:solidFill>
                <a:srgbClr val="FFDC7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55" name="矩形 54">
                <a:extLst>
                  <a:ext uri="{FF2B5EF4-FFF2-40B4-BE49-F238E27FC236}">
                    <a16:creationId xmlns:a16="http://schemas.microsoft.com/office/drawing/2014/main" id="{D032A71D-5325-4D28-B4B1-6B6BF4AAB30A}"/>
                  </a:ext>
                </a:extLst>
              </p:cNvPr>
              <p:cNvSpPr/>
              <p:nvPr/>
            </p:nvSpPr>
            <p:spPr>
              <a:xfrm>
                <a:off x="2942325" y="5256671"/>
                <a:ext cx="317500" cy="317500"/>
              </a:xfrm>
              <a:prstGeom prst="rect">
                <a:avLst/>
              </a:prstGeom>
              <a:solidFill>
                <a:srgbClr val="1E50C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56" name="矩形 55">
                <a:extLst>
                  <a:ext uri="{FF2B5EF4-FFF2-40B4-BE49-F238E27FC236}">
                    <a16:creationId xmlns:a16="http://schemas.microsoft.com/office/drawing/2014/main" id="{738A70FA-150B-4708-B634-5950D1A00DF9}"/>
                  </a:ext>
                </a:extLst>
              </p:cNvPr>
              <p:cNvSpPr/>
              <p:nvPr/>
            </p:nvSpPr>
            <p:spPr>
              <a:xfrm>
                <a:off x="4445361" y="5256671"/>
                <a:ext cx="317500" cy="317500"/>
              </a:xfrm>
              <a:prstGeom prst="rect">
                <a:avLst/>
              </a:prstGeom>
              <a:solidFill>
                <a:srgbClr val="008C8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57" name="矩形 56">
                <a:extLst>
                  <a:ext uri="{FF2B5EF4-FFF2-40B4-BE49-F238E27FC236}">
                    <a16:creationId xmlns:a16="http://schemas.microsoft.com/office/drawing/2014/main" id="{D3854FDB-0E9B-46EB-A142-15E78B7E2E6D}"/>
                  </a:ext>
                </a:extLst>
              </p:cNvPr>
              <p:cNvSpPr/>
              <p:nvPr/>
            </p:nvSpPr>
            <p:spPr>
              <a:xfrm>
                <a:off x="5447385" y="5256671"/>
                <a:ext cx="317500" cy="317500"/>
              </a:xfrm>
              <a:prstGeom prst="rect">
                <a:avLst/>
              </a:prstGeom>
              <a:solidFill>
                <a:srgbClr val="00BE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58" name="矩形 57">
                <a:extLst>
                  <a:ext uri="{FF2B5EF4-FFF2-40B4-BE49-F238E27FC236}">
                    <a16:creationId xmlns:a16="http://schemas.microsoft.com/office/drawing/2014/main" id="{6FD94B95-A8E7-4E9F-A041-9A4885EECF37}"/>
                  </a:ext>
                </a:extLst>
              </p:cNvPr>
              <p:cNvSpPr/>
              <p:nvPr/>
            </p:nvSpPr>
            <p:spPr>
              <a:xfrm>
                <a:off x="6950421" y="5256671"/>
                <a:ext cx="317500" cy="317500"/>
              </a:xfrm>
              <a:prstGeom prst="rect">
                <a:avLst/>
              </a:prstGeom>
              <a:solidFill>
                <a:srgbClr val="FFAA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59" name="矩形 58">
                <a:extLst>
                  <a:ext uri="{FF2B5EF4-FFF2-40B4-BE49-F238E27FC236}">
                    <a16:creationId xmlns:a16="http://schemas.microsoft.com/office/drawing/2014/main" id="{1F6E9780-35D6-4AF2-80BB-A3569C8BA2E3}"/>
                  </a:ext>
                </a:extLst>
              </p:cNvPr>
              <p:cNvSpPr/>
              <p:nvPr/>
            </p:nvSpPr>
            <p:spPr>
              <a:xfrm>
                <a:off x="3443337" y="5256671"/>
                <a:ext cx="317500" cy="317500"/>
              </a:xfrm>
              <a:prstGeom prst="rect">
                <a:avLst/>
              </a:prstGeom>
              <a:solidFill>
                <a:srgbClr val="00288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0" name="矩形 59">
                <a:extLst>
                  <a:ext uri="{FF2B5EF4-FFF2-40B4-BE49-F238E27FC236}">
                    <a16:creationId xmlns:a16="http://schemas.microsoft.com/office/drawing/2014/main" id="{4A11A937-B5ED-40BD-9B95-73D6C01FBDBD}"/>
                  </a:ext>
                </a:extLst>
              </p:cNvPr>
              <p:cNvSpPr/>
              <p:nvPr/>
            </p:nvSpPr>
            <p:spPr>
              <a:xfrm>
                <a:off x="5948397" y="5256671"/>
                <a:ext cx="317500" cy="317500"/>
              </a:xfrm>
              <a:prstGeom prst="rect">
                <a:avLst/>
              </a:prstGeom>
              <a:solidFill>
                <a:srgbClr val="00822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1" name="矩形 60">
                <a:extLst>
                  <a:ext uri="{FF2B5EF4-FFF2-40B4-BE49-F238E27FC236}">
                    <a16:creationId xmlns:a16="http://schemas.microsoft.com/office/drawing/2014/main" id="{71465539-F4BD-48C9-8CC9-44AE7B975869}"/>
                  </a:ext>
                </a:extLst>
              </p:cNvPr>
              <p:cNvSpPr/>
              <p:nvPr/>
            </p:nvSpPr>
            <p:spPr>
              <a:xfrm>
                <a:off x="7451436" y="5256671"/>
                <a:ext cx="317500" cy="317500"/>
              </a:xfrm>
              <a:prstGeom prst="rect">
                <a:avLst/>
              </a:prstGeom>
              <a:solidFill>
                <a:srgbClr val="C88C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2" name="矩形 61">
                <a:extLst>
                  <a:ext uri="{FF2B5EF4-FFF2-40B4-BE49-F238E27FC236}">
                    <a16:creationId xmlns:a16="http://schemas.microsoft.com/office/drawing/2014/main" id="{85BCC709-E469-4948-B4D5-AF8897457737}"/>
                  </a:ext>
                </a:extLst>
              </p:cNvPr>
              <p:cNvSpPr/>
              <p:nvPr userDrawn="1"/>
            </p:nvSpPr>
            <p:spPr>
              <a:xfrm>
                <a:off x="2441313" y="5256671"/>
                <a:ext cx="317500" cy="317500"/>
              </a:xfrm>
              <a:prstGeom prst="rect">
                <a:avLst/>
              </a:prstGeom>
              <a:solidFill>
                <a:srgbClr val="BEE6F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</p:grpSp>
      </p:grp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4EB72046-7EFA-4D5B-9003-30F89B1D91A8}"/>
              </a:ext>
            </a:extLst>
          </p:cNvPr>
          <p:cNvSpPr txBox="1"/>
          <p:nvPr userDrawn="1"/>
        </p:nvSpPr>
        <p:spPr>
          <a:xfrm>
            <a:off x="116027" y="6478467"/>
            <a:ext cx="34977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23BD820-02AB-4111-88E2-98F36ECA9073}" type="slidenum">
              <a:rPr kumimoji="0" lang="en-US" sz="105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軟正黑體"/>
                <a:cs typeface="+mn-cs"/>
              </a:rPr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微軟正黑體"/>
              <a:cs typeface="+mn-cs"/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E8C46C83-D634-4B86-88D9-5C8B6A41BF9F}"/>
              </a:ext>
            </a:extLst>
          </p:cNvPr>
          <p:cNvSpPr txBox="1"/>
          <p:nvPr userDrawn="1"/>
        </p:nvSpPr>
        <p:spPr>
          <a:xfrm>
            <a:off x="482268" y="6528267"/>
            <a:ext cx="1013419" cy="2077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37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軟正黑體"/>
                <a:cs typeface="+mn-cs"/>
              </a:rPr>
              <a:t>Cyntec Confidential</a:t>
            </a:r>
          </a:p>
        </p:txBody>
      </p:sp>
      <p:pic>
        <p:nvPicPr>
          <p:cNvPr id="27" name="圖片 26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20813" y="6391177"/>
            <a:ext cx="847920" cy="355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53581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8CA6B8E-EB08-4AB0-9768-E121F12ABA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6400" y="372981"/>
            <a:ext cx="11379200" cy="679396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altLang="zh-TW" dirty="0"/>
              <a:t>Page Title Goes Here (32pt)</a:t>
            </a:r>
            <a:endParaRPr 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EF22CCF-5B81-47DC-861A-B0A56BD7A10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06400" y="1170462"/>
            <a:ext cx="11379200" cy="4953777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defRPr sz="15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altLang="zh-TW" dirty="0"/>
              <a:t>Content goes here (20pt)</a:t>
            </a:r>
            <a:endParaRPr lang="en-US" dirty="0"/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4EB72046-7EFA-4D5B-9003-30F89B1D91A8}"/>
              </a:ext>
            </a:extLst>
          </p:cNvPr>
          <p:cNvSpPr txBox="1"/>
          <p:nvPr userDrawn="1"/>
        </p:nvSpPr>
        <p:spPr>
          <a:xfrm>
            <a:off x="116027" y="6478467"/>
            <a:ext cx="34977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23BD820-02AB-4111-88E2-98F36ECA9073}" type="slidenum">
              <a:rPr kumimoji="0" lang="en-US" sz="105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軟正黑體"/>
                <a:cs typeface="+mn-cs"/>
              </a:rPr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微軟正黑體"/>
              <a:cs typeface="+mn-cs"/>
            </a:endParaRPr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E8C46C83-D634-4B86-88D9-5C8B6A41BF9F}"/>
              </a:ext>
            </a:extLst>
          </p:cNvPr>
          <p:cNvSpPr txBox="1"/>
          <p:nvPr userDrawn="1"/>
        </p:nvSpPr>
        <p:spPr>
          <a:xfrm>
            <a:off x="482268" y="6528267"/>
            <a:ext cx="1013419" cy="2077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37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軟正黑體"/>
                <a:cs typeface="+mn-cs"/>
              </a:rPr>
              <a:t>Cyntec Confidential</a:t>
            </a:r>
          </a:p>
        </p:txBody>
      </p:sp>
      <p:grpSp>
        <p:nvGrpSpPr>
          <p:cNvPr id="56" name="群組 55">
            <a:extLst>
              <a:ext uri="{FF2B5EF4-FFF2-40B4-BE49-F238E27FC236}">
                <a16:creationId xmlns:a16="http://schemas.microsoft.com/office/drawing/2014/main" id="{C6679C81-FA7B-49D6-82F0-C4527FE45A1A}"/>
              </a:ext>
            </a:extLst>
          </p:cNvPr>
          <p:cNvGrpSpPr/>
          <p:nvPr userDrawn="1"/>
        </p:nvGrpSpPr>
        <p:grpSpPr>
          <a:xfrm>
            <a:off x="0" y="7008897"/>
            <a:ext cx="10358581" cy="423333"/>
            <a:chOff x="0" y="5256671"/>
            <a:chExt cx="7768936" cy="317500"/>
          </a:xfrm>
        </p:grpSpPr>
        <p:grpSp>
          <p:nvGrpSpPr>
            <p:cNvPr id="57" name="群組 56">
              <a:extLst>
                <a:ext uri="{FF2B5EF4-FFF2-40B4-BE49-F238E27FC236}">
                  <a16:creationId xmlns:a16="http://schemas.microsoft.com/office/drawing/2014/main" id="{C83B355D-DD8E-4886-8A9F-6BD99BFA8CC1}"/>
                </a:ext>
              </a:extLst>
            </p:cNvPr>
            <p:cNvGrpSpPr/>
            <p:nvPr userDrawn="1"/>
          </p:nvGrpSpPr>
          <p:grpSpPr>
            <a:xfrm>
              <a:off x="0" y="5256671"/>
              <a:ext cx="1321058" cy="317500"/>
              <a:chOff x="0" y="5256671"/>
              <a:chExt cx="1321058" cy="317500"/>
            </a:xfrm>
          </p:grpSpPr>
          <p:sp>
            <p:nvSpPr>
              <p:cNvPr id="70" name="矩形 69">
                <a:extLst>
                  <a:ext uri="{FF2B5EF4-FFF2-40B4-BE49-F238E27FC236}">
                    <a16:creationId xmlns:a16="http://schemas.microsoft.com/office/drawing/2014/main" id="{1D816D3C-CE63-43F8-AC10-9DFB5870EB4D}"/>
                  </a:ext>
                </a:extLst>
              </p:cNvPr>
              <p:cNvSpPr/>
              <p:nvPr/>
            </p:nvSpPr>
            <p:spPr>
              <a:xfrm>
                <a:off x="0" y="5256671"/>
                <a:ext cx="317500" cy="317500"/>
              </a:xfrm>
              <a:prstGeom prst="rect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71" name="矩形 70">
                <a:extLst>
                  <a:ext uri="{FF2B5EF4-FFF2-40B4-BE49-F238E27FC236}">
                    <a16:creationId xmlns:a16="http://schemas.microsoft.com/office/drawing/2014/main" id="{69A01EFE-0697-4F67-B705-BD578BDC33D9}"/>
                  </a:ext>
                </a:extLst>
              </p:cNvPr>
              <p:cNvSpPr/>
              <p:nvPr userDrawn="1"/>
            </p:nvSpPr>
            <p:spPr>
              <a:xfrm>
                <a:off x="501779" y="5256671"/>
                <a:ext cx="317500" cy="3175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8301EB92-F246-4444-B0E1-6E87E28C044D}"/>
                  </a:ext>
                </a:extLst>
              </p:cNvPr>
              <p:cNvSpPr/>
              <p:nvPr userDrawn="1"/>
            </p:nvSpPr>
            <p:spPr>
              <a:xfrm>
                <a:off x="1003558" y="5256671"/>
                <a:ext cx="317500" cy="3175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</p:grpSp>
        <p:grpSp>
          <p:nvGrpSpPr>
            <p:cNvPr id="58" name="群組 57">
              <a:extLst>
                <a:ext uri="{FF2B5EF4-FFF2-40B4-BE49-F238E27FC236}">
                  <a16:creationId xmlns:a16="http://schemas.microsoft.com/office/drawing/2014/main" id="{93191886-C7FD-40A9-9609-57D23380C62A}"/>
                </a:ext>
              </a:extLst>
            </p:cNvPr>
            <p:cNvGrpSpPr/>
            <p:nvPr userDrawn="1"/>
          </p:nvGrpSpPr>
          <p:grpSpPr>
            <a:xfrm>
              <a:off x="2441313" y="5256671"/>
              <a:ext cx="5327623" cy="317500"/>
              <a:chOff x="2441313" y="5256671"/>
              <a:chExt cx="5327623" cy="317500"/>
            </a:xfrm>
          </p:grpSpPr>
          <p:sp>
            <p:nvSpPr>
              <p:cNvPr id="59" name="矩形 58">
                <a:extLst>
                  <a:ext uri="{FF2B5EF4-FFF2-40B4-BE49-F238E27FC236}">
                    <a16:creationId xmlns:a16="http://schemas.microsoft.com/office/drawing/2014/main" id="{28AB9346-3609-4A19-8654-F1F89BAE3612}"/>
                  </a:ext>
                </a:extLst>
              </p:cNvPr>
              <p:cNvSpPr/>
              <p:nvPr/>
            </p:nvSpPr>
            <p:spPr>
              <a:xfrm>
                <a:off x="3944349" y="5256671"/>
                <a:ext cx="317500" cy="317500"/>
              </a:xfrm>
              <a:prstGeom prst="rect">
                <a:avLst/>
              </a:prstGeom>
              <a:solidFill>
                <a:srgbClr val="96E6B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0" name="矩形 59">
                <a:extLst>
                  <a:ext uri="{FF2B5EF4-FFF2-40B4-BE49-F238E27FC236}">
                    <a16:creationId xmlns:a16="http://schemas.microsoft.com/office/drawing/2014/main" id="{135B6686-F122-4A22-94BF-260EA4280B4D}"/>
                  </a:ext>
                </a:extLst>
              </p:cNvPr>
              <p:cNvSpPr/>
              <p:nvPr/>
            </p:nvSpPr>
            <p:spPr>
              <a:xfrm>
                <a:off x="4946373" y="5256671"/>
                <a:ext cx="317500" cy="317500"/>
              </a:xfrm>
              <a:prstGeom prst="rect">
                <a:avLst/>
              </a:prstGeom>
              <a:solidFill>
                <a:srgbClr val="E6F00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1" name="矩形 60">
                <a:extLst>
                  <a:ext uri="{FF2B5EF4-FFF2-40B4-BE49-F238E27FC236}">
                    <a16:creationId xmlns:a16="http://schemas.microsoft.com/office/drawing/2014/main" id="{C5EDC45A-2526-46FB-81F7-22EE4872B6AF}"/>
                  </a:ext>
                </a:extLst>
              </p:cNvPr>
              <p:cNvSpPr/>
              <p:nvPr/>
            </p:nvSpPr>
            <p:spPr>
              <a:xfrm>
                <a:off x="6449409" y="5256671"/>
                <a:ext cx="317500" cy="317500"/>
              </a:xfrm>
              <a:prstGeom prst="rect">
                <a:avLst/>
              </a:prstGeom>
              <a:solidFill>
                <a:srgbClr val="FFDC7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2" name="矩形 61">
                <a:extLst>
                  <a:ext uri="{FF2B5EF4-FFF2-40B4-BE49-F238E27FC236}">
                    <a16:creationId xmlns:a16="http://schemas.microsoft.com/office/drawing/2014/main" id="{AFCD5573-BB02-4224-8085-E3255856A371}"/>
                  </a:ext>
                </a:extLst>
              </p:cNvPr>
              <p:cNvSpPr/>
              <p:nvPr/>
            </p:nvSpPr>
            <p:spPr>
              <a:xfrm>
                <a:off x="2942325" y="5256671"/>
                <a:ext cx="317500" cy="317500"/>
              </a:xfrm>
              <a:prstGeom prst="rect">
                <a:avLst/>
              </a:prstGeom>
              <a:solidFill>
                <a:srgbClr val="1E50C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2F5AD25B-A76B-4782-93A6-A6CFC1F793DB}"/>
                  </a:ext>
                </a:extLst>
              </p:cNvPr>
              <p:cNvSpPr/>
              <p:nvPr/>
            </p:nvSpPr>
            <p:spPr>
              <a:xfrm>
                <a:off x="4445361" y="5256671"/>
                <a:ext cx="317500" cy="317500"/>
              </a:xfrm>
              <a:prstGeom prst="rect">
                <a:avLst/>
              </a:prstGeom>
              <a:solidFill>
                <a:srgbClr val="008C8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4" name="矩形 63">
                <a:extLst>
                  <a:ext uri="{FF2B5EF4-FFF2-40B4-BE49-F238E27FC236}">
                    <a16:creationId xmlns:a16="http://schemas.microsoft.com/office/drawing/2014/main" id="{E31B0147-73D4-4A0E-AB60-BDE5D65A0FDA}"/>
                  </a:ext>
                </a:extLst>
              </p:cNvPr>
              <p:cNvSpPr/>
              <p:nvPr/>
            </p:nvSpPr>
            <p:spPr>
              <a:xfrm>
                <a:off x="5447385" y="5256671"/>
                <a:ext cx="317500" cy="317500"/>
              </a:xfrm>
              <a:prstGeom prst="rect">
                <a:avLst/>
              </a:prstGeom>
              <a:solidFill>
                <a:srgbClr val="00BE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20304356-DABA-4FB6-ACD2-3D555DA768DA}"/>
                  </a:ext>
                </a:extLst>
              </p:cNvPr>
              <p:cNvSpPr/>
              <p:nvPr/>
            </p:nvSpPr>
            <p:spPr>
              <a:xfrm>
                <a:off x="6950421" y="5256671"/>
                <a:ext cx="317500" cy="317500"/>
              </a:xfrm>
              <a:prstGeom prst="rect">
                <a:avLst/>
              </a:prstGeom>
              <a:solidFill>
                <a:srgbClr val="FFAA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6" name="矩形 65">
                <a:extLst>
                  <a:ext uri="{FF2B5EF4-FFF2-40B4-BE49-F238E27FC236}">
                    <a16:creationId xmlns:a16="http://schemas.microsoft.com/office/drawing/2014/main" id="{2A159378-35B9-4C04-9A3C-0680A883C20B}"/>
                  </a:ext>
                </a:extLst>
              </p:cNvPr>
              <p:cNvSpPr/>
              <p:nvPr/>
            </p:nvSpPr>
            <p:spPr>
              <a:xfrm>
                <a:off x="3443337" y="5256671"/>
                <a:ext cx="317500" cy="317500"/>
              </a:xfrm>
              <a:prstGeom prst="rect">
                <a:avLst/>
              </a:prstGeom>
              <a:solidFill>
                <a:srgbClr val="00288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7" name="矩形 66">
                <a:extLst>
                  <a:ext uri="{FF2B5EF4-FFF2-40B4-BE49-F238E27FC236}">
                    <a16:creationId xmlns:a16="http://schemas.microsoft.com/office/drawing/2014/main" id="{06606867-067F-4294-8D14-6300FB59E7A6}"/>
                  </a:ext>
                </a:extLst>
              </p:cNvPr>
              <p:cNvSpPr/>
              <p:nvPr/>
            </p:nvSpPr>
            <p:spPr>
              <a:xfrm>
                <a:off x="5948397" y="5256671"/>
                <a:ext cx="317500" cy="317500"/>
              </a:xfrm>
              <a:prstGeom prst="rect">
                <a:avLst/>
              </a:prstGeom>
              <a:solidFill>
                <a:srgbClr val="00822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C0B9F68F-02FA-4B05-BD0F-46245FAE32A1}"/>
                  </a:ext>
                </a:extLst>
              </p:cNvPr>
              <p:cNvSpPr/>
              <p:nvPr/>
            </p:nvSpPr>
            <p:spPr>
              <a:xfrm>
                <a:off x="7451436" y="5256671"/>
                <a:ext cx="317500" cy="317500"/>
              </a:xfrm>
              <a:prstGeom prst="rect">
                <a:avLst/>
              </a:prstGeom>
              <a:solidFill>
                <a:srgbClr val="C88C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91D1B3FF-2264-4799-880B-9AC63365E06E}"/>
                  </a:ext>
                </a:extLst>
              </p:cNvPr>
              <p:cNvSpPr/>
              <p:nvPr userDrawn="1"/>
            </p:nvSpPr>
            <p:spPr>
              <a:xfrm>
                <a:off x="2441313" y="5256671"/>
                <a:ext cx="317500" cy="317500"/>
              </a:xfrm>
              <a:prstGeom prst="rect">
                <a:avLst/>
              </a:prstGeom>
              <a:solidFill>
                <a:srgbClr val="BEE6F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</p:grpSp>
      </p:grpSp>
      <p:pic>
        <p:nvPicPr>
          <p:cNvPr id="24" name="圖片 23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20813" y="6391177"/>
            <a:ext cx="847920" cy="355209"/>
          </a:xfrm>
          <a:prstGeom prst="rect">
            <a:avLst/>
          </a:prstGeom>
        </p:spPr>
      </p:pic>
      <p:grpSp>
        <p:nvGrpSpPr>
          <p:cNvPr id="25" name="群組 24"/>
          <p:cNvGrpSpPr/>
          <p:nvPr userDrawn="1"/>
        </p:nvGrpSpPr>
        <p:grpSpPr>
          <a:xfrm>
            <a:off x="-8501" y="0"/>
            <a:ext cx="12203889" cy="6858000"/>
            <a:chOff x="-8501" y="0"/>
            <a:chExt cx="12203889" cy="6858000"/>
          </a:xfrm>
        </p:grpSpPr>
        <p:grpSp>
          <p:nvGrpSpPr>
            <p:cNvPr id="26" name="群組 25"/>
            <p:cNvGrpSpPr/>
            <p:nvPr/>
          </p:nvGrpSpPr>
          <p:grpSpPr>
            <a:xfrm>
              <a:off x="8743123" y="0"/>
              <a:ext cx="3452265" cy="6853928"/>
              <a:chOff x="8368748" y="371350"/>
              <a:chExt cx="3452265" cy="6853928"/>
            </a:xfrm>
          </p:grpSpPr>
          <p:sp>
            <p:nvSpPr>
              <p:cNvPr id="30" name="矩形 29"/>
              <p:cNvSpPr/>
              <p:nvPr/>
            </p:nvSpPr>
            <p:spPr>
              <a:xfrm>
                <a:off x="8368748" y="371350"/>
                <a:ext cx="2266122" cy="720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31" name="L-圖案 30"/>
              <p:cNvSpPr/>
              <p:nvPr/>
            </p:nvSpPr>
            <p:spPr>
              <a:xfrm rot="10800000">
                <a:off x="10634870" y="371350"/>
                <a:ext cx="1182755" cy="1705927"/>
              </a:xfrm>
              <a:prstGeom prst="corner">
                <a:avLst>
                  <a:gd name="adj1" fmla="val 6060"/>
                  <a:gd name="adj2" fmla="val 5977"/>
                </a:avLst>
              </a:prstGeom>
              <a:ln>
                <a:noFill/>
              </a:ln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32" name="矩形 31"/>
              <p:cNvSpPr/>
              <p:nvPr/>
            </p:nvSpPr>
            <p:spPr>
              <a:xfrm rot="5400000">
                <a:off x="9211013" y="4615278"/>
                <a:ext cx="5148000" cy="720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</p:grpSp>
        <p:sp>
          <p:nvSpPr>
            <p:cNvPr id="27" name="矩形 26"/>
            <p:cNvSpPr/>
            <p:nvPr/>
          </p:nvSpPr>
          <p:spPr>
            <a:xfrm rot="10800000">
              <a:off x="-1" y="6786000"/>
              <a:ext cx="12192000" cy="72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微軟正黑體"/>
                <a:cs typeface="+mn-cs"/>
              </a:endParaRPr>
            </a:p>
          </p:txBody>
        </p:sp>
        <p:sp>
          <p:nvSpPr>
            <p:cNvPr id="28" name="矩形 27"/>
            <p:cNvSpPr/>
            <p:nvPr/>
          </p:nvSpPr>
          <p:spPr>
            <a:xfrm rot="5400000">
              <a:off x="-3392501" y="3395307"/>
              <a:ext cx="6840000" cy="72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微軟正黑體"/>
                <a:cs typeface="+mn-cs"/>
              </a:endParaRPr>
            </a:p>
          </p:txBody>
        </p:sp>
        <p:sp>
          <p:nvSpPr>
            <p:cNvPr id="29" name="矩形 28"/>
            <p:cNvSpPr/>
            <p:nvPr/>
          </p:nvSpPr>
          <p:spPr>
            <a:xfrm rot="10800000">
              <a:off x="0" y="0"/>
              <a:ext cx="8743126" cy="72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微軟正黑體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99267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eak Page">
    <p:bg>
      <p:bgPr>
        <a:blipFill dpi="0" rotWithShape="1">
          <a:blip r:embed="rId2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4B44CAB8-9DEC-4DEF-99E0-D78F53E4F83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6647" y="1118623"/>
            <a:ext cx="9144000" cy="1864899"/>
          </a:xfrm>
        </p:spPr>
        <p:txBody>
          <a:bodyPr anchor="t">
            <a:normAutofit/>
          </a:bodyPr>
          <a:lstStyle>
            <a:lvl1pPr algn="l">
              <a:lnSpc>
                <a:spcPct val="110000"/>
              </a:lnSpc>
              <a:defRPr sz="3450" b="0">
                <a:solidFill>
                  <a:schemeClr val="bg1"/>
                </a:solidFill>
                <a:latin typeface="+mj-lt"/>
                <a:ea typeface="Verdana" panose="020B0604030504040204" pitchFamily="34" charset="0"/>
              </a:defRPr>
            </a:lvl1pPr>
          </a:lstStyle>
          <a:p>
            <a:r>
              <a:rPr lang="en-US" altLang="zh-TW" dirty="0"/>
              <a:t>Break Page Title Goes Here</a:t>
            </a:r>
            <a:br>
              <a:rPr lang="en-US" altLang="zh-TW" dirty="0"/>
            </a:br>
            <a:r>
              <a:rPr lang="en-US" altLang="zh-TW" dirty="0"/>
              <a:t>Maximum 2 Lines (32-46pt)</a:t>
            </a:r>
            <a:endParaRPr lang="en-US" dirty="0"/>
          </a:p>
        </p:txBody>
      </p:sp>
      <p:sp>
        <p:nvSpPr>
          <p:cNvPr id="6" name="副標題 2">
            <a:extLst>
              <a:ext uri="{FF2B5EF4-FFF2-40B4-BE49-F238E27FC236}">
                <a16:creationId xmlns:a16="http://schemas.microsoft.com/office/drawing/2014/main" id="{814F8012-3519-4A75-B26B-57773CA554B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96647" y="3015633"/>
            <a:ext cx="9144000" cy="1353169"/>
          </a:xfrm>
        </p:spPr>
        <p:txBody>
          <a:bodyPr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+mj-lt"/>
                <a:ea typeface="Verdana" panose="020B0604030504040204" pitchFamily="34" charset="0"/>
              </a:defRPr>
            </a:lvl1pPr>
            <a:lvl2pPr marL="342884" indent="0" algn="ctr">
              <a:buNone/>
              <a:defRPr sz="1500"/>
            </a:lvl2pPr>
            <a:lvl3pPr marL="685766" indent="0" algn="ctr">
              <a:buNone/>
              <a:defRPr sz="1350"/>
            </a:lvl3pPr>
            <a:lvl4pPr marL="1028649" indent="0" algn="ctr">
              <a:buNone/>
              <a:defRPr sz="1200"/>
            </a:lvl4pPr>
            <a:lvl5pPr marL="1371532" indent="0" algn="ctr">
              <a:buNone/>
              <a:defRPr sz="1200"/>
            </a:lvl5pPr>
            <a:lvl6pPr marL="1714415" indent="0" algn="ctr">
              <a:buNone/>
              <a:defRPr sz="1200"/>
            </a:lvl6pPr>
            <a:lvl7pPr marL="2057297" indent="0" algn="ctr">
              <a:buNone/>
              <a:defRPr sz="1200"/>
            </a:lvl7pPr>
            <a:lvl8pPr marL="2400180" indent="0" algn="ctr">
              <a:buNone/>
              <a:defRPr sz="1200"/>
            </a:lvl8pPr>
            <a:lvl9pPr marL="2743064" indent="0" algn="ctr">
              <a:buNone/>
              <a:defRPr sz="1200"/>
            </a:lvl9pPr>
          </a:lstStyle>
          <a:p>
            <a:r>
              <a:rPr lang="en-US" altLang="zh-TW" dirty="0"/>
              <a:t>Break Page Subtitle Goes Here</a:t>
            </a:r>
            <a:br>
              <a:rPr lang="en-US" altLang="zh-TW" dirty="0"/>
            </a:br>
            <a:r>
              <a:rPr lang="en-US" altLang="zh-TW" dirty="0"/>
              <a:t>Maximum 2 Lines (24-32pt)</a:t>
            </a:r>
          </a:p>
        </p:txBody>
      </p:sp>
      <p:pic>
        <p:nvPicPr>
          <p:cNvPr id="3" name="圖片 2"/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936632" y="5765533"/>
            <a:ext cx="1886827" cy="842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93060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ing Page_White">
    <p:bg>
      <p:bgPr>
        <a:blipFill dpi="0" rotWithShape="1">
          <a:blip r:embed="rId2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1">
            <a:extLst>
              <a:ext uri="{FF2B5EF4-FFF2-40B4-BE49-F238E27FC236}">
                <a16:creationId xmlns:a16="http://schemas.microsoft.com/office/drawing/2014/main" id="{5F44435C-4EDB-4AB4-AAD6-08BF8682BAA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6648" y="1099373"/>
            <a:ext cx="10018401" cy="1864899"/>
          </a:xfrm>
        </p:spPr>
        <p:txBody>
          <a:bodyPr anchor="t">
            <a:normAutofit/>
          </a:bodyPr>
          <a:lstStyle>
            <a:lvl1pPr algn="l">
              <a:lnSpc>
                <a:spcPct val="110000"/>
              </a:lnSpc>
              <a:defRPr sz="3450" b="0">
                <a:solidFill>
                  <a:schemeClr val="tx1"/>
                </a:solidFill>
                <a:latin typeface="+mj-lt"/>
                <a:ea typeface="Verdana" panose="020B0604030504040204" pitchFamily="34" charset="0"/>
              </a:defRPr>
            </a:lvl1pPr>
          </a:lstStyle>
          <a:p>
            <a:r>
              <a:rPr lang="en-US" altLang="zh-TW" dirty="0"/>
              <a:t>Making Things Smaller and Smarter</a:t>
            </a:r>
            <a:br>
              <a:rPr lang="en-US" altLang="zh-TW" dirty="0"/>
            </a:br>
            <a:r>
              <a:rPr lang="en-US" altLang="zh-TW" sz="2400" dirty="0">
                <a:solidFill>
                  <a:srgbClr val="0087DC"/>
                </a:solidFill>
              </a:rPr>
              <a:t>www.cyntec.com</a:t>
            </a:r>
            <a:r>
              <a:rPr lang="en-US" altLang="zh-TW" sz="2400" dirty="0"/>
              <a:t> </a:t>
            </a:r>
            <a:endParaRPr lang="en-US" dirty="0"/>
          </a:p>
        </p:txBody>
      </p:sp>
      <p:pic>
        <p:nvPicPr>
          <p:cNvPr id="8" name="圖片 7"/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856271" y="5667332"/>
            <a:ext cx="1934679" cy="810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43440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8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C1A208F-14AF-4B55-98E2-50AE68538517}" type="slidenum">
              <a:rPr kumimoji="0" lang="en-US" altLang="zh-TW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軟正黑體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zh-TW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微軟正黑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44422511"/>
      </p:ext>
    </p:extLst>
  </p:cSld>
  <p:clrMapOvr>
    <a:masterClrMapping/>
  </p:clrMapOvr>
  <p:transition spd="slow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9584B288-D41F-4145-A1C0-E0281E1E24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6400" y="440356"/>
            <a:ext cx="11379200" cy="679396"/>
          </a:xfrm>
          <a:prstGeom prst="rect">
            <a:avLst/>
          </a:prstGeom>
        </p:spPr>
        <p:txBody>
          <a:bodyPr vert="horz" lIns="0" tIns="45720" rIns="0" bIns="45720" rtlCol="0" anchor="t">
            <a:normAutofit/>
          </a:bodyPr>
          <a:lstStyle/>
          <a:p>
            <a:r>
              <a:rPr lang="en-US" altLang="zh-TW" dirty="0"/>
              <a:t>Page Title Goes Here (32pt)</a:t>
            </a:r>
            <a:endParaRPr lang="en-US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23BE7FFB-6DD4-4C49-91B1-9DC75DF6EC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6400" y="1170463"/>
            <a:ext cx="11379200" cy="466963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altLang="zh-TW" dirty="0"/>
              <a:t>Content goes here (24pt)</a:t>
            </a:r>
            <a:endParaRPr 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BBD7ECA-A67F-4BFF-9619-0DDD6E5A922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6000" y="6176269"/>
            <a:ext cx="2743200" cy="4221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軟正黑體"/>
                <a:cs typeface="+mn-cs"/>
              </a:rPr>
              <a:t>MM/DD/YYYY</a:t>
            </a:r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89C03B7-7699-4072-AC6D-A339A44A704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43611" y="6191967"/>
            <a:ext cx="4114800" cy="4374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u="none">
                <a:solidFill>
                  <a:schemeClr val="tx1"/>
                </a:solidFill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軟正黑體"/>
                <a:cs typeface="+mn-cs"/>
              </a:rPr>
              <a:t>Presenter Name</a:t>
            </a:r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AC81264-E3A8-4919-AA46-612C30BB1B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06404" y="6191970"/>
            <a:ext cx="401121" cy="4225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1BD21A8-5E88-4AE4-993C-2D76760CAD3D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軟正黑體"/>
                <a:cs typeface="+mn-cs"/>
              </a:rPr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微軟正黑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06711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</p:sldLayoutIdLst>
  <p:hf hdr="0"/>
  <p:txStyles>
    <p:titleStyle>
      <a:lvl1pPr algn="ctr" defTabSz="685783" rtl="0" eaLnBrk="1" latinLnBrk="0" hangingPunct="1">
        <a:lnSpc>
          <a:spcPct val="90000"/>
        </a:lnSpc>
        <a:spcBef>
          <a:spcPct val="0"/>
        </a:spcBef>
        <a:buNone/>
        <a:defRPr sz="24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171446" indent="-171446" algn="l" defTabSz="685783" rtl="0" eaLnBrk="1" latinLnBrk="0" hangingPunct="1">
        <a:lnSpc>
          <a:spcPct val="90000"/>
        </a:lnSpc>
        <a:spcBef>
          <a:spcPts val="750"/>
        </a:spcBef>
        <a:buClr>
          <a:schemeClr val="tx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37" indent="-171446" algn="l" defTabSz="685783" rtl="0" eaLnBrk="1" latinLnBrk="0" hangingPunct="1">
        <a:lnSpc>
          <a:spcPct val="90000"/>
        </a:lnSpc>
        <a:spcBef>
          <a:spcPts val="375"/>
        </a:spcBef>
        <a:buClr>
          <a:schemeClr val="tx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28" indent="-171446" algn="l" defTabSz="685783" rtl="0" eaLnBrk="1" latinLnBrk="0" hangingPunct="1">
        <a:lnSpc>
          <a:spcPct val="90000"/>
        </a:lnSpc>
        <a:spcBef>
          <a:spcPts val="375"/>
        </a:spcBef>
        <a:buClr>
          <a:schemeClr val="tx2"/>
        </a:buClr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20" indent="-171446" algn="l" defTabSz="685783" rtl="0" eaLnBrk="1" latinLnBrk="0" hangingPunct="1">
        <a:lnSpc>
          <a:spcPct val="90000"/>
        </a:lnSpc>
        <a:spcBef>
          <a:spcPts val="375"/>
        </a:spcBef>
        <a:buClr>
          <a:schemeClr val="tx2"/>
        </a:buClr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12" indent="-171446" algn="l" defTabSz="685783" rtl="0" eaLnBrk="1" latinLnBrk="0" hangingPunct="1">
        <a:lnSpc>
          <a:spcPct val="90000"/>
        </a:lnSpc>
        <a:spcBef>
          <a:spcPts val="375"/>
        </a:spcBef>
        <a:buClr>
          <a:schemeClr val="tx2"/>
        </a:buClr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03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頁尾版面配置區 3">
            <a:extLst>
              <a:ext uri="{FF2B5EF4-FFF2-40B4-BE49-F238E27FC236}">
                <a16:creationId xmlns:a16="http://schemas.microsoft.com/office/drawing/2014/main" id="{6FB26735-20D3-BD36-9DFC-6C8632F7D0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96647" y="5561882"/>
            <a:ext cx="3126713" cy="610317"/>
          </a:xfrm>
        </p:spPr>
        <p:txBody>
          <a:bodyPr/>
          <a:lstStyle/>
          <a:p>
            <a:r>
              <a:rPr lang="zh-TW" altLang="en-US" sz="18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製作人：</a:t>
            </a:r>
            <a:r>
              <a:rPr lang="en-US" altLang="zh-TW" sz="18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YiHsuan Chiu</a:t>
            </a:r>
          </a:p>
          <a:p>
            <a:r>
              <a:rPr lang="zh-TW" altLang="en-US" sz="1800" b="1" dirty="0"/>
              <a:t>製作日期：</a:t>
            </a:r>
            <a:r>
              <a:rPr lang="en-US" altLang="zh-TW" sz="1800" dirty="0"/>
              <a:t>2026/3/12</a:t>
            </a:r>
          </a:p>
        </p:txBody>
      </p:sp>
      <p:sp>
        <p:nvSpPr>
          <p:cNvPr id="6" name="標題 1">
            <a:extLst>
              <a:ext uri="{FF2B5EF4-FFF2-40B4-BE49-F238E27FC236}">
                <a16:creationId xmlns:a16="http://schemas.microsoft.com/office/drawing/2014/main" id="{413BCBA5-0F9D-4710-802F-538EAA9E6F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27775" y="891821"/>
            <a:ext cx="9144000" cy="681385"/>
          </a:xfrm>
        </p:spPr>
        <p:txBody>
          <a:bodyPr>
            <a:normAutofit/>
          </a:bodyPr>
          <a:lstStyle/>
          <a:p>
            <a:pPr algn="ctr"/>
            <a:r>
              <a:rPr lang="zh-TW" altLang="en-US" sz="3200" b="1" dirty="0">
                <a:ln w="0"/>
                <a:solidFill>
                  <a:schemeClr val="tx2"/>
                </a:solidFill>
                <a:latin typeface="+mj-ea"/>
              </a:rPr>
              <a:t>備品管理系統</a:t>
            </a:r>
          </a:p>
        </p:txBody>
      </p:sp>
    </p:spTree>
    <p:extLst>
      <p:ext uri="{BB962C8B-B14F-4D97-AF65-F5344CB8AC3E}">
        <p14:creationId xmlns:p14="http://schemas.microsoft.com/office/powerpoint/2010/main" val="23642619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>
          <a:xfrm>
            <a:off x="319892" y="107816"/>
            <a:ext cx="11379200" cy="461659"/>
          </a:xfrm>
        </p:spPr>
        <p:txBody>
          <a:bodyPr>
            <a:noAutofit/>
          </a:bodyPr>
          <a:lstStyle/>
          <a:p>
            <a:r>
              <a:rPr lang="zh-TW" altLang="en-US" sz="2800" dirty="0"/>
              <a:t>系統架構與自動啟動 </a:t>
            </a:r>
            <a:r>
              <a:rPr lang="en-US" altLang="zh-TW" sz="2800" dirty="0"/>
              <a:t>(System Start-up)</a:t>
            </a:r>
            <a:endParaRPr lang="zh-TW" altLang="en-US" sz="2800" dirty="0"/>
          </a:p>
        </p:txBody>
      </p:sp>
      <p:sp>
        <p:nvSpPr>
          <p:cNvPr id="53" name="標題 2">
            <a:extLst>
              <a:ext uri="{FF2B5EF4-FFF2-40B4-BE49-F238E27FC236}">
                <a16:creationId xmlns:a16="http://schemas.microsoft.com/office/drawing/2014/main" id="{AA75B6B3-7F5E-43F0-B40E-D93642C39390}"/>
              </a:ext>
            </a:extLst>
          </p:cNvPr>
          <p:cNvSpPr txBox="1">
            <a:spLocks/>
          </p:cNvSpPr>
          <p:nvPr/>
        </p:nvSpPr>
        <p:spPr>
          <a:xfrm>
            <a:off x="217952" y="1200293"/>
            <a:ext cx="5511319" cy="46165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TW" sz="1800" dirty="0">
                <a:solidFill>
                  <a:srgbClr val="0000FF"/>
                </a:solidFill>
              </a:rPr>
              <a:t>1.</a:t>
            </a:r>
            <a:r>
              <a:rPr lang="zh-TW" altLang="en-US" sz="1800" dirty="0">
                <a:solidFill>
                  <a:srgbClr val="0000FF"/>
                </a:solidFill>
              </a:rPr>
              <a:t>開機自動啟動</a:t>
            </a:r>
          </a:p>
        </p:txBody>
      </p:sp>
      <p:sp>
        <p:nvSpPr>
          <p:cNvPr id="22" name="標題 2">
            <a:extLst>
              <a:ext uri="{FF2B5EF4-FFF2-40B4-BE49-F238E27FC236}">
                <a16:creationId xmlns:a16="http://schemas.microsoft.com/office/drawing/2014/main" id="{53058284-99EE-4ABC-9C47-7F1DE266C3B4}"/>
              </a:ext>
            </a:extLst>
          </p:cNvPr>
          <p:cNvSpPr txBox="1">
            <a:spLocks/>
          </p:cNvSpPr>
          <p:nvPr/>
        </p:nvSpPr>
        <p:spPr>
          <a:xfrm>
            <a:off x="537039" y="1661952"/>
            <a:ext cx="9192749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後端服務程式已註冊於 </a:t>
            </a:r>
            <a:r>
              <a:rPr lang="en-US" altLang="zh-TW" sz="1800" dirty="0">
                <a:solidFill>
                  <a:srgbClr val="002060"/>
                </a:solidFill>
              </a:rPr>
              <a:t>Windows </a:t>
            </a:r>
            <a:r>
              <a:rPr lang="zh-TW" altLang="en-US" sz="1800" dirty="0">
                <a:solidFill>
                  <a:srgbClr val="002060"/>
                </a:solidFill>
              </a:rPr>
              <a:t>啟動清單中。只要您登入 </a:t>
            </a:r>
            <a:r>
              <a:rPr lang="en-US" altLang="zh-TW" sz="1800" dirty="0">
                <a:solidFill>
                  <a:srgbClr val="002060"/>
                </a:solidFill>
              </a:rPr>
              <a:t>Windows</a:t>
            </a:r>
            <a:r>
              <a:rPr lang="zh-TW" altLang="en-US" sz="1800" dirty="0">
                <a:solidFill>
                  <a:srgbClr val="002060"/>
                </a:solidFill>
              </a:rPr>
              <a:t>，系統會自動在背景執行，不需手動開啟。</a:t>
            </a:r>
            <a:endParaRPr lang="en-US" altLang="zh-TW" sz="1800" dirty="0">
              <a:solidFill>
                <a:srgbClr val="002060"/>
              </a:solidFill>
            </a:endParaRPr>
          </a:p>
        </p:txBody>
      </p:sp>
      <p:sp>
        <p:nvSpPr>
          <p:cNvPr id="35" name="標題 2">
            <a:extLst>
              <a:ext uri="{FF2B5EF4-FFF2-40B4-BE49-F238E27FC236}">
                <a16:creationId xmlns:a16="http://schemas.microsoft.com/office/drawing/2014/main" id="{553DB767-9839-456B-A218-E4949D6939C3}"/>
              </a:ext>
            </a:extLst>
          </p:cNvPr>
          <p:cNvSpPr txBox="1">
            <a:spLocks/>
          </p:cNvSpPr>
          <p:nvPr/>
        </p:nvSpPr>
        <p:spPr>
          <a:xfrm>
            <a:off x="217952" y="2799753"/>
            <a:ext cx="5511319" cy="46165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TW" sz="1800" dirty="0">
                <a:solidFill>
                  <a:srgbClr val="0000FF"/>
                </a:solidFill>
              </a:rPr>
              <a:t>2.</a:t>
            </a:r>
            <a:r>
              <a:rPr lang="zh-TW" altLang="en-US" sz="1800" dirty="0">
                <a:solidFill>
                  <a:srgbClr val="0000FF"/>
                </a:solidFill>
              </a:rPr>
              <a:t>系統托盤 </a:t>
            </a:r>
            <a:r>
              <a:rPr lang="en-US" altLang="zh-TW" sz="1800" dirty="0">
                <a:solidFill>
                  <a:srgbClr val="0000FF"/>
                </a:solidFill>
              </a:rPr>
              <a:t>(Tray Icon)</a:t>
            </a:r>
            <a:endParaRPr lang="zh-TW" altLang="en-US" sz="1800" dirty="0">
              <a:solidFill>
                <a:srgbClr val="0000FF"/>
              </a:solidFill>
            </a:endParaRPr>
          </a:p>
        </p:txBody>
      </p:sp>
      <p:sp>
        <p:nvSpPr>
          <p:cNvPr id="43" name="標題 2">
            <a:extLst>
              <a:ext uri="{FF2B5EF4-FFF2-40B4-BE49-F238E27FC236}">
                <a16:creationId xmlns:a16="http://schemas.microsoft.com/office/drawing/2014/main" id="{8023B91D-D96B-4E7C-9385-2B64F834915C}"/>
              </a:ext>
            </a:extLst>
          </p:cNvPr>
          <p:cNvSpPr txBox="1">
            <a:spLocks/>
          </p:cNvSpPr>
          <p:nvPr/>
        </p:nvSpPr>
        <p:spPr>
          <a:xfrm>
            <a:off x="537039" y="3261412"/>
            <a:ext cx="9192749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螢幕右下角會出現一個「盾牌圖示」。</a:t>
            </a:r>
          </a:p>
          <a:p>
            <a:pPr algn="l"/>
            <a:r>
              <a:rPr lang="zh-TW" altLang="en-US" sz="1800" dirty="0">
                <a:solidFill>
                  <a:srgbClr val="002060"/>
                </a:solidFill>
              </a:rPr>
              <a:t>      * 綠色</a:t>
            </a:r>
            <a:r>
              <a:rPr lang="en-US" altLang="zh-TW" sz="1800" dirty="0">
                <a:solidFill>
                  <a:srgbClr val="002060"/>
                </a:solidFill>
              </a:rPr>
              <a:t>/</a:t>
            </a:r>
            <a:r>
              <a:rPr lang="zh-TW" altLang="en-US" sz="1800" dirty="0">
                <a:solidFill>
                  <a:srgbClr val="002060"/>
                </a:solidFill>
              </a:rPr>
              <a:t>正常圖示：代表服務運作中。</a:t>
            </a:r>
          </a:p>
          <a:p>
            <a:pPr algn="l"/>
            <a:r>
              <a:rPr lang="zh-TW" altLang="en-US" sz="1800" dirty="0">
                <a:solidFill>
                  <a:srgbClr val="002060"/>
                </a:solidFill>
              </a:rPr>
              <a:t>      * 右鍵功能：提供 </a:t>
            </a:r>
            <a:r>
              <a:rPr lang="en-US" altLang="zh-TW" sz="1800" dirty="0">
                <a:solidFill>
                  <a:srgbClr val="002060"/>
                </a:solidFill>
              </a:rPr>
              <a:t>Open Logs (</a:t>
            </a:r>
            <a:r>
              <a:rPr lang="zh-TW" altLang="en-US" sz="1800" dirty="0">
                <a:solidFill>
                  <a:srgbClr val="002060"/>
                </a:solidFill>
              </a:rPr>
              <a:t>查看日誌</a:t>
            </a:r>
            <a:r>
              <a:rPr lang="en-US" altLang="zh-TW" sz="1800" dirty="0">
                <a:solidFill>
                  <a:srgbClr val="002060"/>
                </a:solidFill>
              </a:rPr>
              <a:t>) </a:t>
            </a:r>
            <a:r>
              <a:rPr lang="zh-TW" altLang="en-US" sz="1800" dirty="0">
                <a:solidFill>
                  <a:srgbClr val="002060"/>
                </a:solidFill>
              </a:rPr>
              <a:t>與 </a:t>
            </a:r>
            <a:r>
              <a:rPr lang="en-US" altLang="zh-TW" sz="1800" dirty="0">
                <a:solidFill>
                  <a:srgbClr val="002060"/>
                </a:solidFill>
              </a:rPr>
              <a:t>Exit Server (</a:t>
            </a:r>
            <a:r>
              <a:rPr lang="zh-TW" altLang="en-US" sz="1800" dirty="0">
                <a:solidFill>
                  <a:srgbClr val="002060"/>
                </a:solidFill>
              </a:rPr>
              <a:t>關閉伺服器</a:t>
            </a:r>
            <a:r>
              <a:rPr lang="en-US" altLang="zh-TW" sz="1800" dirty="0">
                <a:solidFill>
                  <a:srgbClr val="002060"/>
                </a:solidFill>
              </a:rPr>
              <a:t>)</a:t>
            </a:r>
            <a:r>
              <a:rPr lang="zh-TW" altLang="en-US" sz="1800" dirty="0">
                <a:solidFill>
                  <a:srgbClr val="002060"/>
                </a:solidFill>
              </a:rPr>
              <a:t>。</a:t>
            </a:r>
          </a:p>
          <a:p>
            <a:pPr algn="l"/>
            <a:r>
              <a:rPr lang="zh-TW" altLang="en-US" sz="1800" dirty="0">
                <a:solidFill>
                  <a:srgbClr val="002060"/>
                </a:solidFill>
              </a:rPr>
              <a:t>      * 注意：除非維護需要，請勿關閉伺服器，否則全工廠的領料端將會斷線。</a:t>
            </a:r>
            <a:endParaRPr lang="en-US" altLang="zh-TW" sz="1800" dirty="0">
              <a:solidFill>
                <a:srgbClr val="002060"/>
              </a:solidFill>
            </a:endParaRPr>
          </a:p>
        </p:txBody>
      </p:sp>
      <p:sp>
        <p:nvSpPr>
          <p:cNvPr id="2" name="標題 2">
            <a:extLst>
              <a:ext uri="{FF2B5EF4-FFF2-40B4-BE49-F238E27FC236}">
                <a16:creationId xmlns:a16="http://schemas.microsoft.com/office/drawing/2014/main" id="{98E699DE-C149-93F1-20EE-7783799EFED4}"/>
              </a:ext>
            </a:extLst>
          </p:cNvPr>
          <p:cNvSpPr txBox="1">
            <a:spLocks/>
          </p:cNvSpPr>
          <p:nvPr/>
        </p:nvSpPr>
        <p:spPr>
          <a:xfrm>
            <a:off x="537039" y="546476"/>
            <a:ext cx="11162053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本系統分為「後端服務 </a:t>
            </a:r>
            <a:r>
              <a:rPr lang="en-US" altLang="zh-TW" sz="1800" dirty="0">
                <a:solidFill>
                  <a:srgbClr val="002060"/>
                </a:solidFill>
              </a:rPr>
              <a:t>(API Server)</a:t>
            </a:r>
            <a:r>
              <a:rPr lang="zh-TW" altLang="en-US" sz="1800" dirty="0">
                <a:solidFill>
                  <a:srgbClr val="002060"/>
                </a:solidFill>
              </a:rPr>
              <a:t>」與「操作介面 </a:t>
            </a:r>
            <a:r>
              <a:rPr lang="en-US" altLang="zh-TW" sz="1800" dirty="0">
                <a:solidFill>
                  <a:srgbClr val="002060"/>
                </a:solidFill>
              </a:rPr>
              <a:t>(Client)</a:t>
            </a:r>
            <a:r>
              <a:rPr lang="zh-TW" altLang="en-US" sz="1800" dirty="0">
                <a:solidFill>
                  <a:srgbClr val="002060"/>
                </a:solidFill>
              </a:rPr>
              <a:t>」。為了確保作業不中斷，後端服務已設定為自動化管理。</a:t>
            </a:r>
            <a:endParaRPr lang="en-US" altLang="zh-TW" sz="1800" dirty="0">
              <a:solidFill>
                <a:srgbClr val="002060"/>
              </a:solidFill>
            </a:endParaRPr>
          </a:p>
        </p:txBody>
      </p:sp>
      <p:pic>
        <p:nvPicPr>
          <p:cNvPr id="7" name="圖片 6" descr="7ￂﾰ￢ﾄﾃ Sunny.&#10;&#10;AI 產生的內容可能不正確。">
            <a:extLst>
              <a:ext uri="{FF2B5EF4-FFF2-40B4-BE49-F238E27FC236}">
                <a16:creationId xmlns:a16="http://schemas.microsoft.com/office/drawing/2014/main" id="{7373FD56-5055-33DB-7472-D3C227CBFE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2173" y="3132246"/>
            <a:ext cx="3571875" cy="2724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72328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35F7DB-5684-7480-E779-3A75F0126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A98C3E96-18AF-E4F4-7623-1DE90DE57B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892" y="107816"/>
            <a:ext cx="11379200" cy="461659"/>
          </a:xfrm>
        </p:spPr>
        <p:txBody>
          <a:bodyPr>
            <a:noAutofit/>
          </a:bodyPr>
          <a:lstStyle/>
          <a:p>
            <a:r>
              <a:rPr lang="zh-TW" altLang="en-US" sz="2800" dirty="0"/>
              <a:t>使用者權限等級 </a:t>
            </a:r>
            <a:r>
              <a:rPr lang="en-US" altLang="zh-TW" sz="2800" dirty="0"/>
              <a:t>(User Access Levels)</a:t>
            </a:r>
            <a:endParaRPr lang="zh-TW" altLang="en-US" sz="2800" dirty="0"/>
          </a:p>
        </p:txBody>
      </p:sp>
      <p:sp>
        <p:nvSpPr>
          <p:cNvPr id="2" name="標題 2">
            <a:extLst>
              <a:ext uri="{FF2B5EF4-FFF2-40B4-BE49-F238E27FC236}">
                <a16:creationId xmlns:a16="http://schemas.microsoft.com/office/drawing/2014/main" id="{BE0914B9-6200-C274-A9C1-855852E20516}"/>
              </a:ext>
            </a:extLst>
          </p:cNvPr>
          <p:cNvSpPr txBox="1">
            <a:spLocks/>
          </p:cNvSpPr>
          <p:nvPr/>
        </p:nvSpPr>
        <p:spPr>
          <a:xfrm>
            <a:off x="537039" y="546476"/>
            <a:ext cx="11162053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系統區分四個權限等級，確保資料安全且操作介面簡潔。等級數字越小，權限越高。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9D2B62DF-E2CE-52C4-4DFB-E2A809980A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1949457"/>
              </p:ext>
            </p:extLst>
          </p:nvPr>
        </p:nvGraphicFramePr>
        <p:xfrm>
          <a:off x="1297352" y="1729344"/>
          <a:ext cx="942428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1663">
                  <a:extLst>
                    <a:ext uri="{9D8B030D-6E8A-4147-A177-3AD203B41FA5}">
                      <a16:colId xmlns:a16="http://schemas.microsoft.com/office/drawing/2014/main" val="4106553782"/>
                    </a:ext>
                  </a:extLst>
                </a:gridCol>
                <a:gridCol w="3073366">
                  <a:extLst>
                    <a:ext uri="{9D8B030D-6E8A-4147-A177-3AD203B41FA5}">
                      <a16:colId xmlns:a16="http://schemas.microsoft.com/office/drawing/2014/main" val="246725681"/>
                    </a:ext>
                  </a:extLst>
                </a:gridCol>
                <a:gridCol w="4989251">
                  <a:extLst>
                    <a:ext uri="{9D8B030D-6E8A-4147-A177-3AD203B41FA5}">
                      <a16:colId xmlns:a16="http://schemas.microsoft.com/office/drawing/2014/main" val="18863331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600" dirty="0">
                          <a:solidFill>
                            <a:schemeClr val="tx1"/>
                          </a:solidFill>
                        </a:rPr>
                        <a:t>等級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600" dirty="0">
                          <a:solidFill>
                            <a:schemeClr val="tx1"/>
                          </a:solidFill>
                        </a:rPr>
                        <a:t>權限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600" dirty="0">
                          <a:solidFill>
                            <a:schemeClr val="tx1"/>
                          </a:solidFill>
                        </a:rPr>
                        <a:t>可見功能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65866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600" dirty="0">
                          <a:solidFill>
                            <a:schemeClr val="tx1"/>
                          </a:solidFill>
                        </a:rPr>
                        <a:t>最高權限，可管理使用者帳號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600" dirty="0">
                          <a:solidFill>
                            <a:schemeClr val="tx1"/>
                          </a:solidFill>
                        </a:rPr>
                        <a:t>全部按鈕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zh-TW" altLang="en-US" sz="1600" dirty="0">
                          <a:solidFill>
                            <a:schemeClr val="tx1"/>
                          </a:solidFill>
                        </a:rPr>
                        <a:t>含使用者管理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zh-TW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60986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TW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600" dirty="0">
                          <a:solidFill>
                            <a:schemeClr val="tx1"/>
                          </a:solidFill>
                        </a:rPr>
                        <a:t>可建立、修改物料主檔與規格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600" dirty="0">
                          <a:solidFill>
                            <a:schemeClr val="tx1"/>
                          </a:solidFill>
                        </a:rPr>
                        <a:t>除了使用者管理外的所有按鈕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29059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600" dirty="0">
                          <a:solidFill>
                            <a:schemeClr val="tx1"/>
                          </a:solidFill>
                        </a:rPr>
                        <a:t>執行日常進出庫、查詢、看警報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600" dirty="0">
                          <a:solidFill>
                            <a:schemeClr val="tx1"/>
                          </a:solidFill>
                        </a:rPr>
                        <a:t>入庫、查詢、低水位看板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39356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zh-TW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600" dirty="0">
                          <a:solidFill>
                            <a:schemeClr val="tx1"/>
                          </a:solidFill>
                        </a:rPr>
                        <a:t>僅限在主畫面執行「領料過帳」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600" dirty="0">
                          <a:solidFill>
                            <a:schemeClr val="tx1"/>
                          </a:solidFill>
                        </a:rPr>
                        <a:t>頂部無按鈕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zh-TW" altLang="en-US" sz="1600" dirty="0">
                          <a:solidFill>
                            <a:schemeClr val="tx1"/>
                          </a:solidFill>
                        </a:rPr>
                        <a:t>防止誤觸設定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zh-TW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56481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443109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C30A3-5E3C-9304-B464-F2E9D3B30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330AC778-A75E-4B3B-B7EE-64A0226D86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892" y="107816"/>
            <a:ext cx="11379200" cy="461659"/>
          </a:xfrm>
        </p:spPr>
        <p:txBody>
          <a:bodyPr>
            <a:noAutofit/>
          </a:bodyPr>
          <a:lstStyle/>
          <a:p>
            <a:r>
              <a:rPr lang="zh-TW" altLang="en-US" sz="2800" dirty="0"/>
              <a:t>領料作業</a:t>
            </a:r>
            <a:r>
              <a:rPr lang="en-US" altLang="zh-TW" sz="2800" dirty="0"/>
              <a:t>(Outbound)</a:t>
            </a:r>
            <a:endParaRPr lang="zh-TW" altLang="en-US" sz="2800" dirty="0"/>
          </a:p>
        </p:txBody>
      </p:sp>
      <p:sp>
        <p:nvSpPr>
          <p:cNvPr id="53" name="標題 2">
            <a:extLst>
              <a:ext uri="{FF2B5EF4-FFF2-40B4-BE49-F238E27FC236}">
                <a16:creationId xmlns:a16="http://schemas.microsoft.com/office/drawing/2014/main" id="{223A83BF-FA63-8E7E-746A-499ECB7C30D2}"/>
              </a:ext>
            </a:extLst>
          </p:cNvPr>
          <p:cNvSpPr txBox="1">
            <a:spLocks/>
          </p:cNvSpPr>
          <p:nvPr/>
        </p:nvSpPr>
        <p:spPr>
          <a:xfrm>
            <a:off x="217952" y="490075"/>
            <a:ext cx="5511319" cy="46165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TW" sz="1800" dirty="0">
                <a:solidFill>
                  <a:srgbClr val="0000FF"/>
                </a:solidFill>
              </a:rPr>
              <a:t>1.</a:t>
            </a:r>
            <a:r>
              <a:rPr lang="zh-TW" altLang="en-US" sz="1800" dirty="0">
                <a:solidFill>
                  <a:srgbClr val="0000FF"/>
                </a:solidFill>
              </a:rPr>
              <a:t>領料作業 </a:t>
            </a:r>
            <a:r>
              <a:rPr lang="en-US" altLang="zh-TW" sz="1800" dirty="0">
                <a:solidFill>
                  <a:srgbClr val="0000FF"/>
                </a:solidFill>
              </a:rPr>
              <a:t>(Outbound) - </a:t>
            </a:r>
            <a:r>
              <a:rPr lang="zh-TW" altLang="en-US" sz="1800" dirty="0">
                <a:solidFill>
                  <a:srgbClr val="0000FF"/>
                </a:solidFill>
              </a:rPr>
              <a:t>位於主畫面</a:t>
            </a:r>
          </a:p>
        </p:txBody>
      </p:sp>
      <p:sp>
        <p:nvSpPr>
          <p:cNvPr id="22" name="標題 2">
            <a:extLst>
              <a:ext uri="{FF2B5EF4-FFF2-40B4-BE49-F238E27FC236}">
                <a16:creationId xmlns:a16="http://schemas.microsoft.com/office/drawing/2014/main" id="{4BDF6F7B-00EF-58E5-EE95-7B9488F6884C}"/>
              </a:ext>
            </a:extLst>
          </p:cNvPr>
          <p:cNvSpPr txBox="1">
            <a:spLocks/>
          </p:cNvSpPr>
          <p:nvPr/>
        </p:nvSpPr>
        <p:spPr>
          <a:xfrm>
            <a:off x="537039" y="951734"/>
            <a:ext cx="9192749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確認倉庫：選擇目前的作業倉庫（如：</a:t>
            </a:r>
            <a:r>
              <a:rPr lang="en-US" altLang="zh-TW" sz="1800" dirty="0">
                <a:solidFill>
                  <a:srgbClr val="002060"/>
                </a:solidFill>
              </a:rPr>
              <a:t>Warehouse 01</a:t>
            </a:r>
            <a:r>
              <a:rPr lang="zh-TW" altLang="en-US" sz="1800" dirty="0">
                <a:solidFill>
                  <a:srgbClr val="002060"/>
                </a:solidFill>
              </a:rPr>
              <a:t>）。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掃描條碼：掃描零件標籤，系統自動顯示品名與規格。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輸入數量：輸入領取數量（限正整數，無小數點）。</a:t>
            </a: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過帳：點選「確認領料」。若庫存不足，系統會彈出紅色警告。</a:t>
            </a:r>
          </a:p>
          <a:p>
            <a:pPr marL="342900" indent="-342900" algn="l">
              <a:buFont typeface="+mj-lt"/>
              <a:buAutoNum type="arabicPeriod"/>
            </a:pPr>
            <a:endParaRPr lang="en-US" altLang="zh-TW" sz="1800" dirty="0">
              <a:solidFill>
                <a:srgbClr val="002060"/>
              </a:solidFill>
            </a:endParaRPr>
          </a:p>
        </p:txBody>
      </p:sp>
      <p:pic>
        <p:nvPicPr>
          <p:cNvPr id="5" name="圖片 4" descr="The image displays a Chinese language user interface for a parts management system, with sections for user management, adding materials, low stock alerts, and current stock levels, along with a confirmation button.&#10;&#10;AI 產生的內容可能不正確。">
            <a:extLst>
              <a:ext uri="{FF2B5EF4-FFF2-40B4-BE49-F238E27FC236}">
                <a16:creationId xmlns:a16="http://schemas.microsoft.com/office/drawing/2014/main" id="{5373E9E3-B34B-9797-2D17-34821F2DCE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8603" y="1060913"/>
            <a:ext cx="4160489" cy="5440049"/>
          </a:xfrm>
          <a:prstGeom prst="rect">
            <a:avLst/>
          </a:prstGeom>
        </p:spPr>
      </p:pic>
      <p:grpSp>
        <p:nvGrpSpPr>
          <p:cNvPr id="9" name="群組 8">
            <a:extLst>
              <a:ext uri="{FF2B5EF4-FFF2-40B4-BE49-F238E27FC236}">
                <a16:creationId xmlns:a16="http://schemas.microsoft.com/office/drawing/2014/main" id="{ED82624A-D240-6BA7-3DA2-E649A1EE39A9}"/>
              </a:ext>
            </a:extLst>
          </p:cNvPr>
          <p:cNvGrpSpPr/>
          <p:nvPr/>
        </p:nvGrpSpPr>
        <p:grpSpPr>
          <a:xfrm>
            <a:off x="7688062" y="4473437"/>
            <a:ext cx="2041726" cy="711122"/>
            <a:chOff x="7688062" y="4473437"/>
            <a:chExt cx="2041726" cy="711122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094853B3-4A0B-D1E9-4A9E-69268A099F75}"/>
                </a:ext>
              </a:extLst>
            </p:cNvPr>
            <p:cNvSpPr/>
            <p:nvPr/>
          </p:nvSpPr>
          <p:spPr>
            <a:xfrm>
              <a:off x="7688062" y="4500979"/>
              <a:ext cx="2041726" cy="68358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400" b="1" dirty="0"/>
            </a:p>
          </p:txBody>
        </p:sp>
        <p:sp>
          <p:nvSpPr>
            <p:cNvPr id="8" name="文字方塊 7">
              <a:extLst>
                <a:ext uri="{FF2B5EF4-FFF2-40B4-BE49-F238E27FC236}">
                  <a16:creationId xmlns:a16="http://schemas.microsoft.com/office/drawing/2014/main" id="{E1B59EB3-AAB4-E599-98F0-4628ABD85063}"/>
                </a:ext>
              </a:extLst>
            </p:cNvPr>
            <p:cNvSpPr txBox="1"/>
            <p:nvPr/>
          </p:nvSpPr>
          <p:spPr>
            <a:xfrm>
              <a:off x="9416882" y="4473437"/>
              <a:ext cx="3129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FF0000"/>
                  </a:solidFill>
                </a:rPr>
                <a:t>1</a:t>
              </a:r>
              <a:endParaRPr lang="zh-TW" altLang="en-US" b="1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0" name="群組 9">
            <a:extLst>
              <a:ext uri="{FF2B5EF4-FFF2-40B4-BE49-F238E27FC236}">
                <a16:creationId xmlns:a16="http://schemas.microsoft.com/office/drawing/2014/main" id="{BC8C01B9-4FF7-A92A-6943-80EDE9B6F5D5}"/>
              </a:ext>
            </a:extLst>
          </p:cNvPr>
          <p:cNvGrpSpPr/>
          <p:nvPr/>
        </p:nvGrpSpPr>
        <p:grpSpPr>
          <a:xfrm>
            <a:off x="7688061" y="1957524"/>
            <a:ext cx="3966899" cy="776798"/>
            <a:chOff x="7688062" y="4473437"/>
            <a:chExt cx="2041726" cy="711122"/>
          </a:xfrm>
        </p:grpSpPr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0D37D1D0-80AE-8C57-F056-9A519905FE70}"/>
                </a:ext>
              </a:extLst>
            </p:cNvPr>
            <p:cNvSpPr/>
            <p:nvPr/>
          </p:nvSpPr>
          <p:spPr>
            <a:xfrm>
              <a:off x="7688062" y="4500979"/>
              <a:ext cx="2041726" cy="68358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400" b="1" dirty="0"/>
            </a:p>
          </p:txBody>
        </p:sp>
        <p:sp>
          <p:nvSpPr>
            <p:cNvPr id="12" name="文字方塊 11">
              <a:extLst>
                <a:ext uri="{FF2B5EF4-FFF2-40B4-BE49-F238E27FC236}">
                  <a16:creationId xmlns:a16="http://schemas.microsoft.com/office/drawing/2014/main" id="{42441240-24AB-27E4-47F9-43ED299FC395}"/>
                </a:ext>
              </a:extLst>
            </p:cNvPr>
            <p:cNvSpPr txBox="1"/>
            <p:nvPr/>
          </p:nvSpPr>
          <p:spPr>
            <a:xfrm>
              <a:off x="9416882" y="4473437"/>
              <a:ext cx="161050" cy="3381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FF0000"/>
                  </a:solidFill>
                </a:rPr>
                <a:t>2</a:t>
              </a:r>
              <a:endParaRPr lang="zh-TW" altLang="en-US" b="1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群組 12">
            <a:extLst>
              <a:ext uri="{FF2B5EF4-FFF2-40B4-BE49-F238E27FC236}">
                <a16:creationId xmlns:a16="http://schemas.microsoft.com/office/drawing/2014/main" id="{6EA42510-212B-274F-755E-38FA79AE903D}"/>
              </a:ext>
            </a:extLst>
          </p:cNvPr>
          <p:cNvGrpSpPr/>
          <p:nvPr/>
        </p:nvGrpSpPr>
        <p:grpSpPr>
          <a:xfrm>
            <a:off x="7688060" y="5334207"/>
            <a:ext cx="1350980" cy="572059"/>
            <a:chOff x="7688062" y="4473437"/>
            <a:chExt cx="2157670" cy="711122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DA965560-C7C7-9585-7FBC-E06DE0AFB096}"/>
                </a:ext>
              </a:extLst>
            </p:cNvPr>
            <p:cNvSpPr/>
            <p:nvPr/>
          </p:nvSpPr>
          <p:spPr>
            <a:xfrm>
              <a:off x="7688062" y="4500979"/>
              <a:ext cx="2041726" cy="68358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400" b="1" dirty="0"/>
            </a:p>
          </p:txBody>
        </p:sp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B78810F1-1CDD-F8DA-E710-C97593A0A459}"/>
                </a:ext>
              </a:extLst>
            </p:cNvPr>
            <p:cNvSpPr txBox="1"/>
            <p:nvPr/>
          </p:nvSpPr>
          <p:spPr>
            <a:xfrm>
              <a:off x="9345985" y="4473437"/>
              <a:ext cx="499747" cy="4591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FF0000"/>
                  </a:solidFill>
                </a:rPr>
                <a:t>3</a:t>
              </a:r>
              <a:endParaRPr lang="zh-TW" altLang="en-US" b="1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6" name="群組 15">
            <a:extLst>
              <a:ext uri="{FF2B5EF4-FFF2-40B4-BE49-F238E27FC236}">
                <a16:creationId xmlns:a16="http://schemas.microsoft.com/office/drawing/2014/main" id="{FDCFE1A3-C1C8-5A13-9CAB-146981AE3BEC}"/>
              </a:ext>
            </a:extLst>
          </p:cNvPr>
          <p:cNvGrpSpPr/>
          <p:nvPr/>
        </p:nvGrpSpPr>
        <p:grpSpPr>
          <a:xfrm>
            <a:off x="9039040" y="5275753"/>
            <a:ext cx="2615920" cy="711122"/>
            <a:chOff x="7688062" y="4473437"/>
            <a:chExt cx="2041726" cy="711122"/>
          </a:xfrm>
        </p:grpSpPr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3E563ADC-55FF-6A88-D29F-4410330F44F0}"/>
                </a:ext>
              </a:extLst>
            </p:cNvPr>
            <p:cNvSpPr/>
            <p:nvPr/>
          </p:nvSpPr>
          <p:spPr>
            <a:xfrm>
              <a:off x="7688062" y="4500979"/>
              <a:ext cx="2041726" cy="68358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400" b="1" dirty="0"/>
            </a:p>
          </p:txBody>
        </p:sp>
        <p:sp>
          <p:nvSpPr>
            <p:cNvPr id="18" name="文字方塊 17">
              <a:extLst>
                <a:ext uri="{FF2B5EF4-FFF2-40B4-BE49-F238E27FC236}">
                  <a16:creationId xmlns:a16="http://schemas.microsoft.com/office/drawing/2014/main" id="{34BBA4A6-ACB7-F2E8-2CE9-5B0BE5BE6260}"/>
                </a:ext>
              </a:extLst>
            </p:cNvPr>
            <p:cNvSpPr txBox="1"/>
            <p:nvPr/>
          </p:nvSpPr>
          <p:spPr>
            <a:xfrm>
              <a:off x="9416882" y="4473437"/>
              <a:ext cx="2442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FF0000"/>
                  </a:solidFill>
                </a:rPr>
                <a:t>4</a:t>
              </a:r>
              <a:endParaRPr lang="zh-TW" altLang="en-US" b="1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35216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6F9E4E-8665-E935-5914-5C4464645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C7403BE8-0378-C966-AD1A-D947FE09FF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892" y="107816"/>
            <a:ext cx="11379200" cy="461659"/>
          </a:xfrm>
        </p:spPr>
        <p:txBody>
          <a:bodyPr>
            <a:noAutofit/>
          </a:bodyPr>
          <a:lstStyle/>
          <a:p>
            <a:r>
              <a:rPr lang="zh-TW" altLang="en-US" sz="2800" dirty="0"/>
              <a:t>入料作業</a:t>
            </a:r>
            <a:r>
              <a:rPr lang="en-US" altLang="zh-TW" sz="2800" dirty="0"/>
              <a:t>(Inbound)</a:t>
            </a:r>
            <a:endParaRPr lang="zh-TW" altLang="en-US" sz="2800" dirty="0"/>
          </a:p>
        </p:txBody>
      </p:sp>
      <p:sp>
        <p:nvSpPr>
          <p:cNvPr id="53" name="標題 2">
            <a:extLst>
              <a:ext uri="{FF2B5EF4-FFF2-40B4-BE49-F238E27FC236}">
                <a16:creationId xmlns:a16="http://schemas.microsoft.com/office/drawing/2014/main" id="{6F2CB7DD-FD50-D354-0D03-513947DCFED8}"/>
              </a:ext>
            </a:extLst>
          </p:cNvPr>
          <p:cNvSpPr txBox="1">
            <a:spLocks/>
          </p:cNvSpPr>
          <p:nvPr/>
        </p:nvSpPr>
        <p:spPr>
          <a:xfrm>
            <a:off x="217952" y="490075"/>
            <a:ext cx="5511319" cy="46165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TW" sz="1800" dirty="0">
                <a:solidFill>
                  <a:srgbClr val="0000FF"/>
                </a:solidFill>
              </a:rPr>
              <a:t>1.</a:t>
            </a:r>
            <a:r>
              <a:rPr lang="zh-TW" altLang="en-US" sz="1800" dirty="0">
                <a:solidFill>
                  <a:srgbClr val="0000FF"/>
                </a:solidFill>
              </a:rPr>
              <a:t>入料作業 </a:t>
            </a:r>
            <a:r>
              <a:rPr lang="en-US" altLang="zh-TW" sz="1800" dirty="0">
                <a:solidFill>
                  <a:srgbClr val="0000FF"/>
                </a:solidFill>
              </a:rPr>
              <a:t>(Inbound) - </a:t>
            </a:r>
            <a:r>
              <a:rPr lang="zh-TW" altLang="en-US" sz="1800" dirty="0">
                <a:solidFill>
                  <a:srgbClr val="0000FF"/>
                </a:solidFill>
              </a:rPr>
              <a:t>位於主畫面</a:t>
            </a:r>
          </a:p>
        </p:txBody>
      </p:sp>
      <p:sp>
        <p:nvSpPr>
          <p:cNvPr id="22" name="標題 2">
            <a:extLst>
              <a:ext uri="{FF2B5EF4-FFF2-40B4-BE49-F238E27FC236}">
                <a16:creationId xmlns:a16="http://schemas.microsoft.com/office/drawing/2014/main" id="{FC4F0A31-4D6A-7044-9CC5-5A6696DF6793}"/>
              </a:ext>
            </a:extLst>
          </p:cNvPr>
          <p:cNvSpPr txBox="1">
            <a:spLocks/>
          </p:cNvSpPr>
          <p:nvPr/>
        </p:nvSpPr>
        <p:spPr>
          <a:xfrm>
            <a:off x="537039" y="951734"/>
            <a:ext cx="9192749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識別物料：掃描條碼或點選「手動查詢」輸入料號。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若料號存在則右側會顯示品名與規格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數量與位置：輸入入庫數量並選擇存放倉庫。</a:t>
            </a:r>
          </a:p>
        </p:txBody>
      </p:sp>
      <p:pic>
        <p:nvPicPr>
          <p:cNvPr id="4" name="圖片 3" descr="The image shows a user interface for a stock management system, specifically for entering an item's code, with fields for product name, manual query, quantity, product code (H), target warehouse (Main Warehouse), and inbound status.&#10;&#10;AI 產生的內容可能不正確。">
            <a:extLst>
              <a:ext uri="{FF2B5EF4-FFF2-40B4-BE49-F238E27FC236}">
                <a16:creationId xmlns:a16="http://schemas.microsoft.com/office/drawing/2014/main" id="{57D43FF7-BE59-09DE-6329-14F1BCD2EB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4400" y="1957523"/>
            <a:ext cx="7501960" cy="4212457"/>
          </a:xfrm>
          <a:prstGeom prst="rect">
            <a:avLst/>
          </a:prstGeom>
        </p:spPr>
      </p:pic>
      <p:grpSp>
        <p:nvGrpSpPr>
          <p:cNvPr id="6" name="群組 5">
            <a:extLst>
              <a:ext uri="{FF2B5EF4-FFF2-40B4-BE49-F238E27FC236}">
                <a16:creationId xmlns:a16="http://schemas.microsoft.com/office/drawing/2014/main" id="{18CCAED2-FC76-443A-940E-27B945065488}"/>
              </a:ext>
            </a:extLst>
          </p:cNvPr>
          <p:cNvGrpSpPr/>
          <p:nvPr/>
        </p:nvGrpSpPr>
        <p:grpSpPr>
          <a:xfrm>
            <a:off x="4026043" y="2445796"/>
            <a:ext cx="2738742" cy="767921"/>
            <a:chOff x="7688062" y="4473437"/>
            <a:chExt cx="2041726" cy="711122"/>
          </a:xfrm>
        </p:grpSpPr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B0C63CC1-0284-CB6D-84AB-CBB090B6BFFE}"/>
                </a:ext>
              </a:extLst>
            </p:cNvPr>
            <p:cNvSpPr/>
            <p:nvPr/>
          </p:nvSpPr>
          <p:spPr>
            <a:xfrm>
              <a:off x="7688062" y="4500979"/>
              <a:ext cx="2041726" cy="68358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400" b="1" dirty="0"/>
            </a:p>
          </p:txBody>
        </p:sp>
        <p:sp>
          <p:nvSpPr>
            <p:cNvPr id="8" name="文字方塊 7">
              <a:extLst>
                <a:ext uri="{FF2B5EF4-FFF2-40B4-BE49-F238E27FC236}">
                  <a16:creationId xmlns:a16="http://schemas.microsoft.com/office/drawing/2014/main" id="{FBCFC81B-4125-5B00-AD69-963DF50334C8}"/>
                </a:ext>
              </a:extLst>
            </p:cNvPr>
            <p:cNvSpPr txBox="1"/>
            <p:nvPr/>
          </p:nvSpPr>
          <p:spPr>
            <a:xfrm>
              <a:off x="9416882" y="4473437"/>
              <a:ext cx="233271" cy="3420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FF0000"/>
                  </a:solidFill>
                </a:rPr>
                <a:t>1</a:t>
              </a:r>
              <a:endParaRPr lang="zh-TW" altLang="en-US" b="1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9" name="群組 8">
            <a:extLst>
              <a:ext uri="{FF2B5EF4-FFF2-40B4-BE49-F238E27FC236}">
                <a16:creationId xmlns:a16="http://schemas.microsoft.com/office/drawing/2014/main" id="{54F530B8-F902-3C84-51A8-E343669AF4AD}"/>
              </a:ext>
            </a:extLst>
          </p:cNvPr>
          <p:cNvGrpSpPr/>
          <p:nvPr/>
        </p:nvGrpSpPr>
        <p:grpSpPr>
          <a:xfrm>
            <a:off x="6946427" y="2475538"/>
            <a:ext cx="4266069" cy="1989930"/>
            <a:chOff x="7688062" y="4473437"/>
            <a:chExt cx="2041726" cy="711122"/>
          </a:xfrm>
        </p:grpSpPr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147416EC-75B8-1728-3B0C-D04474887F28}"/>
                </a:ext>
              </a:extLst>
            </p:cNvPr>
            <p:cNvSpPr/>
            <p:nvPr/>
          </p:nvSpPr>
          <p:spPr>
            <a:xfrm>
              <a:off x="7688062" y="4500979"/>
              <a:ext cx="2041726" cy="68358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400" b="1" dirty="0"/>
            </a:p>
          </p:txBody>
        </p:sp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2E88D29E-5159-46D1-3CE0-403F8B5DABA5}"/>
                </a:ext>
              </a:extLst>
            </p:cNvPr>
            <p:cNvSpPr txBox="1"/>
            <p:nvPr/>
          </p:nvSpPr>
          <p:spPr>
            <a:xfrm>
              <a:off x="9416882" y="4473437"/>
              <a:ext cx="161050" cy="3381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FF0000"/>
                  </a:solidFill>
                </a:rPr>
                <a:t>2</a:t>
              </a:r>
              <a:endParaRPr lang="zh-TW" altLang="en-US" b="1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2" name="群組 11">
            <a:extLst>
              <a:ext uri="{FF2B5EF4-FFF2-40B4-BE49-F238E27FC236}">
                <a16:creationId xmlns:a16="http://schemas.microsoft.com/office/drawing/2014/main" id="{AAFE4B19-7D5C-23D6-CB6F-BD7D98CC17AF}"/>
              </a:ext>
            </a:extLst>
          </p:cNvPr>
          <p:cNvGrpSpPr/>
          <p:nvPr/>
        </p:nvGrpSpPr>
        <p:grpSpPr>
          <a:xfrm>
            <a:off x="3965287" y="3260323"/>
            <a:ext cx="2847276" cy="942852"/>
            <a:chOff x="7688062" y="4473437"/>
            <a:chExt cx="2041726" cy="711122"/>
          </a:xfrm>
        </p:grpSpPr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1829718A-B5BD-AE3D-5E93-AF8B1025F04C}"/>
                </a:ext>
              </a:extLst>
            </p:cNvPr>
            <p:cNvSpPr/>
            <p:nvPr/>
          </p:nvSpPr>
          <p:spPr>
            <a:xfrm>
              <a:off x="7688062" y="4500979"/>
              <a:ext cx="2041726" cy="68358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400" b="1" dirty="0"/>
            </a:p>
          </p:txBody>
        </p:sp>
        <p:sp>
          <p:nvSpPr>
            <p:cNvPr id="14" name="文字方塊 13">
              <a:extLst>
                <a:ext uri="{FF2B5EF4-FFF2-40B4-BE49-F238E27FC236}">
                  <a16:creationId xmlns:a16="http://schemas.microsoft.com/office/drawing/2014/main" id="{35067886-8CB5-5ECD-DCFD-FC2D746DE721}"/>
                </a:ext>
              </a:extLst>
            </p:cNvPr>
            <p:cNvSpPr txBox="1"/>
            <p:nvPr/>
          </p:nvSpPr>
          <p:spPr>
            <a:xfrm>
              <a:off x="9416882" y="4473437"/>
              <a:ext cx="224379" cy="27855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FF0000"/>
                  </a:solidFill>
                </a:rPr>
                <a:t>3</a:t>
              </a:r>
              <a:endParaRPr lang="zh-TW" altLang="en-US" b="1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041314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7EA7A4-2857-4910-60DC-71FFCF254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976339C5-D99E-08DF-3810-CA3EB37AE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892" y="107816"/>
            <a:ext cx="11379200" cy="461659"/>
          </a:xfrm>
        </p:spPr>
        <p:txBody>
          <a:bodyPr>
            <a:noAutofit/>
          </a:bodyPr>
          <a:lstStyle/>
          <a:p>
            <a:r>
              <a:rPr lang="zh-TW" altLang="en-US" sz="2800" dirty="0"/>
              <a:t>物料主檔管理 </a:t>
            </a:r>
            <a:r>
              <a:rPr lang="en-US" altLang="zh-TW" sz="2800" dirty="0"/>
              <a:t>(Material Master) - </a:t>
            </a:r>
            <a:r>
              <a:rPr lang="zh-TW" altLang="en-US" sz="2800" dirty="0"/>
              <a:t>限 </a:t>
            </a:r>
            <a:r>
              <a:rPr lang="en-US" altLang="zh-TW" sz="2800" dirty="0"/>
              <a:t>Level 1 &amp; 2</a:t>
            </a:r>
          </a:p>
        </p:txBody>
      </p:sp>
      <p:sp>
        <p:nvSpPr>
          <p:cNvPr id="53" name="標題 2">
            <a:extLst>
              <a:ext uri="{FF2B5EF4-FFF2-40B4-BE49-F238E27FC236}">
                <a16:creationId xmlns:a16="http://schemas.microsoft.com/office/drawing/2014/main" id="{3F01CF3D-1164-4DD6-5DDD-C58157A2489D}"/>
              </a:ext>
            </a:extLst>
          </p:cNvPr>
          <p:cNvSpPr txBox="1">
            <a:spLocks/>
          </p:cNvSpPr>
          <p:nvPr/>
        </p:nvSpPr>
        <p:spPr>
          <a:xfrm>
            <a:off x="217952" y="1200293"/>
            <a:ext cx="5511319" cy="46165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TW" sz="1800" dirty="0">
                <a:solidFill>
                  <a:srgbClr val="0000FF"/>
                </a:solidFill>
              </a:rPr>
              <a:t>1.</a:t>
            </a:r>
            <a:r>
              <a:rPr lang="zh-TW" altLang="en-US" sz="1800" dirty="0">
                <a:solidFill>
                  <a:srgbClr val="0000FF"/>
                </a:solidFill>
              </a:rPr>
              <a:t>新增物料</a:t>
            </a:r>
          </a:p>
        </p:txBody>
      </p:sp>
      <p:sp>
        <p:nvSpPr>
          <p:cNvPr id="22" name="標題 2">
            <a:extLst>
              <a:ext uri="{FF2B5EF4-FFF2-40B4-BE49-F238E27FC236}">
                <a16:creationId xmlns:a16="http://schemas.microsoft.com/office/drawing/2014/main" id="{AFFAF49F-BF33-DAB5-0915-0F735E864608}"/>
              </a:ext>
            </a:extLst>
          </p:cNvPr>
          <p:cNvSpPr txBox="1">
            <a:spLocks/>
          </p:cNvSpPr>
          <p:nvPr/>
        </p:nvSpPr>
        <p:spPr>
          <a:xfrm>
            <a:off x="537039" y="1661952"/>
            <a:ext cx="9192749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料號 </a:t>
            </a:r>
            <a:r>
              <a:rPr lang="en-US" altLang="zh-TW" sz="1800" dirty="0">
                <a:solidFill>
                  <a:srgbClr val="002060"/>
                </a:solidFill>
              </a:rPr>
              <a:t>(Part No)</a:t>
            </a:r>
            <a:r>
              <a:rPr lang="zh-TW" altLang="en-US" sz="1800" dirty="0">
                <a:solidFill>
                  <a:srgbClr val="002060"/>
                </a:solidFill>
              </a:rPr>
              <a:t>：唯一的識別碼，儲存後不可更改。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名稱</a:t>
            </a:r>
            <a:r>
              <a:rPr lang="en-US" altLang="zh-TW" sz="1800" dirty="0">
                <a:solidFill>
                  <a:srgbClr val="002060"/>
                </a:solidFill>
              </a:rPr>
              <a:t>(Name) : </a:t>
            </a:r>
            <a:r>
              <a:rPr lang="zh-TW" altLang="en-US" sz="1800" dirty="0">
                <a:solidFill>
                  <a:srgbClr val="002060"/>
                </a:solidFill>
              </a:rPr>
              <a:t>自定義名稱。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規格</a:t>
            </a:r>
            <a:r>
              <a:rPr lang="en-US" altLang="zh-TW" sz="1800" dirty="0">
                <a:solidFill>
                  <a:srgbClr val="002060"/>
                </a:solidFill>
              </a:rPr>
              <a:t>(Specification) : </a:t>
            </a:r>
            <a:r>
              <a:rPr lang="zh-TW" altLang="en-US" sz="1800" dirty="0">
                <a:solidFill>
                  <a:srgbClr val="002060"/>
                </a:solidFill>
              </a:rPr>
              <a:t>自定義敘述。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安全庫存 </a:t>
            </a:r>
            <a:r>
              <a:rPr lang="en-US" altLang="zh-TW" sz="1800" dirty="0">
                <a:solidFill>
                  <a:srgbClr val="002060"/>
                </a:solidFill>
              </a:rPr>
              <a:t>(Safe Stock)</a:t>
            </a:r>
            <a:r>
              <a:rPr lang="zh-TW" altLang="en-US" sz="1800" dirty="0">
                <a:solidFill>
                  <a:srgbClr val="002060"/>
                </a:solidFill>
              </a:rPr>
              <a:t>：設定此零件的最低安全總量。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交期 </a:t>
            </a:r>
            <a:r>
              <a:rPr lang="en-US" altLang="zh-TW" sz="1800" dirty="0">
                <a:solidFill>
                  <a:srgbClr val="002060"/>
                </a:solidFill>
              </a:rPr>
              <a:t>(Lead Days)</a:t>
            </a:r>
            <a:r>
              <a:rPr lang="zh-TW" altLang="en-US" sz="1800" dirty="0">
                <a:solidFill>
                  <a:srgbClr val="002060"/>
                </a:solidFill>
              </a:rPr>
              <a:t>：設定補貨所需天數。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站別</a:t>
            </a:r>
            <a:r>
              <a:rPr lang="en-US" altLang="zh-TW" sz="1800" dirty="0">
                <a:solidFill>
                  <a:srgbClr val="002060"/>
                </a:solidFill>
              </a:rPr>
              <a:t>(Station) : </a:t>
            </a:r>
            <a:r>
              <a:rPr lang="zh-TW" altLang="en-US" sz="1800" dirty="0">
                <a:solidFill>
                  <a:srgbClr val="002060"/>
                </a:solidFill>
              </a:rPr>
              <a:t>零件所屬站別，選填</a:t>
            </a:r>
          </a:p>
        </p:txBody>
      </p:sp>
      <p:sp>
        <p:nvSpPr>
          <p:cNvPr id="2" name="標題 2">
            <a:extLst>
              <a:ext uri="{FF2B5EF4-FFF2-40B4-BE49-F238E27FC236}">
                <a16:creationId xmlns:a16="http://schemas.microsoft.com/office/drawing/2014/main" id="{88BDEFE0-8625-702B-A709-E4CC6D5C1BDF}"/>
              </a:ext>
            </a:extLst>
          </p:cNvPr>
          <p:cNvSpPr txBox="1">
            <a:spLocks/>
          </p:cNvSpPr>
          <p:nvPr/>
        </p:nvSpPr>
        <p:spPr>
          <a:xfrm>
            <a:off x="537039" y="546476"/>
            <a:ext cx="11162053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建立或編輯零件的基礎資訊。</a:t>
            </a:r>
          </a:p>
        </p:txBody>
      </p:sp>
      <p:pic>
        <p:nvPicPr>
          <p:cNvPr id="8" name="圖片 7" descr="The image displays a form with fields for Part Number, Name, Specification, Safety Stock, Lead Days, Station, and buttons for Save and Cancel.&#10;&#10;AI 產生的內容可能不正確。">
            <a:extLst>
              <a:ext uri="{FF2B5EF4-FFF2-40B4-BE49-F238E27FC236}">
                <a16:creationId xmlns:a16="http://schemas.microsoft.com/office/drawing/2014/main" id="{11DB298A-A487-8E73-81FF-8A80526822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1726" y="1792467"/>
            <a:ext cx="4969675" cy="4370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37695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8CCBA7-0506-C670-1535-B08FD3DB7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28074E02-8E7D-C833-0BFF-C2993072FF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892" y="107816"/>
            <a:ext cx="11379200" cy="461659"/>
          </a:xfrm>
        </p:spPr>
        <p:txBody>
          <a:bodyPr>
            <a:noAutofit/>
          </a:bodyPr>
          <a:lstStyle/>
          <a:p>
            <a:r>
              <a:rPr lang="zh-TW" altLang="en-US" sz="2800" dirty="0"/>
              <a:t>物料主檔管理 </a:t>
            </a:r>
            <a:r>
              <a:rPr lang="en-US" altLang="zh-TW" sz="2800" dirty="0"/>
              <a:t>(Material Master) - </a:t>
            </a:r>
            <a:r>
              <a:rPr lang="zh-TW" altLang="en-US" sz="2800" dirty="0"/>
              <a:t>限 </a:t>
            </a:r>
            <a:r>
              <a:rPr lang="en-US" altLang="zh-TW" sz="2800" dirty="0"/>
              <a:t>Level 1 &amp; 2</a:t>
            </a:r>
          </a:p>
        </p:txBody>
      </p:sp>
      <p:sp>
        <p:nvSpPr>
          <p:cNvPr id="53" name="標題 2">
            <a:extLst>
              <a:ext uri="{FF2B5EF4-FFF2-40B4-BE49-F238E27FC236}">
                <a16:creationId xmlns:a16="http://schemas.microsoft.com/office/drawing/2014/main" id="{DD32D693-B9CD-C627-7DB5-BC71BD85CCD9}"/>
              </a:ext>
            </a:extLst>
          </p:cNvPr>
          <p:cNvSpPr txBox="1">
            <a:spLocks/>
          </p:cNvSpPr>
          <p:nvPr/>
        </p:nvSpPr>
        <p:spPr>
          <a:xfrm>
            <a:off x="217952" y="1200293"/>
            <a:ext cx="5511319" cy="46165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TW" sz="1800" dirty="0">
                <a:solidFill>
                  <a:srgbClr val="0000FF"/>
                </a:solidFill>
              </a:rPr>
              <a:t>1.</a:t>
            </a:r>
            <a:r>
              <a:rPr lang="zh-TW" altLang="en-US" sz="1800" dirty="0">
                <a:solidFill>
                  <a:srgbClr val="0000FF"/>
                </a:solidFill>
              </a:rPr>
              <a:t>編輯</a:t>
            </a:r>
            <a:r>
              <a:rPr lang="en-US" altLang="zh-TW" sz="1800" dirty="0">
                <a:solidFill>
                  <a:srgbClr val="0000FF"/>
                </a:solidFill>
              </a:rPr>
              <a:t>/</a:t>
            </a:r>
            <a:r>
              <a:rPr lang="zh-TW" altLang="en-US" sz="1800" dirty="0">
                <a:solidFill>
                  <a:srgbClr val="0000FF"/>
                </a:solidFill>
              </a:rPr>
              <a:t>刪除物料</a:t>
            </a:r>
          </a:p>
        </p:txBody>
      </p:sp>
      <p:sp>
        <p:nvSpPr>
          <p:cNvPr id="22" name="標題 2">
            <a:extLst>
              <a:ext uri="{FF2B5EF4-FFF2-40B4-BE49-F238E27FC236}">
                <a16:creationId xmlns:a16="http://schemas.microsoft.com/office/drawing/2014/main" id="{537198B6-A9EA-3949-A249-B7B54A2D2385}"/>
              </a:ext>
            </a:extLst>
          </p:cNvPr>
          <p:cNvSpPr txBox="1">
            <a:spLocks/>
          </p:cNvSpPr>
          <p:nvPr/>
        </p:nvSpPr>
        <p:spPr>
          <a:xfrm>
            <a:off x="537039" y="1661952"/>
            <a:ext cx="9192749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料號 </a:t>
            </a:r>
            <a:r>
              <a:rPr lang="en-US" altLang="zh-TW" sz="1800" dirty="0">
                <a:solidFill>
                  <a:srgbClr val="002060"/>
                </a:solidFill>
              </a:rPr>
              <a:t>(Part No)</a:t>
            </a:r>
            <a:r>
              <a:rPr lang="zh-TW" altLang="en-US" sz="1800" dirty="0">
                <a:solidFill>
                  <a:srgbClr val="002060"/>
                </a:solidFill>
              </a:rPr>
              <a:t>：不可更改。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名稱</a:t>
            </a:r>
            <a:r>
              <a:rPr lang="en-US" altLang="zh-TW" sz="1800" dirty="0">
                <a:solidFill>
                  <a:srgbClr val="002060"/>
                </a:solidFill>
              </a:rPr>
              <a:t>(Name) : </a:t>
            </a:r>
            <a:r>
              <a:rPr lang="zh-TW" altLang="en-US" sz="1800" dirty="0">
                <a:solidFill>
                  <a:srgbClr val="002060"/>
                </a:solidFill>
              </a:rPr>
              <a:t>自定義名稱。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規格</a:t>
            </a:r>
            <a:r>
              <a:rPr lang="en-US" altLang="zh-TW" sz="1800" dirty="0">
                <a:solidFill>
                  <a:srgbClr val="002060"/>
                </a:solidFill>
              </a:rPr>
              <a:t>(Specification) : </a:t>
            </a:r>
            <a:r>
              <a:rPr lang="zh-TW" altLang="en-US" sz="1800" dirty="0">
                <a:solidFill>
                  <a:srgbClr val="002060"/>
                </a:solidFill>
              </a:rPr>
              <a:t>自定義敘述。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安全庫存 </a:t>
            </a:r>
            <a:r>
              <a:rPr lang="en-US" altLang="zh-TW" sz="1800" dirty="0">
                <a:solidFill>
                  <a:srgbClr val="002060"/>
                </a:solidFill>
              </a:rPr>
              <a:t>(Safe Stock)</a:t>
            </a:r>
            <a:r>
              <a:rPr lang="zh-TW" altLang="en-US" sz="1800" dirty="0">
                <a:solidFill>
                  <a:srgbClr val="002060"/>
                </a:solidFill>
              </a:rPr>
              <a:t>：設定此零件的最低安全總量。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交期 </a:t>
            </a:r>
            <a:r>
              <a:rPr lang="en-US" altLang="zh-TW" sz="1800" dirty="0">
                <a:solidFill>
                  <a:srgbClr val="002060"/>
                </a:solidFill>
              </a:rPr>
              <a:t>(Lead Days)</a:t>
            </a:r>
            <a:r>
              <a:rPr lang="zh-TW" altLang="en-US" sz="1800" dirty="0">
                <a:solidFill>
                  <a:srgbClr val="002060"/>
                </a:solidFill>
              </a:rPr>
              <a:t>：設定補貨所需天數。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站別</a:t>
            </a:r>
            <a:r>
              <a:rPr lang="en-US" altLang="zh-TW" sz="1800" dirty="0">
                <a:solidFill>
                  <a:srgbClr val="002060"/>
                </a:solidFill>
              </a:rPr>
              <a:t>(Station) : </a:t>
            </a:r>
            <a:r>
              <a:rPr lang="zh-TW" altLang="en-US" sz="1800" dirty="0">
                <a:solidFill>
                  <a:srgbClr val="002060"/>
                </a:solidFill>
              </a:rPr>
              <a:t>零件所屬站別，選填</a:t>
            </a:r>
          </a:p>
        </p:txBody>
      </p:sp>
      <p:sp>
        <p:nvSpPr>
          <p:cNvPr id="2" name="標題 2">
            <a:extLst>
              <a:ext uri="{FF2B5EF4-FFF2-40B4-BE49-F238E27FC236}">
                <a16:creationId xmlns:a16="http://schemas.microsoft.com/office/drawing/2014/main" id="{1E1055AF-5024-F161-5AF8-BD0BD30461A0}"/>
              </a:ext>
            </a:extLst>
          </p:cNvPr>
          <p:cNvSpPr txBox="1">
            <a:spLocks/>
          </p:cNvSpPr>
          <p:nvPr/>
        </p:nvSpPr>
        <p:spPr>
          <a:xfrm>
            <a:off x="537039" y="546476"/>
            <a:ext cx="11162053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編輯或刪除零件的基礎資訊，在庫存查詢中對要編輯或刪除的物料點右鍵即可出現選單。</a:t>
            </a:r>
          </a:p>
        </p:txBody>
      </p:sp>
      <p:pic>
        <p:nvPicPr>
          <p:cNvPr id="7" name="圖片 6" descr="The image displays a table or form with various fields for inputting information, including a search bar, a section for material names, size or model numbers, and buttons for actions such as editing or deleting, specifically for a 2-4mm range.&#10;&#10;AI 產生的內容可能不正確。">
            <a:extLst>
              <a:ext uri="{FF2B5EF4-FFF2-40B4-BE49-F238E27FC236}">
                <a16:creationId xmlns:a16="http://schemas.microsoft.com/office/drawing/2014/main" id="{B93D4E19-8D5A-1107-BD29-16DA192F81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1580" y="3429000"/>
            <a:ext cx="4248150" cy="3105150"/>
          </a:xfrm>
          <a:prstGeom prst="rect">
            <a:avLst/>
          </a:prstGeom>
        </p:spPr>
      </p:pic>
      <p:pic>
        <p:nvPicPr>
          <p:cNvPr id="10" name="圖片 9" descr="The image shows a software interface with fields for part number, name, specification, safe stock, lead days, and station, and includes options to save or cancel.&#10;&#10;AI 產生的內容可能不正確。">
            <a:extLst>
              <a:ext uri="{FF2B5EF4-FFF2-40B4-BE49-F238E27FC236}">
                <a16:creationId xmlns:a16="http://schemas.microsoft.com/office/drawing/2014/main" id="{8AD69383-3527-BFC0-CD1F-FDCA53B845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4270" y="1552266"/>
            <a:ext cx="5262303" cy="4654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8275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7C49E-ACCC-CC16-7516-4D97DD300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B7F30EA8-14CA-0337-626E-936AC979D8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892" y="107816"/>
            <a:ext cx="11379200" cy="461659"/>
          </a:xfrm>
        </p:spPr>
        <p:txBody>
          <a:bodyPr>
            <a:noAutofit/>
          </a:bodyPr>
          <a:lstStyle/>
          <a:p>
            <a:r>
              <a:rPr lang="zh-TW" altLang="en-US" sz="2800" dirty="0"/>
              <a:t>庫存查詢看板 </a:t>
            </a:r>
            <a:r>
              <a:rPr lang="en-US" altLang="zh-TW" sz="2800" dirty="0"/>
              <a:t>(Inventory Monitoring)</a:t>
            </a:r>
          </a:p>
        </p:txBody>
      </p:sp>
      <p:sp>
        <p:nvSpPr>
          <p:cNvPr id="53" name="標題 2">
            <a:extLst>
              <a:ext uri="{FF2B5EF4-FFF2-40B4-BE49-F238E27FC236}">
                <a16:creationId xmlns:a16="http://schemas.microsoft.com/office/drawing/2014/main" id="{B596482B-6D93-EDE6-9CE4-8F0026113B93}"/>
              </a:ext>
            </a:extLst>
          </p:cNvPr>
          <p:cNvSpPr txBox="1">
            <a:spLocks/>
          </p:cNvSpPr>
          <p:nvPr/>
        </p:nvSpPr>
        <p:spPr>
          <a:xfrm>
            <a:off x="217952" y="1200293"/>
            <a:ext cx="5511319" cy="46165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TW" sz="1800" dirty="0">
                <a:solidFill>
                  <a:srgbClr val="0000FF"/>
                </a:solidFill>
              </a:rPr>
              <a:t>1.</a:t>
            </a:r>
            <a:r>
              <a:rPr lang="zh-TW" altLang="en-US" sz="1800" dirty="0">
                <a:solidFill>
                  <a:srgbClr val="0000FF"/>
                </a:solidFill>
              </a:rPr>
              <a:t>庫存查詢</a:t>
            </a:r>
          </a:p>
        </p:txBody>
      </p:sp>
      <p:sp>
        <p:nvSpPr>
          <p:cNvPr id="22" name="標題 2">
            <a:extLst>
              <a:ext uri="{FF2B5EF4-FFF2-40B4-BE49-F238E27FC236}">
                <a16:creationId xmlns:a16="http://schemas.microsoft.com/office/drawing/2014/main" id="{F4FEE48A-F7EC-3CCD-4683-59A177514EE8}"/>
              </a:ext>
            </a:extLst>
          </p:cNvPr>
          <p:cNvSpPr txBox="1">
            <a:spLocks/>
          </p:cNvSpPr>
          <p:nvPr/>
        </p:nvSpPr>
        <p:spPr>
          <a:xfrm>
            <a:off x="537039" y="1661952"/>
            <a:ext cx="9192749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 algn="l"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輸入關鍵字按查詢可搜尋物料名稱、規格</a:t>
            </a:r>
            <a:r>
              <a:rPr lang="en-US" altLang="zh-TW" sz="1800" dirty="0">
                <a:solidFill>
                  <a:srgbClr val="002060"/>
                </a:solidFill>
              </a:rPr>
              <a:t>/</a:t>
            </a:r>
            <a:r>
              <a:rPr lang="zh-TW" altLang="en-US" sz="1800" dirty="0">
                <a:solidFill>
                  <a:srgbClr val="002060"/>
                </a:solidFill>
              </a:rPr>
              <a:t>型號、料號。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按顯示全部可以顯示所有庫存</a:t>
            </a:r>
            <a:endParaRPr lang="en-US" altLang="zh-TW" sz="1800" dirty="0">
              <a:solidFill>
                <a:srgbClr val="002060"/>
              </a:solidFill>
            </a:endParaRPr>
          </a:p>
        </p:txBody>
      </p:sp>
      <p:sp>
        <p:nvSpPr>
          <p:cNvPr id="2" name="標題 2">
            <a:extLst>
              <a:ext uri="{FF2B5EF4-FFF2-40B4-BE49-F238E27FC236}">
                <a16:creationId xmlns:a16="http://schemas.microsoft.com/office/drawing/2014/main" id="{4289CD50-EC92-01C2-856A-A0B1D73CC3CA}"/>
              </a:ext>
            </a:extLst>
          </p:cNvPr>
          <p:cNvSpPr txBox="1">
            <a:spLocks/>
          </p:cNvSpPr>
          <p:nvPr/>
        </p:nvSpPr>
        <p:spPr>
          <a:xfrm>
            <a:off x="537039" y="546476"/>
            <a:ext cx="11162053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用來查詢庫存清單。</a:t>
            </a:r>
            <a:endParaRPr lang="en-US" altLang="zh-TW" sz="1800" dirty="0">
              <a:solidFill>
                <a:srgbClr val="002060"/>
              </a:solidFill>
            </a:endParaRPr>
          </a:p>
        </p:txBody>
      </p:sp>
      <p:pic>
        <p:nvPicPr>
          <p:cNvPr id="5" name="圖片 4" descr="The image shows a table with columns for 'Name', 'Item Code', 'Bin', and 'Stock', listing various items and their stock levels in a warehouse.&#10;&#10;AI 產生的內容可能不正確。">
            <a:extLst>
              <a:ext uri="{FF2B5EF4-FFF2-40B4-BE49-F238E27FC236}">
                <a16:creationId xmlns:a16="http://schemas.microsoft.com/office/drawing/2014/main" id="{92721348-8969-D585-4669-836EBA7139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892" y="3248533"/>
            <a:ext cx="11401425" cy="2828925"/>
          </a:xfrm>
          <a:prstGeom prst="rect">
            <a:avLst/>
          </a:prstGeom>
        </p:spPr>
      </p:pic>
      <p:grpSp>
        <p:nvGrpSpPr>
          <p:cNvPr id="6" name="群組 5">
            <a:extLst>
              <a:ext uri="{FF2B5EF4-FFF2-40B4-BE49-F238E27FC236}">
                <a16:creationId xmlns:a16="http://schemas.microsoft.com/office/drawing/2014/main" id="{CE215241-EEC4-8622-786C-235339509618}"/>
              </a:ext>
            </a:extLst>
          </p:cNvPr>
          <p:cNvGrpSpPr/>
          <p:nvPr/>
        </p:nvGrpSpPr>
        <p:grpSpPr>
          <a:xfrm>
            <a:off x="470683" y="3596088"/>
            <a:ext cx="5051228" cy="767921"/>
            <a:chOff x="7688062" y="4473437"/>
            <a:chExt cx="2041726" cy="711122"/>
          </a:xfrm>
        </p:grpSpPr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77569B9B-F6B6-65C1-8F27-66905B080C28}"/>
                </a:ext>
              </a:extLst>
            </p:cNvPr>
            <p:cNvSpPr/>
            <p:nvPr/>
          </p:nvSpPr>
          <p:spPr>
            <a:xfrm>
              <a:off x="7688062" y="4500979"/>
              <a:ext cx="2041726" cy="68358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400" b="1" dirty="0"/>
            </a:p>
          </p:txBody>
        </p:sp>
        <p:sp>
          <p:nvSpPr>
            <p:cNvPr id="9" name="文字方塊 8">
              <a:extLst>
                <a:ext uri="{FF2B5EF4-FFF2-40B4-BE49-F238E27FC236}">
                  <a16:creationId xmlns:a16="http://schemas.microsoft.com/office/drawing/2014/main" id="{682DB426-07CB-8C72-8DED-A2A98203AF8C}"/>
                </a:ext>
              </a:extLst>
            </p:cNvPr>
            <p:cNvSpPr txBox="1"/>
            <p:nvPr/>
          </p:nvSpPr>
          <p:spPr>
            <a:xfrm>
              <a:off x="9416882" y="4473437"/>
              <a:ext cx="233271" cy="3420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FF0000"/>
                  </a:solidFill>
                </a:rPr>
                <a:t>1</a:t>
              </a:r>
              <a:endParaRPr lang="zh-TW" altLang="en-US" b="1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0" name="群組 9">
            <a:extLst>
              <a:ext uri="{FF2B5EF4-FFF2-40B4-BE49-F238E27FC236}">
                <a16:creationId xmlns:a16="http://schemas.microsoft.com/office/drawing/2014/main" id="{32F369C7-05F9-7B5B-C9B5-94215FE304DB}"/>
              </a:ext>
            </a:extLst>
          </p:cNvPr>
          <p:cNvGrpSpPr/>
          <p:nvPr/>
        </p:nvGrpSpPr>
        <p:grpSpPr>
          <a:xfrm>
            <a:off x="5606267" y="3607905"/>
            <a:ext cx="1737383" cy="767921"/>
            <a:chOff x="7688062" y="4473437"/>
            <a:chExt cx="2108579" cy="711122"/>
          </a:xfrm>
        </p:grpSpPr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1DCEEAA0-3D59-C6F2-544B-468C29669FDD}"/>
                </a:ext>
              </a:extLst>
            </p:cNvPr>
            <p:cNvSpPr/>
            <p:nvPr/>
          </p:nvSpPr>
          <p:spPr>
            <a:xfrm>
              <a:off x="7688062" y="4500979"/>
              <a:ext cx="2041726" cy="68358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400" b="1" dirty="0"/>
            </a:p>
          </p:txBody>
        </p:sp>
        <p:sp>
          <p:nvSpPr>
            <p:cNvPr id="12" name="文字方塊 11">
              <a:extLst>
                <a:ext uri="{FF2B5EF4-FFF2-40B4-BE49-F238E27FC236}">
                  <a16:creationId xmlns:a16="http://schemas.microsoft.com/office/drawing/2014/main" id="{11951813-B9EF-D7FD-B2C3-510394065010}"/>
                </a:ext>
              </a:extLst>
            </p:cNvPr>
            <p:cNvSpPr txBox="1"/>
            <p:nvPr/>
          </p:nvSpPr>
          <p:spPr>
            <a:xfrm>
              <a:off x="9416882" y="4473437"/>
              <a:ext cx="379759" cy="3420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FF0000"/>
                  </a:solidFill>
                </a:rPr>
                <a:t>2</a:t>
              </a:r>
              <a:endParaRPr lang="zh-TW" altLang="en-US" b="1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483218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51442-6BD6-C6F0-1F69-EC6F14626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F0EA1FF4-D808-25AD-DB91-0D15317D4E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892" y="107816"/>
            <a:ext cx="11379200" cy="461659"/>
          </a:xfrm>
        </p:spPr>
        <p:txBody>
          <a:bodyPr>
            <a:noAutofit/>
          </a:bodyPr>
          <a:lstStyle/>
          <a:p>
            <a:r>
              <a:rPr lang="zh-TW" altLang="en-US" sz="2800" dirty="0"/>
              <a:t>低安全庫存監控 </a:t>
            </a:r>
            <a:r>
              <a:rPr lang="en-US" altLang="zh-TW" sz="2800" dirty="0"/>
              <a:t>(Low Safety Stock Monitoring)</a:t>
            </a:r>
          </a:p>
        </p:txBody>
      </p:sp>
      <p:sp>
        <p:nvSpPr>
          <p:cNvPr id="53" name="標題 2">
            <a:extLst>
              <a:ext uri="{FF2B5EF4-FFF2-40B4-BE49-F238E27FC236}">
                <a16:creationId xmlns:a16="http://schemas.microsoft.com/office/drawing/2014/main" id="{69CA39BF-1A32-AAD9-66FB-E7B28B423FD4}"/>
              </a:ext>
            </a:extLst>
          </p:cNvPr>
          <p:cNvSpPr txBox="1">
            <a:spLocks/>
          </p:cNvSpPr>
          <p:nvPr/>
        </p:nvSpPr>
        <p:spPr>
          <a:xfrm>
            <a:off x="217952" y="1200293"/>
            <a:ext cx="5511319" cy="46165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TW" sz="1800" dirty="0">
                <a:solidFill>
                  <a:srgbClr val="0000FF"/>
                </a:solidFill>
              </a:rPr>
              <a:t>1.</a:t>
            </a:r>
            <a:r>
              <a:rPr lang="zh-TW" altLang="en-US" sz="1800" dirty="0">
                <a:solidFill>
                  <a:srgbClr val="0000FF"/>
                </a:solidFill>
              </a:rPr>
              <a:t>低安全庫存警報</a:t>
            </a:r>
          </a:p>
        </p:txBody>
      </p:sp>
      <p:sp>
        <p:nvSpPr>
          <p:cNvPr id="22" name="標題 2">
            <a:extLst>
              <a:ext uri="{FF2B5EF4-FFF2-40B4-BE49-F238E27FC236}">
                <a16:creationId xmlns:a16="http://schemas.microsoft.com/office/drawing/2014/main" id="{883D75F4-F8CB-CCBB-9215-C21AF251BD35}"/>
              </a:ext>
            </a:extLst>
          </p:cNvPr>
          <p:cNvSpPr txBox="1">
            <a:spLocks/>
          </p:cNvSpPr>
          <p:nvPr/>
        </p:nvSpPr>
        <p:spPr>
          <a:xfrm>
            <a:off x="537039" y="1661952"/>
            <a:ext cx="9192749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領料後若剩餘庫存低於安全庫存則會發出警報。</a:t>
            </a:r>
            <a:endParaRPr lang="en-US" altLang="zh-TW" sz="1800" dirty="0">
              <a:solidFill>
                <a:srgbClr val="002060"/>
              </a:solidFill>
            </a:endParaRPr>
          </a:p>
        </p:txBody>
      </p:sp>
      <p:sp>
        <p:nvSpPr>
          <p:cNvPr id="35" name="標題 2">
            <a:extLst>
              <a:ext uri="{FF2B5EF4-FFF2-40B4-BE49-F238E27FC236}">
                <a16:creationId xmlns:a16="http://schemas.microsoft.com/office/drawing/2014/main" id="{414A5CC3-D0FF-379E-B150-99D2AAA1AA1B}"/>
              </a:ext>
            </a:extLst>
          </p:cNvPr>
          <p:cNvSpPr txBox="1">
            <a:spLocks/>
          </p:cNvSpPr>
          <p:nvPr/>
        </p:nvSpPr>
        <p:spPr>
          <a:xfrm>
            <a:off x="217952" y="2799753"/>
            <a:ext cx="5511319" cy="46165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TW" sz="1800" dirty="0">
                <a:solidFill>
                  <a:srgbClr val="0000FF"/>
                </a:solidFill>
              </a:rPr>
              <a:t>2.</a:t>
            </a:r>
            <a:r>
              <a:rPr lang="zh-TW" altLang="en-US" sz="1800" dirty="0">
                <a:solidFill>
                  <a:srgbClr val="0000FF"/>
                </a:solidFill>
              </a:rPr>
              <a:t>全廠低安全庫存看板</a:t>
            </a:r>
          </a:p>
        </p:txBody>
      </p:sp>
      <p:sp>
        <p:nvSpPr>
          <p:cNvPr id="43" name="標題 2">
            <a:extLst>
              <a:ext uri="{FF2B5EF4-FFF2-40B4-BE49-F238E27FC236}">
                <a16:creationId xmlns:a16="http://schemas.microsoft.com/office/drawing/2014/main" id="{BE249722-073E-AC22-8A27-BD6475EB42BE}"/>
              </a:ext>
            </a:extLst>
          </p:cNvPr>
          <p:cNvSpPr txBox="1">
            <a:spLocks/>
          </p:cNvSpPr>
          <p:nvPr/>
        </p:nvSpPr>
        <p:spPr>
          <a:xfrm>
            <a:off x="537039" y="3261412"/>
            <a:ext cx="9192749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打開可看到所有目前庫存低於安全庫存的物料。</a:t>
            </a:r>
            <a:endParaRPr lang="en-US" altLang="zh-TW" sz="1800" dirty="0">
              <a:solidFill>
                <a:srgbClr val="002060"/>
              </a:solidFill>
            </a:endParaRPr>
          </a:p>
        </p:txBody>
      </p:sp>
      <p:sp>
        <p:nvSpPr>
          <p:cNvPr id="2" name="標題 2">
            <a:extLst>
              <a:ext uri="{FF2B5EF4-FFF2-40B4-BE49-F238E27FC236}">
                <a16:creationId xmlns:a16="http://schemas.microsoft.com/office/drawing/2014/main" id="{95F584EF-6D8A-328D-8364-D6A254D4972F}"/>
              </a:ext>
            </a:extLst>
          </p:cNvPr>
          <p:cNvSpPr txBox="1">
            <a:spLocks/>
          </p:cNvSpPr>
          <p:nvPr/>
        </p:nvSpPr>
        <p:spPr>
          <a:xfrm>
            <a:off x="537039" y="546476"/>
            <a:ext cx="11162053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用以監控低於安全庫存的物料。</a:t>
            </a:r>
            <a:endParaRPr lang="en-US" altLang="zh-TW" sz="1800" dirty="0">
              <a:solidFill>
                <a:srgbClr val="002060"/>
              </a:solidFill>
            </a:endParaRPr>
          </a:p>
        </p:txBody>
      </p:sp>
      <p:pic>
        <p:nvPicPr>
          <p:cNvPr id="9" name="圖片 8" descr="The image shows a factory's low safety stock status table, listing item numbers, descriptions, specifications, and current and safe stock levels.&#10;&#10;AI 產生的內容可能不正確。">
            <a:extLst>
              <a:ext uri="{FF2B5EF4-FFF2-40B4-BE49-F238E27FC236}">
                <a16:creationId xmlns:a16="http://schemas.microsoft.com/office/drawing/2014/main" id="{EA2A33F6-98E9-8069-3FE3-ACF6559202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892" y="3958849"/>
            <a:ext cx="11391900" cy="2352675"/>
          </a:xfrm>
          <a:prstGeom prst="rect">
            <a:avLst/>
          </a:prstGeom>
        </p:spPr>
      </p:pic>
      <p:pic>
        <p:nvPicPr>
          <p:cNvPr id="11" name="圖片 10" descr="The image shows a red background with Chinese text indicating a factory's total stock has only 3 units left and reaching safe water levels, followed by an acknowledgment message.&#10;&#10;AI 產生的內容可能不正確。">
            <a:extLst>
              <a:ext uri="{FF2B5EF4-FFF2-40B4-BE49-F238E27FC236}">
                <a16:creationId xmlns:a16="http://schemas.microsoft.com/office/drawing/2014/main" id="{678C1D68-5705-E580-7E50-C78B3FDF7E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1519" y="1008135"/>
            <a:ext cx="3785494" cy="2520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05068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11D1C4D8-6F7D-765A-E97E-3A41CFF0E20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Making Things Smaller and Smarter</a:t>
            </a:r>
            <a:br>
              <a:rPr lang="en-US" altLang="zh-TW" dirty="0"/>
            </a:br>
            <a:r>
              <a:rPr lang="en-US" altLang="zh-TW" sz="3200" dirty="0">
                <a:solidFill>
                  <a:srgbClr val="0087DC"/>
                </a:solidFill>
              </a:rPr>
              <a:t>www.cyntec.com</a:t>
            </a:r>
            <a:r>
              <a:rPr lang="en-US" altLang="zh-TW" sz="3200" dirty="0"/>
              <a:t> 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210666819"/>
      </p:ext>
    </p:extLst>
  </p:cSld>
  <p:clrMapOvr>
    <a:masterClrMapping/>
  </p:clrMapOvr>
</p:sld>
</file>

<file path=ppt/theme/theme1.xml><?xml version="1.0" encoding="utf-8"?>
<a:theme xmlns:a="http://schemas.openxmlformats.org/drawingml/2006/main" name="1_Delta_PPTtemplate_16x9">
  <a:themeElements>
    <a:clrScheme name="自訂 2">
      <a:dk1>
        <a:sysClr val="windowText" lastClr="000000"/>
      </a:dk1>
      <a:lt1>
        <a:sysClr val="window" lastClr="FFFFFF"/>
      </a:lt1>
      <a:dk2>
        <a:srgbClr val="0087DC"/>
      </a:dk2>
      <a:lt2>
        <a:srgbClr val="FFFFFF"/>
      </a:lt2>
      <a:accent1>
        <a:srgbClr val="0087DC"/>
      </a:accent1>
      <a:accent2>
        <a:srgbClr val="64D7D7"/>
      </a:accent2>
      <a:accent3>
        <a:srgbClr val="B9EB5F"/>
      </a:accent3>
      <a:accent4>
        <a:srgbClr val="1E50C8"/>
      </a:accent4>
      <a:accent5>
        <a:srgbClr val="96E6BE"/>
      </a:accent5>
      <a:accent6>
        <a:srgbClr val="00BE50"/>
      </a:accent6>
      <a:hlink>
        <a:srgbClr val="0563C1"/>
      </a:hlink>
      <a:folHlink>
        <a:srgbClr val="BFBFBF"/>
      </a:folHlink>
    </a:clrScheme>
    <a:fontScheme name="自訂 3">
      <a:majorFont>
        <a:latin typeface="Arial"/>
        <a:ea typeface="Microsoft JhengHei"/>
        <a:cs typeface=""/>
      </a:majorFont>
      <a:minorFont>
        <a:latin typeface="Arial"/>
        <a:ea typeface="微軟正黑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 sz="1400" b="1"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Delta_PPTtemplate_16x9_EN" id="{AB7E8207-7EFD-42D6-915B-94A9E5ABAC21}" vid="{115B2ECF-35DF-4A82-A0C0-9889D580E896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675</TotalTime>
  <Words>773</Words>
  <Application>Microsoft Office PowerPoint</Application>
  <PresentationFormat>寬螢幕</PresentationFormat>
  <Paragraphs>95</Paragraphs>
  <Slides>10</Slides>
  <Notes>8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10</vt:i4>
      </vt:variant>
    </vt:vector>
  </HeadingPairs>
  <TitlesOfParts>
    <vt:vector size="15" baseType="lpstr">
      <vt:lpstr>微軟正黑體</vt:lpstr>
      <vt:lpstr>Arial</vt:lpstr>
      <vt:lpstr>Calibri</vt:lpstr>
      <vt:lpstr>Wingdings</vt:lpstr>
      <vt:lpstr>1_Delta_PPTtemplate_16x9</vt:lpstr>
      <vt:lpstr>備品管理系統</vt:lpstr>
      <vt:lpstr>系統架構與自動啟動 (System Start-up)</vt:lpstr>
      <vt:lpstr>使用者權限等級 (User Access Levels)</vt:lpstr>
      <vt:lpstr>領料作業(Outbound)</vt:lpstr>
      <vt:lpstr>入料作業(Inbound)</vt:lpstr>
      <vt:lpstr>物料主檔管理 (Material Master) - 限 Level 1 &amp; 2</vt:lpstr>
      <vt:lpstr>物料主檔管理 (Material Master) - 限 Level 1 &amp; 2</vt:lpstr>
      <vt:lpstr>庫存查詢看板 (Inventory Monitoring)</vt:lpstr>
      <vt:lpstr>低安全庫存監控 (Low Safety Stock Monitoring)</vt:lpstr>
      <vt:lpstr>Making Things Smaller and Smarter www.cyntec.com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熱壓機熱煤油外洩</dc:title>
  <dc:creator>HANK.HH.HSIEH 謝坤翰</dc:creator>
  <cp:lastModifiedBy>一軒 邱</cp:lastModifiedBy>
  <cp:revision>225</cp:revision>
  <dcterms:created xsi:type="dcterms:W3CDTF">2024-06-19T08:01:53Z</dcterms:created>
  <dcterms:modified xsi:type="dcterms:W3CDTF">2026-03-12T15:25:52Z</dcterms:modified>
</cp:coreProperties>
</file>