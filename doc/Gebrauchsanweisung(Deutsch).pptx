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2"/>
  </p:notesMasterIdLst>
  <p:sldIdLst>
    <p:sldId id="320" r:id="rId2"/>
    <p:sldId id="2147375043" r:id="rId3"/>
    <p:sldId id="2147375044" r:id="rId4"/>
    <p:sldId id="2147375045" r:id="rId5"/>
    <p:sldId id="2147375047" r:id="rId6"/>
    <p:sldId id="2147375046" r:id="rId7"/>
    <p:sldId id="2147375054" r:id="rId8"/>
    <p:sldId id="2147375048" r:id="rId9"/>
    <p:sldId id="2147375055" r:id="rId10"/>
    <p:sldId id="3019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28" autoAdjust="0"/>
    <p:restoredTop sz="94660"/>
  </p:normalViewPr>
  <p:slideViewPr>
    <p:cSldViewPr snapToGrid="0">
      <p:cViewPr varScale="1">
        <p:scale>
          <a:sx n="68" d="100"/>
          <a:sy n="68" d="100"/>
        </p:scale>
        <p:origin x="6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750767" cy="610317"/>
          </a:xfrm>
        </p:spPr>
        <p:txBody>
          <a:bodyPr/>
          <a:lstStyle/>
          <a:p>
            <a:r>
              <a:rPr lang="en-US" altLang="zh-TW" sz="18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Erstellt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von</a:t>
            </a:r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en-US" altLang="zh-TW" sz="1800" b="1" dirty="0" err="1"/>
              <a:t>Erstellungsdatum</a:t>
            </a:r>
            <a:r>
              <a:rPr lang="en-US" altLang="zh-TW" sz="1800" b="1" dirty="0"/>
              <a:t>: 12.03.2026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en-US" altLang="zh-TW" sz="3200" b="1" dirty="0" err="1">
                <a:ln w="0"/>
                <a:solidFill>
                  <a:schemeClr val="tx2"/>
                </a:solidFill>
                <a:latin typeface="+mj-ea"/>
              </a:rPr>
              <a:t>Teile</a:t>
            </a:r>
            <a:r>
              <a:rPr lang="en-US" altLang="zh-TW" sz="3200" b="1" dirty="0">
                <a:ln w="0"/>
                <a:solidFill>
                  <a:schemeClr val="tx2"/>
                </a:solidFill>
                <a:latin typeface="+mj-ea"/>
              </a:rPr>
              <a:t>-Management-System</a:t>
            </a:r>
            <a:endParaRPr lang="zh-TW" altLang="en-US" sz="3200" b="1" dirty="0">
              <a:ln w="0"/>
              <a:solidFill>
                <a:schemeClr val="tx2"/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Systemarchitektur</a:t>
            </a:r>
            <a:r>
              <a:rPr lang="en-US" altLang="zh-TW" sz="2800" dirty="0"/>
              <a:t> und </a:t>
            </a:r>
            <a:r>
              <a:rPr lang="en-US" altLang="zh-TW" sz="2800" dirty="0" err="1"/>
              <a:t>automatischer</a:t>
            </a:r>
            <a:r>
              <a:rPr lang="en-US" altLang="zh-TW" sz="2800" dirty="0"/>
              <a:t> Start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598710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</a:t>
            </a:r>
            <a:r>
              <a:rPr lang="en-US" altLang="zh-TW" sz="1800" dirty="0" err="1">
                <a:solidFill>
                  <a:srgbClr val="0000FF"/>
                </a:solidFill>
              </a:rPr>
              <a:t>Automatischer</a:t>
            </a:r>
            <a:r>
              <a:rPr lang="en-US" altLang="zh-TW" sz="1800" dirty="0">
                <a:solidFill>
                  <a:srgbClr val="0000FF"/>
                </a:solidFill>
              </a:rPr>
              <a:t> Start </a:t>
            </a:r>
            <a:r>
              <a:rPr lang="en-US" altLang="zh-TW" sz="1800" dirty="0" err="1">
                <a:solidFill>
                  <a:srgbClr val="0000FF"/>
                </a:solidFill>
              </a:rPr>
              <a:t>beim</a:t>
            </a:r>
            <a:r>
              <a:rPr lang="en-US" altLang="zh-TW" sz="1800" dirty="0">
                <a:solidFill>
                  <a:srgbClr val="0000FF"/>
                </a:solidFill>
              </a:rPr>
              <a:t> </a:t>
            </a:r>
            <a:r>
              <a:rPr lang="en-US" altLang="zh-TW" sz="1800" dirty="0" err="1">
                <a:solidFill>
                  <a:srgbClr val="0000FF"/>
                </a:solidFill>
              </a:rPr>
              <a:t>Systemhochlauf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2060369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Das Backend-Programm ist in der Windows-Autostartliste registriert. Sobald Sie sich bei Windows anmelden, wird das System automatisch im Hintergrund ausgeführt und muss nicht manuell gestartet werden.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3198170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 System-Tray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659829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In der unteren rechten Ecke des Bildschirms erscheint ein „Schild-Symbol“.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Grünes/normales Symbol: Bedeutet, dass der Dienst ausgeführt wird.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Rechtsklick-Funktionen: Bietet „Open Logs“ (Protokolle anzeigen) und „Exit Server“ (Server beenden.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Achtung: Bitte beenden Sie den Server nur zu Wartungszwecken, da sonst die Verbindung zu allen Materialausgabe-Clients im Werk unterbrochen wird.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Das System ist in ein „Backend (API Server)“ und ein „Frontend (Client)“ unterteilt. Um einen unterbrechungsfreien Betrieb zu gewährleisten, ist das Backend auf automatische Verwaltung eingestellt.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697" y="4281416"/>
            <a:ext cx="2564351" cy="195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Benutzerzugriffsebenen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Das System unterscheidet vier Berechtigungsstufen, um die Datensicherheit zu gewährleisten und die Benutzeroberfläche übersichtlich zu halten. Je kleiner die Zahl, desto höher die Berechtigung.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637140"/>
              </p:ext>
            </p:extLst>
          </p:nvPr>
        </p:nvGraphicFramePr>
        <p:xfrm>
          <a:off x="1297352" y="1729344"/>
          <a:ext cx="9797996" cy="268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354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4522434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223208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Stufe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Berechtigung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Sichtbare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Funktionen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Höchste Berechtigung, Verwaltung von Benutzerkonten möglich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Alle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Schaltflächen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inkl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Benutzerverwaltung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Anlegen und Ändern von Materialstämmen und Spezifikationen möglich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Alle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Schaltflächen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außer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600" dirty="0" err="1">
                          <a:solidFill>
                            <a:schemeClr val="tx1"/>
                          </a:solidFill>
                        </a:rPr>
                        <a:t>Benutzerverwaltung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Durchführung von täglichen Ein- und Auslagerungen, Abfragen, Alarmüberwachung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Wareneingang, Bestandsabfrage, Dashboard für niedrigen Sicherheitsbestand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Beschränkt auf die Ausführung von „Auslagerung bestätigen“ im Hauptbildschirm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altLang="zh-TW" sz="1600" dirty="0">
                          <a:solidFill>
                            <a:schemeClr val="tx1"/>
                          </a:solidFill>
                        </a:rPr>
                        <a:t>Keine Schaltflächen oben, verhindert versehentliche Änderungen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Materialausgabe</a:t>
            </a:r>
            <a:r>
              <a:rPr lang="en-US" altLang="zh-TW" sz="2800" dirty="0"/>
              <a:t> - Outbound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Outbound- Auf dem </a:t>
            </a:r>
            <a:r>
              <a:rPr lang="en-US" altLang="zh-TW" sz="1800" dirty="0" err="1">
                <a:solidFill>
                  <a:srgbClr val="0000FF"/>
                </a:solidFill>
              </a:rPr>
              <a:t>Hauptbildschirm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40" y="951733"/>
            <a:ext cx="7630188" cy="300752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Lager bestätigen: Wählen Sie das aktuelle Betriebslager aus der Liste Lager (z.B. 0001 - Main Warehourse).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 Barcode scannen: Scannen Sie das Teileetikett bei „Bitte Barcode scannen:“. Das System zeigt automatisch Materialname (Material) und Spezifikation (Spezif.) an.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Menge eingeben: Geben Sie die Ausgabemenge ein (nur positive ganze Zahlen, keine Dezimalstellen).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Buchen: Klicken Sie auf Bestätigen. Wenn der Bestand unzureichend ist, gibt das System eine rote Warnung aus.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1719367A-18EA-8844-D226-16E46586DAE9}"/>
              </a:ext>
            </a:extLst>
          </p:cNvPr>
          <p:cNvGrpSpPr/>
          <p:nvPr/>
        </p:nvGrpSpPr>
        <p:grpSpPr>
          <a:xfrm>
            <a:off x="8035253" y="1772238"/>
            <a:ext cx="4024772" cy="4826524"/>
            <a:chOff x="7473791" y="1044239"/>
            <a:chExt cx="4395437" cy="5591973"/>
          </a:xfrm>
        </p:grpSpPr>
        <p:pic>
          <p:nvPicPr>
            <p:cNvPr id="20" name="圖片 19" descr="The image depicts a user interface for a material management system, featuring a barcode scanning option and fields for inputting material and warehouse details.&#10;&#10;AI 產生的內容可能不正確。">
              <a:extLst>
                <a:ext uri="{FF2B5EF4-FFF2-40B4-BE49-F238E27FC236}">
                  <a16:creationId xmlns:a16="http://schemas.microsoft.com/office/drawing/2014/main" id="{447B94E1-E72F-4F79-F20A-D948060CD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73791" y="1044239"/>
              <a:ext cx="4395437" cy="5591973"/>
            </a:xfrm>
            <a:prstGeom prst="rect">
              <a:avLst/>
            </a:prstGeom>
          </p:spPr>
        </p:pic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ED82624A-D240-6BA7-3DA2-E649A1EE39A9}"/>
                </a:ext>
              </a:extLst>
            </p:cNvPr>
            <p:cNvGrpSpPr/>
            <p:nvPr/>
          </p:nvGrpSpPr>
          <p:grpSpPr>
            <a:xfrm>
              <a:off x="7688062" y="4509844"/>
              <a:ext cx="2041726" cy="711122"/>
              <a:chOff x="7688062" y="4473437"/>
              <a:chExt cx="2041726" cy="711122"/>
            </a:xfrm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4853B3-4A0B-D1E9-4A9E-69268A099F75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1B59EB3-AAB4-E599-98F0-4628ABD85063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1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BC8C01B9-4FF7-A92A-6943-80EDE9B6F5D5}"/>
                </a:ext>
              </a:extLst>
            </p:cNvPr>
            <p:cNvGrpSpPr/>
            <p:nvPr/>
          </p:nvGrpSpPr>
          <p:grpSpPr>
            <a:xfrm>
              <a:off x="7688061" y="1957524"/>
              <a:ext cx="3966899" cy="776798"/>
              <a:chOff x="7688062" y="4473437"/>
              <a:chExt cx="2041726" cy="711122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D37D1D0-80AE-8C57-F056-9A519905FE70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2441240-24AB-27E4-47F9-43ED299FC395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161050" cy="338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2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6EA42510-212B-274F-755E-38FA79AE903D}"/>
                </a:ext>
              </a:extLst>
            </p:cNvPr>
            <p:cNvGrpSpPr/>
            <p:nvPr/>
          </p:nvGrpSpPr>
          <p:grpSpPr>
            <a:xfrm>
              <a:off x="7600062" y="5414816"/>
              <a:ext cx="1350980" cy="572059"/>
              <a:chOff x="7688062" y="4473437"/>
              <a:chExt cx="2157670" cy="711122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DA965560-C7C7-9585-7FBC-E06DE0AFB096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78810F1-1CDD-F8DA-E710-C97593A0A459}"/>
                  </a:ext>
                </a:extLst>
              </p:cNvPr>
              <p:cNvSpPr txBox="1"/>
              <p:nvPr/>
            </p:nvSpPr>
            <p:spPr>
              <a:xfrm>
                <a:off x="9345985" y="4473437"/>
                <a:ext cx="499747" cy="459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3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FDCFE1A3-C1C8-5A13-9CAB-146981AE3BEC}"/>
                </a:ext>
              </a:extLst>
            </p:cNvPr>
            <p:cNvGrpSpPr/>
            <p:nvPr/>
          </p:nvGrpSpPr>
          <p:grpSpPr>
            <a:xfrm>
              <a:off x="8951042" y="5320858"/>
              <a:ext cx="2615920" cy="711122"/>
              <a:chOff x="7688062" y="4473437"/>
              <a:chExt cx="2041726" cy="711122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563ADC-55FF-6A88-D29F-4410330F44F0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4BBA4A6-ACB7-F2E8-2CE9-5B0BE5BE6260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244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4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Wareneingang</a:t>
            </a:r>
            <a:r>
              <a:rPr lang="en-US" altLang="zh-TW" sz="2800" dirty="0"/>
              <a:t> - Inbound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Inbound- Auf dem </a:t>
            </a:r>
            <a:r>
              <a:rPr lang="en-US" altLang="zh-TW" sz="1800" dirty="0" err="1">
                <a:solidFill>
                  <a:srgbClr val="0000FF"/>
                </a:solidFill>
              </a:rPr>
              <a:t>Hauptbildschirm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Material identifizieren: Scannen Sie den Barcode bei „Bitte Barcode scannen:“ oder klicken Sie auf Manuell, um die Teilenummer manuell einzugeben.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Wenn die Teilenummer vorhanden ist, werden auf der rechten Seite Name (Material) und Spezifikation (Spezif.) angezeigt.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Menge und Ort: Geben Sie die Eingangsmenge bei Eingangsmenge ein und wählen Sie das Ziellager bei Ziel-Lager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DD19EFCE-1DEF-9BDE-5BC2-919603572E53}"/>
              </a:ext>
            </a:extLst>
          </p:cNvPr>
          <p:cNvGrpSpPr/>
          <p:nvPr/>
        </p:nvGrpSpPr>
        <p:grpSpPr>
          <a:xfrm>
            <a:off x="4600279" y="2630079"/>
            <a:ext cx="7199527" cy="4046958"/>
            <a:chOff x="3826078" y="1863997"/>
            <a:chExt cx="7690926" cy="4314862"/>
          </a:xfrm>
        </p:grpSpPr>
        <p:pic>
          <p:nvPicPr>
            <p:cNvPr id="16" name="圖片 15" descr="The image depicts a Material Management System interface where a barcode is being scanned for a single unit of material, and the system is ready to confirm the input.&#10;&#10;AI 產生的內容可能不正確。">
              <a:extLst>
                <a:ext uri="{FF2B5EF4-FFF2-40B4-BE49-F238E27FC236}">
                  <a16:creationId xmlns:a16="http://schemas.microsoft.com/office/drawing/2014/main" id="{6D53D0C6-9FB8-8417-A570-3E38AF844F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26078" y="1863997"/>
              <a:ext cx="7690926" cy="4314862"/>
            </a:xfrm>
            <a:prstGeom prst="rect">
              <a:avLst/>
            </a:prstGeom>
          </p:spPr>
        </p:pic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18CCAED2-FC76-443A-940E-27B945065488}"/>
                </a:ext>
              </a:extLst>
            </p:cNvPr>
            <p:cNvGrpSpPr/>
            <p:nvPr/>
          </p:nvGrpSpPr>
          <p:grpSpPr>
            <a:xfrm>
              <a:off x="4026043" y="2445796"/>
              <a:ext cx="2738742" cy="767921"/>
              <a:chOff x="7688062" y="4473437"/>
              <a:chExt cx="2041726" cy="711122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0C63CC1-0284-CB6D-84AB-CBB090B6BFFE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BCFC81B-4125-5B00-AD69-963DF50334C8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233271" cy="3420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1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54F530B8-F902-3C84-51A8-E343669AF4AD}"/>
                </a:ext>
              </a:extLst>
            </p:cNvPr>
            <p:cNvGrpSpPr/>
            <p:nvPr/>
          </p:nvGrpSpPr>
          <p:grpSpPr>
            <a:xfrm>
              <a:off x="6946427" y="2475538"/>
              <a:ext cx="4266069" cy="1989930"/>
              <a:chOff x="7688062" y="4473437"/>
              <a:chExt cx="2041726" cy="711122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147416EC-75B8-1728-3B0C-D04474887F28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E88D29E-5159-46D1-3CE0-403F8B5DABA5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161050" cy="338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2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AAFE4B19-7D5C-23D6-CB6F-BD7D98CC17AF}"/>
                </a:ext>
              </a:extLst>
            </p:cNvPr>
            <p:cNvGrpSpPr/>
            <p:nvPr/>
          </p:nvGrpSpPr>
          <p:grpSpPr>
            <a:xfrm>
              <a:off x="3965287" y="3260323"/>
              <a:ext cx="2847276" cy="942852"/>
              <a:chOff x="7688062" y="4473437"/>
              <a:chExt cx="2041726" cy="71112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1829718A-B5BD-AE3D-5E93-AF8B1025F04C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35067886-8CB5-5ECD-DCFD-FC2D746DE721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224379" cy="2785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3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Materialstammverwaltung</a:t>
            </a:r>
            <a:r>
              <a:rPr lang="en-US" altLang="zh-TW" sz="2800" dirty="0"/>
              <a:t>- </a:t>
            </a:r>
            <a:r>
              <a:rPr lang="zh-TW" altLang="en-US" sz="2800" dirty="0"/>
              <a:t>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Material </a:t>
            </a:r>
            <a:r>
              <a:rPr lang="en-US" altLang="zh-TW" sz="1800" dirty="0" err="1">
                <a:solidFill>
                  <a:srgbClr val="0000FF"/>
                </a:solidFill>
              </a:rPr>
              <a:t>anlegen</a:t>
            </a:r>
            <a:r>
              <a:rPr lang="en-US" altLang="zh-TW" sz="1800" dirty="0">
                <a:solidFill>
                  <a:srgbClr val="0000FF"/>
                </a:solidFill>
              </a:rPr>
              <a:t> / </a:t>
            </a:r>
            <a:r>
              <a:rPr lang="en-US" altLang="zh-TW" sz="1800" dirty="0" err="1">
                <a:solidFill>
                  <a:srgbClr val="0000FF"/>
                </a:solidFill>
              </a:rPr>
              <a:t>bearbeiten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40" y="1661951"/>
            <a:ext cx="6042870" cy="306087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Teilenummer: Eindeutige Kennung, nach dem Speichern nicht mehr änderbar.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altLang="zh-TW" sz="1800" dirty="0">
                <a:solidFill>
                  <a:srgbClr val="002060"/>
                </a:solidFill>
              </a:rPr>
              <a:t>Name: </a:t>
            </a:r>
            <a:r>
              <a:rPr lang="en-US" altLang="zh-TW" sz="1800" dirty="0" err="1">
                <a:solidFill>
                  <a:srgbClr val="002060"/>
                </a:solidFill>
              </a:rPr>
              <a:t>Benutzerdefinierter</a:t>
            </a:r>
            <a:r>
              <a:rPr lang="en-US" altLang="zh-TW" sz="1800" dirty="0">
                <a:solidFill>
                  <a:srgbClr val="002060"/>
                </a:solidFill>
              </a:rPr>
              <a:t> Name.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altLang="zh-TW" sz="1800" dirty="0" err="1">
                <a:solidFill>
                  <a:srgbClr val="002060"/>
                </a:solidFill>
              </a:rPr>
              <a:t>Spezifikation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en-US" altLang="zh-TW" sz="1800" dirty="0" err="1">
                <a:solidFill>
                  <a:srgbClr val="002060"/>
                </a:solidFill>
              </a:rPr>
              <a:t>Benutzerdefinierte</a:t>
            </a:r>
            <a:r>
              <a:rPr lang="en-US" altLang="zh-TW" sz="1800" dirty="0">
                <a:solidFill>
                  <a:srgbClr val="002060"/>
                </a:solidFill>
              </a:rPr>
              <a:t> </a:t>
            </a:r>
            <a:r>
              <a:rPr lang="en-US" altLang="zh-TW" sz="1800" dirty="0" err="1">
                <a:solidFill>
                  <a:srgbClr val="002060"/>
                </a:solidFill>
              </a:rPr>
              <a:t>Beschreibung</a:t>
            </a:r>
            <a:r>
              <a:rPr lang="en-US" altLang="zh-TW" sz="1800" dirty="0">
                <a:solidFill>
                  <a:srgbClr val="002060"/>
                </a:solidFill>
              </a:rPr>
              <a:t>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Sicherheitsbestand: Festlegen der Mindest-Sicherheitsmenge für dieses Teil.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Lieferzeit (Tage): Festlegen der benötigten Tage für die Wiederbeschaffung.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Station: Zugehörige Station des Teils, optional.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Erstellen oder Bearbeiten von grundlegenden Teileinformationen.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pic>
        <p:nvPicPr>
          <p:cNvPr id="18" name="圖片 17" descr="The image shows a form or document interface with fields for Name, Specification, Security, and Delivery Time, along with buttons for saving and canceling.&#10;&#10;AI 產生的內容可能不正確。">
            <a:extLst>
              <a:ext uri="{FF2B5EF4-FFF2-40B4-BE49-F238E27FC236}">
                <a16:creationId xmlns:a16="http://schemas.microsoft.com/office/drawing/2014/main" id="{9B8811BA-2EA6-1756-0F73-506525E07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910" y="1661951"/>
            <a:ext cx="5201836" cy="452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Materialstammverwaltung</a:t>
            </a:r>
            <a:r>
              <a:rPr lang="en-US" altLang="zh-TW" sz="2800" dirty="0"/>
              <a:t>- </a:t>
            </a:r>
            <a:r>
              <a:rPr lang="zh-TW" altLang="en-US" sz="2800" dirty="0"/>
              <a:t>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</a:t>
            </a:r>
            <a:r>
              <a:rPr lang="en-US" altLang="zh-TW" sz="1800" dirty="0" err="1">
                <a:solidFill>
                  <a:srgbClr val="0000FF"/>
                </a:solidFill>
              </a:rPr>
              <a:t>Bearbeiten</a:t>
            </a:r>
            <a:r>
              <a:rPr lang="zh-TW" altLang="en-US" sz="1800" dirty="0">
                <a:solidFill>
                  <a:srgbClr val="0000FF"/>
                </a:solidFill>
              </a:rPr>
              <a:t> 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 </a:t>
            </a:r>
            <a:r>
              <a:rPr lang="en-US" altLang="zh-TW" sz="1800" dirty="0" err="1">
                <a:solidFill>
                  <a:srgbClr val="0000FF"/>
                </a:solidFill>
              </a:rPr>
              <a:t>Löschen</a:t>
            </a:r>
            <a:r>
              <a:rPr lang="en-US" altLang="zh-TW" sz="1800" dirty="0">
                <a:solidFill>
                  <a:srgbClr val="0000FF"/>
                </a:solidFill>
              </a:rPr>
              <a:t> 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Grundlegende Teileinformationen bearbeiten oder löschen. Klicken Sie in der Bestandsabfrage mit der rechten Maustaste auf das Material, um das Menü aufzurufen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pic>
        <p:nvPicPr>
          <p:cNvPr id="13" name="圖片 12" descr="The image shows a user interface displaying an edit mode for a material document, with fields for part number, name, specifications, delivery time, and a save/cancel option.&#10;&#10;AI 產生的內容可能不正確。">
            <a:extLst>
              <a:ext uri="{FF2B5EF4-FFF2-40B4-BE49-F238E27FC236}">
                <a16:creationId xmlns:a16="http://schemas.microsoft.com/office/drawing/2014/main" id="{33ABDDF5-328C-09B5-84BD-B11995E41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085" y="1552265"/>
            <a:ext cx="5499094" cy="4864299"/>
          </a:xfrm>
          <a:prstGeom prst="rect">
            <a:avLst/>
          </a:prstGeom>
        </p:spPr>
      </p:pic>
      <p:pic>
        <p:nvPicPr>
          <p:cNvPr id="15" name="圖片 14" descr="0.2-4mm&#10;&#10;AI 產生的內容可能不正確。">
            <a:extLst>
              <a:ext uri="{FF2B5EF4-FFF2-40B4-BE49-F238E27FC236}">
                <a16:creationId xmlns:a16="http://schemas.microsoft.com/office/drawing/2014/main" id="{12AF0D11-F4B1-82F6-1BD4-F83EF7F9D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691" y="4006392"/>
            <a:ext cx="4467225" cy="2664693"/>
          </a:xfrm>
          <a:prstGeom prst="rect">
            <a:avLst/>
          </a:prstGeom>
        </p:spPr>
      </p:pic>
      <p:sp>
        <p:nvSpPr>
          <p:cNvPr id="4" name="標題 2">
            <a:extLst>
              <a:ext uri="{FF2B5EF4-FFF2-40B4-BE49-F238E27FC236}">
                <a16:creationId xmlns:a16="http://schemas.microsoft.com/office/drawing/2014/main" id="{717E2581-D148-50A2-AAF7-3F8BC17A4D7F}"/>
              </a:ext>
            </a:extLst>
          </p:cNvPr>
          <p:cNvSpPr txBox="1">
            <a:spLocks/>
          </p:cNvSpPr>
          <p:nvPr/>
        </p:nvSpPr>
        <p:spPr>
          <a:xfrm>
            <a:off x="537039" y="1645933"/>
            <a:ext cx="6042870" cy="306087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Teilenummer: Eindeutige Kennung, nach dem Speichern nicht mehr änderbar.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altLang="zh-TW" sz="1800" dirty="0">
                <a:solidFill>
                  <a:srgbClr val="002060"/>
                </a:solidFill>
              </a:rPr>
              <a:t>Name: </a:t>
            </a:r>
            <a:r>
              <a:rPr lang="en-US" altLang="zh-TW" sz="1800" dirty="0" err="1">
                <a:solidFill>
                  <a:srgbClr val="002060"/>
                </a:solidFill>
              </a:rPr>
              <a:t>Benutzerdefinierter</a:t>
            </a:r>
            <a:r>
              <a:rPr lang="en-US" altLang="zh-TW" sz="1800" dirty="0">
                <a:solidFill>
                  <a:srgbClr val="002060"/>
                </a:solidFill>
              </a:rPr>
              <a:t> Name.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altLang="zh-TW" sz="1800" dirty="0" err="1">
                <a:solidFill>
                  <a:srgbClr val="002060"/>
                </a:solidFill>
              </a:rPr>
              <a:t>Spezifikation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en-US" altLang="zh-TW" sz="1800" dirty="0" err="1">
                <a:solidFill>
                  <a:srgbClr val="002060"/>
                </a:solidFill>
              </a:rPr>
              <a:t>Benutzerdefinierte</a:t>
            </a:r>
            <a:r>
              <a:rPr lang="en-US" altLang="zh-TW" sz="1800" dirty="0">
                <a:solidFill>
                  <a:srgbClr val="002060"/>
                </a:solidFill>
              </a:rPr>
              <a:t> </a:t>
            </a:r>
            <a:r>
              <a:rPr lang="en-US" altLang="zh-TW" sz="1800" dirty="0" err="1">
                <a:solidFill>
                  <a:srgbClr val="002060"/>
                </a:solidFill>
              </a:rPr>
              <a:t>Beschreibung</a:t>
            </a:r>
            <a:r>
              <a:rPr lang="en-US" altLang="zh-TW" sz="1800" dirty="0">
                <a:solidFill>
                  <a:srgbClr val="002060"/>
                </a:solidFill>
              </a:rPr>
              <a:t>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Sicherheitsbestand: Festlegen der Mindest-Sicherheitsmenge für dieses Teil.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Lieferzeit (Tage): Festlegen der benötigten Tage für die Wiederbeschaffung.</a:t>
            </a:r>
          </a:p>
          <a:p>
            <a:pPr marL="342900" indent="-342900" algn="l">
              <a:buFont typeface="+mj-lt"/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Station: Zugehörige Station des Teils, optional.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Bestandsabfrage</a:t>
            </a:r>
            <a:endParaRPr lang="en-US" altLang="zh-TW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</a:t>
            </a:r>
            <a:r>
              <a:rPr lang="en-US" altLang="zh-TW" sz="1800" dirty="0" err="1">
                <a:solidFill>
                  <a:srgbClr val="0000FF"/>
                </a:solidFill>
              </a:rPr>
              <a:t>Bestandsabfrage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Geben Sie ein Schlüsselwort bei Stichwortsuche: ein und klicken Sie auf Suche, um nach Materialname, Spezifikation oder Teilenummer zu suchen.</a:t>
            </a:r>
          </a:p>
          <a:p>
            <a:pPr marL="342900" indent="-342900" algn="l">
              <a:buAutoNum type="arabicPeriod"/>
            </a:pPr>
            <a:r>
              <a:rPr lang="de-DE" altLang="zh-TW" sz="1800" dirty="0">
                <a:solidFill>
                  <a:srgbClr val="002060"/>
                </a:solidFill>
              </a:rPr>
              <a:t>Klicken Sie auf Alle anzeigen, um den gesamten Bestand aufzulisten.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Wird verwendet, um die Bestandsliste abzufragen.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E791F2BF-391C-54F0-C406-EDDD93D95901}"/>
              </a:ext>
            </a:extLst>
          </p:cNvPr>
          <p:cNvGrpSpPr/>
          <p:nvPr/>
        </p:nvGrpSpPr>
        <p:grpSpPr>
          <a:xfrm>
            <a:off x="351416" y="3169067"/>
            <a:ext cx="11535784" cy="2413518"/>
            <a:chOff x="351416" y="3169067"/>
            <a:chExt cx="11535784" cy="2413518"/>
          </a:xfrm>
        </p:grpSpPr>
        <p:pic>
          <p:nvPicPr>
            <p:cNvPr id="14" name="圖片 13" descr="The image displays a database table or grid with columns for various attributes such as 'Bestandsabfrage,' 'Materialname,' 'Spezifikation,' and 'Lager,' listing items like 'Schutzleiterreihenklemme' and their specifications.&#10;&#10;AI 產生的內容可能不正確。">
              <a:extLst>
                <a:ext uri="{FF2B5EF4-FFF2-40B4-BE49-F238E27FC236}">
                  <a16:creationId xmlns:a16="http://schemas.microsoft.com/office/drawing/2014/main" id="{B8D87AB1-11B8-F43B-2E25-8F88FA4EA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416" y="3169067"/>
              <a:ext cx="11535784" cy="2413518"/>
            </a:xfrm>
            <a:prstGeom prst="rect">
              <a:avLst/>
            </a:prstGeom>
          </p:spPr>
        </p:pic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CE215241-EEC4-8622-786C-235339509618}"/>
                </a:ext>
              </a:extLst>
            </p:cNvPr>
            <p:cNvGrpSpPr/>
            <p:nvPr/>
          </p:nvGrpSpPr>
          <p:grpSpPr>
            <a:xfrm>
              <a:off x="470683" y="3596088"/>
              <a:ext cx="5051228" cy="767921"/>
              <a:chOff x="7688062" y="4473437"/>
              <a:chExt cx="2041726" cy="711122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7569B9B-F6B6-65C1-8F27-66905B080C28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82DB426-07CB-8C72-8DED-A2A98203AF8C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233271" cy="3420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1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32F369C7-05F9-7B5B-C9B5-94215FE304DB}"/>
                </a:ext>
              </a:extLst>
            </p:cNvPr>
            <p:cNvGrpSpPr/>
            <p:nvPr/>
          </p:nvGrpSpPr>
          <p:grpSpPr>
            <a:xfrm>
              <a:off x="5606267" y="3607905"/>
              <a:ext cx="1737383" cy="767921"/>
              <a:chOff x="7688062" y="4473437"/>
              <a:chExt cx="2108579" cy="711122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1DCEEAA0-3D59-C6F2-544B-468C29669FDD}"/>
                  </a:ext>
                </a:extLst>
              </p:cNvPr>
              <p:cNvSpPr/>
              <p:nvPr/>
            </p:nvSpPr>
            <p:spPr>
              <a:xfrm>
                <a:off x="7688062" y="4500979"/>
                <a:ext cx="2041726" cy="68358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400" b="1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1951813-B9EF-D7FD-B2C3-510394065010}"/>
                  </a:ext>
                </a:extLst>
              </p:cNvPr>
              <p:cNvSpPr txBox="1"/>
              <p:nvPr/>
            </p:nvSpPr>
            <p:spPr>
              <a:xfrm>
                <a:off x="9416882" y="4473437"/>
                <a:ext cx="379759" cy="3420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b="1" dirty="0">
                    <a:solidFill>
                      <a:srgbClr val="FF0000"/>
                    </a:solidFill>
                  </a:rPr>
                  <a:t>2</a:t>
                </a:r>
                <a:endParaRPr lang="zh-TW" altLang="en-US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en-US" altLang="zh-TW" sz="2800" dirty="0" err="1"/>
              <a:t>Überwachung</a:t>
            </a:r>
            <a:r>
              <a:rPr lang="en-US" altLang="zh-TW" sz="2800" dirty="0"/>
              <a:t> des </a:t>
            </a:r>
            <a:r>
              <a:rPr lang="en-US" altLang="zh-TW" sz="2800" dirty="0" err="1"/>
              <a:t>niedrigen</a:t>
            </a:r>
            <a:r>
              <a:rPr lang="en-US" altLang="zh-TW" sz="2800" dirty="0"/>
              <a:t> </a:t>
            </a:r>
            <a:r>
              <a:rPr lang="en-US" altLang="zh-TW" sz="2800" dirty="0" err="1"/>
              <a:t>Sicherheitsbestands</a:t>
            </a:r>
            <a:endParaRPr lang="en-US" altLang="zh-TW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 Alarm für </a:t>
            </a:r>
            <a:r>
              <a:rPr lang="en-US" altLang="zh-TW" sz="1800" dirty="0" err="1">
                <a:solidFill>
                  <a:srgbClr val="0000FF"/>
                </a:solidFill>
              </a:rPr>
              <a:t>niedrigen</a:t>
            </a:r>
            <a:r>
              <a:rPr lang="en-US" altLang="zh-TW" sz="1800" dirty="0">
                <a:solidFill>
                  <a:srgbClr val="0000FF"/>
                </a:solidFill>
              </a:rPr>
              <a:t> </a:t>
            </a:r>
            <a:r>
              <a:rPr lang="en-US" altLang="zh-TW" sz="1800" dirty="0" err="1">
                <a:solidFill>
                  <a:srgbClr val="0000FF"/>
                </a:solidFill>
              </a:rPr>
              <a:t>Sicherheitsbestand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1"/>
            <a:ext cx="6712173" cy="1137801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Wenn der verbleibende Bestand nach einer Materialausgabe unter den Sicherheitsbestand fällt, wird ein roter Warnhinweis (Alarm) auf dem Bildschirm ausgegeben. Klicken Sie zur Bestätigung auf Bestätigen.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 </a:t>
            </a:r>
            <a:r>
              <a:rPr lang="en-US" altLang="zh-TW" sz="1800" dirty="0" err="1">
                <a:solidFill>
                  <a:srgbClr val="0000FF"/>
                </a:solidFill>
              </a:rPr>
              <a:t>Werks</a:t>
            </a:r>
            <a:r>
              <a:rPr lang="en-US" altLang="zh-TW" sz="1800" dirty="0">
                <a:solidFill>
                  <a:srgbClr val="0000FF"/>
                </a:solidFill>
              </a:rPr>
              <a:t>-</a:t>
            </a:r>
            <a:r>
              <a:rPr lang="en-US" altLang="zh-TW" sz="1800" dirty="0" err="1">
                <a:solidFill>
                  <a:srgbClr val="0000FF"/>
                </a:solidFill>
              </a:rPr>
              <a:t>Sicherheitsbestand</a:t>
            </a:r>
            <a:r>
              <a:rPr lang="en-US" altLang="zh-TW" sz="1800" dirty="0">
                <a:solidFill>
                  <a:srgbClr val="0000FF"/>
                </a:solidFill>
              </a:rPr>
              <a:t>-Dashboard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671217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Öffnen Sie dieses Dashboard, um alle Materialien zu sehen, deren aktueller Bestand (Bestand) unter dem Sicherheitsbestand (Sicherheitsbestand) liegt.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de-DE" altLang="zh-TW" sz="1800" dirty="0">
                <a:solidFill>
                  <a:srgbClr val="002060"/>
                </a:solidFill>
              </a:rPr>
              <a:t>Dient zur Überwachung von Materialien, deren Bestand unter den Sicherheitsbestand gefallen ist.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13" name="圖片 12" descr="The stock in the warehouse is only 2 units, and the safety level (5) has been reached, please notify purchasing.&#10;&#10;AI 產生的內容可能不正確。">
            <a:extLst>
              <a:ext uri="{FF2B5EF4-FFF2-40B4-BE49-F238E27FC236}">
                <a16:creationId xmlns:a16="http://schemas.microsoft.com/office/drawing/2014/main" id="{5D48B64B-2920-1F8E-3BE7-760800C9B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167" y="1031134"/>
            <a:ext cx="3989539" cy="2659693"/>
          </a:xfrm>
          <a:prstGeom prst="rect">
            <a:avLst/>
          </a:prstGeom>
        </p:spPr>
      </p:pic>
      <p:pic>
        <p:nvPicPr>
          <p:cNvPr id="15" name="圖片 14" descr="The image is a dashboard interface showing a table with columns for Teilenummer (Part Number), Materialname (Material Name), Spezifikation (Specification), Bestand (Inventory), and Sicherheitsbestand (Safety Stock), with an entry for part number 2000-001-3637.A and material code M.&#10;&#10;AI 產生的內容可能不正確。">
            <a:extLst>
              <a:ext uri="{FF2B5EF4-FFF2-40B4-BE49-F238E27FC236}">
                <a16:creationId xmlns:a16="http://schemas.microsoft.com/office/drawing/2014/main" id="{B9840452-ADC9-75B0-1125-89E66687BB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44" y="4152486"/>
            <a:ext cx="10079854" cy="253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754</Words>
  <Application>Microsoft Office PowerPoint</Application>
  <PresentationFormat>寬螢幕</PresentationFormat>
  <Paragraphs>95</Paragraphs>
  <Slides>10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Arial</vt:lpstr>
      <vt:lpstr>Calibri</vt:lpstr>
      <vt:lpstr>Wingdings</vt:lpstr>
      <vt:lpstr>1_Delta_PPTtemplate_16x9</vt:lpstr>
      <vt:lpstr>Teile-Management-System</vt:lpstr>
      <vt:lpstr>Systemarchitektur und automatischer Start</vt:lpstr>
      <vt:lpstr>Benutzerzugriffsebenen</vt:lpstr>
      <vt:lpstr>Materialausgabe - Outbound</vt:lpstr>
      <vt:lpstr>Wareneingang - Inbound</vt:lpstr>
      <vt:lpstr>Materialstammverwaltung-  Level 1 &amp; 2</vt:lpstr>
      <vt:lpstr>Materialstammverwaltung-  Level 1 &amp; 2</vt:lpstr>
      <vt:lpstr>Bestandsabfrage</vt:lpstr>
      <vt:lpstr>Überwachung des niedrigen Sicherheitsbestands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227</cp:revision>
  <dcterms:created xsi:type="dcterms:W3CDTF">2024-06-19T08:01:53Z</dcterms:created>
  <dcterms:modified xsi:type="dcterms:W3CDTF">2026-03-12T16:02:53Z</dcterms:modified>
</cp:coreProperties>
</file>